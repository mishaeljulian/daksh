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10058400" y="208788"/>
                </a:lnTo>
                <a:lnTo>
                  <a:pt x="0" y="208788"/>
                </a:ln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0" y="199644"/>
                </a:moveTo>
                <a:lnTo>
                  <a:pt x="0" y="0"/>
                </a:lnTo>
                <a:lnTo>
                  <a:pt x="10058400" y="0"/>
                </a:lnTo>
                <a:lnTo>
                  <a:pt x="10058400" y="199644"/>
                </a:lnTo>
              </a:path>
            </a:pathLst>
          </a:custGeom>
          <a:ln w="7619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23838"/>
            <a:ext cx="10058400" cy="30657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219" y="2816351"/>
            <a:ext cx="3292221" cy="328422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1057655"/>
            <a:ext cx="10058400" cy="584200"/>
          </a:xfrm>
          <a:custGeom>
            <a:avLst/>
            <a:gdLst/>
            <a:ahLst/>
            <a:cxnLst/>
            <a:rect l="l" t="t" r="r" b="b"/>
            <a:pathLst>
              <a:path w="10058400" h="584200">
                <a:moveTo>
                  <a:pt x="10058400" y="0"/>
                </a:moveTo>
                <a:lnTo>
                  <a:pt x="0" y="0"/>
                </a:lnTo>
                <a:lnTo>
                  <a:pt x="0" y="583692"/>
                </a:lnTo>
                <a:lnTo>
                  <a:pt x="10058400" y="583692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1641347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 h="0">
                <a:moveTo>
                  <a:pt x="10058400" y="0"/>
                </a:move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1185671"/>
            <a:ext cx="10058400" cy="1057910"/>
          </a:xfrm>
          <a:custGeom>
            <a:avLst/>
            <a:gdLst/>
            <a:ahLst/>
            <a:cxnLst/>
            <a:rect l="l" t="t" r="r" b="b"/>
            <a:pathLst>
              <a:path w="10058400" h="1057910">
                <a:moveTo>
                  <a:pt x="9963912" y="0"/>
                </a:moveTo>
                <a:lnTo>
                  <a:pt x="100584" y="0"/>
                </a:lnTo>
                <a:lnTo>
                  <a:pt x="58601" y="8508"/>
                </a:lnTo>
                <a:lnTo>
                  <a:pt x="24193" y="31750"/>
                </a:lnTo>
                <a:lnTo>
                  <a:pt x="928" y="66167"/>
                </a:lnTo>
                <a:lnTo>
                  <a:pt x="0" y="70738"/>
                </a:lnTo>
                <a:lnTo>
                  <a:pt x="0" y="987425"/>
                </a:lnTo>
                <a:lnTo>
                  <a:pt x="928" y="992124"/>
                </a:lnTo>
                <a:lnTo>
                  <a:pt x="24193" y="1026413"/>
                </a:lnTo>
                <a:lnTo>
                  <a:pt x="58601" y="1049274"/>
                </a:lnTo>
                <a:lnTo>
                  <a:pt x="100584" y="1057655"/>
                </a:lnTo>
                <a:lnTo>
                  <a:pt x="9963912" y="1057655"/>
                </a:lnTo>
                <a:lnTo>
                  <a:pt x="10005949" y="1049274"/>
                </a:lnTo>
                <a:lnTo>
                  <a:pt x="10040239" y="1026413"/>
                </a:lnTo>
                <a:lnTo>
                  <a:pt x="10058400" y="999743"/>
                </a:lnTo>
                <a:lnTo>
                  <a:pt x="10058400" y="58547"/>
                </a:lnTo>
                <a:lnTo>
                  <a:pt x="10040239" y="31750"/>
                </a:lnTo>
                <a:lnTo>
                  <a:pt x="10005949" y="8508"/>
                </a:lnTo>
                <a:lnTo>
                  <a:pt x="9963912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185671"/>
            <a:ext cx="10058400" cy="1057910"/>
          </a:xfrm>
          <a:custGeom>
            <a:avLst/>
            <a:gdLst/>
            <a:ahLst/>
            <a:cxnLst/>
            <a:rect l="l" t="t" r="r" b="b"/>
            <a:pathLst>
              <a:path w="10058400" h="1057910">
                <a:moveTo>
                  <a:pt x="0" y="70738"/>
                </a:moveTo>
                <a:lnTo>
                  <a:pt x="928" y="66167"/>
                </a:lnTo>
                <a:lnTo>
                  <a:pt x="24193" y="31750"/>
                </a:lnTo>
                <a:lnTo>
                  <a:pt x="58601" y="8508"/>
                </a:lnTo>
                <a:lnTo>
                  <a:pt x="100584" y="0"/>
                </a:lnTo>
                <a:lnTo>
                  <a:pt x="9963912" y="0"/>
                </a:lnTo>
                <a:lnTo>
                  <a:pt x="10005949" y="8508"/>
                </a:lnTo>
                <a:lnTo>
                  <a:pt x="10040239" y="31750"/>
                </a:lnTo>
                <a:lnTo>
                  <a:pt x="10058400" y="58547"/>
                </a:lnTo>
              </a:path>
              <a:path w="10058400" h="1057910">
                <a:moveTo>
                  <a:pt x="10058400" y="999743"/>
                </a:moveTo>
                <a:lnTo>
                  <a:pt x="10040239" y="1026413"/>
                </a:lnTo>
                <a:lnTo>
                  <a:pt x="10005949" y="1049274"/>
                </a:lnTo>
                <a:lnTo>
                  <a:pt x="9963912" y="1057655"/>
                </a:lnTo>
                <a:lnTo>
                  <a:pt x="100584" y="1057655"/>
                </a:lnTo>
                <a:lnTo>
                  <a:pt x="58601" y="1049274"/>
                </a:lnTo>
                <a:lnTo>
                  <a:pt x="24193" y="1026413"/>
                </a:lnTo>
                <a:lnTo>
                  <a:pt x="928" y="992124"/>
                </a:lnTo>
                <a:lnTo>
                  <a:pt x="0" y="987425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80347" y="1057655"/>
            <a:ext cx="709930" cy="1186180"/>
          </a:xfrm>
          <a:custGeom>
            <a:avLst/>
            <a:gdLst/>
            <a:ahLst/>
            <a:cxnLst/>
            <a:rect l="l" t="t" r="r" b="b"/>
            <a:pathLst>
              <a:path w="709929" h="1186180">
                <a:moveTo>
                  <a:pt x="709422" y="0"/>
                </a:moveTo>
                <a:lnTo>
                  <a:pt x="406146" y="0"/>
                </a:lnTo>
                <a:lnTo>
                  <a:pt x="0" y="1185672"/>
                </a:lnTo>
                <a:lnTo>
                  <a:pt x="301751" y="1185672"/>
                </a:lnTo>
                <a:lnTo>
                  <a:pt x="709422" y="0"/>
                </a:lnTo>
                <a:close/>
              </a:path>
            </a:pathLst>
          </a:custGeom>
          <a:solidFill>
            <a:srgbClr val="D1A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6364224" y="1057655"/>
            <a:ext cx="3161665" cy="1203960"/>
          </a:xfrm>
          <a:custGeom>
            <a:avLst/>
            <a:gdLst/>
            <a:ahLst/>
            <a:cxnLst/>
            <a:rect l="l" t="t" r="r" b="b"/>
            <a:pathLst>
              <a:path w="3161665" h="1203960">
                <a:moveTo>
                  <a:pt x="3161665" y="0"/>
                </a:moveTo>
                <a:lnTo>
                  <a:pt x="409321" y="0"/>
                </a:lnTo>
                <a:lnTo>
                  <a:pt x="0" y="1203960"/>
                </a:lnTo>
                <a:lnTo>
                  <a:pt x="2753868" y="1203960"/>
                </a:lnTo>
                <a:lnTo>
                  <a:pt x="31616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6507480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0" y="0"/>
                </a:lnTo>
                <a:lnTo>
                  <a:pt x="0" y="208788"/>
                </a:lnTo>
                <a:lnTo>
                  <a:pt x="10058400" y="208788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650748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 h="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5925312"/>
            <a:ext cx="10058400" cy="608330"/>
          </a:xfrm>
          <a:custGeom>
            <a:avLst/>
            <a:gdLst/>
            <a:ahLst/>
            <a:cxnLst/>
            <a:rect l="l" t="t" r="r" b="b"/>
            <a:pathLst>
              <a:path w="10058400" h="608329">
                <a:moveTo>
                  <a:pt x="10009632" y="0"/>
                </a:moveTo>
                <a:lnTo>
                  <a:pt x="54864" y="0"/>
                </a:lnTo>
                <a:lnTo>
                  <a:pt x="30956" y="4825"/>
                </a:lnTo>
                <a:lnTo>
                  <a:pt x="11049" y="18033"/>
                </a:lnTo>
                <a:lnTo>
                  <a:pt x="0" y="34162"/>
                </a:lnTo>
                <a:lnTo>
                  <a:pt x="0" y="574421"/>
                </a:lnTo>
                <a:lnTo>
                  <a:pt x="11049" y="590169"/>
                </a:lnTo>
                <a:lnTo>
                  <a:pt x="30956" y="603262"/>
                </a:lnTo>
                <a:lnTo>
                  <a:pt x="54864" y="608076"/>
                </a:lnTo>
                <a:lnTo>
                  <a:pt x="10009632" y="608076"/>
                </a:lnTo>
                <a:lnTo>
                  <a:pt x="10034143" y="603262"/>
                </a:lnTo>
                <a:lnTo>
                  <a:pt x="10053955" y="590169"/>
                </a:lnTo>
                <a:lnTo>
                  <a:pt x="10058400" y="583768"/>
                </a:lnTo>
                <a:lnTo>
                  <a:pt x="10058400" y="24637"/>
                </a:lnTo>
                <a:lnTo>
                  <a:pt x="10053955" y="18033"/>
                </a:lnTo>
                <a:lnTo>
                  <a:pt x="10034143" y="4825"/>
                </a:lnTo>
                <a:lnTo>
                  <a:pt x="10009632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5925312"/>
            <a:ext cx="10058400" cy="608330"/>
          </a:xfrm>
          <a:custGeom>
            <a:avLst/>
            <a:gdLst/>
            <a:ahLst/>
            <a:cxnLst/>
            <a:rect l="l" t="t" r="r" b="b"/>
            <a:pathLst>
              <a:path w="10058400" h="608329">
                <a:moveTo>
                  <a:pt x="0" y="34162"/>
                </a:moveTo>
                <a:lnTo>
                  <a:pt x="11049" y="18033"/>
                </a:lnTo>
                <a:lnTo>
                  <a:pt x="30956" y="4825"/>
                </a:lnTo>
                <a:lnTo>
                  <a:pt x="54864" y="0"/>
                </a:lnTo>
                <a:lnTo>
                  <a:pt x="10009632" y="0"/>
                </a:lnTo>
                <a:lnTo>
                  <a:pt x="10034143" y="4825"/>
                </a:lnTo>
                <a:lnTo>
                  <a:pt x="10053955" y="18033"/>
                </a:lnTo>
                <a:lnTo>
                  <a:pt x="10058400" y="24637"/>
                </a:lnTo>
              </a:path>
              <a:path w="10058400" h="608329">
                <a:moveTo>
                  <a:pt x="10058400" y="583768"/>
                </a:moveTo>
                <a:lnTo>
                  <a:pt x="10053955" y="590169"/>
                </a:lnTo>
                <a:lnTo>
                  <a:pt x="10034143" y="603262"/>
                </a:lnTo>
                <a:lnTo>
                  <a:pt x="10009632" y="608076"/>
                </a:lnTo>
                <a:lnTo>
                  <a:pt x="54864" y="608076"/>
                </a:lnTo>
                <a:lnTo>
                  <a:pt x="30956" y="603262"/>
                </a:lnTo>
                <a:lnTo>
                  <a:pt x="11049" y="590169"/>
                </a:lnTo>
                <a:lnTo>
                  <a:pt x="0" y="574421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6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0" y="0"/>
                </a:lnTo>
                <a:lnTo>
                  <a:pt x="0" y="208788"/>
                </a:lnTo>
                <a:lnTo>
                  <a:pt x="10058400" y="208788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57656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10058400" y="208788"/>
                </a:lnTo>
                <a:lnTo>
                  <a:pt x="0" y="208788"/>
                </a:ln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10058400" y="0"/>
                </a:moveTo>
                <a:lnTo>
                  <a:pt x="0" y="0"/>
                </a:lnTo>
                <a:lnTo>
                  <a:pt x="0" y="199644"/>
                </a:lnTo>
                <a:lnTo>
                  <a:pt x="10058400" y="199644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0" y="199644"/>
                </a:moveTo>
                <a:lnTo>
                  <a:pt x="0" y="0"/>
                </a:lnTo>
                <a:lnTo>
                  <a:pt x="10058400" y="0"/>
                </a:lnTo>
                <a:lnTo>
                  <a:pt x="10058400" y="199644"/>
                </a:lnTo>
              </a:path>
            </a:pathLst>
          </a:custGeom>
          <a:ln w="7619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3838"/>
            <a:ext cx="10058400" cy="30657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13220" y="2816352"/>
            <a:ext cx="3292221" cy="32842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698" y="1406093"/>
            <a:ext cx="5747003" cy="47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4370" y="2038350"/>
            <a:ext cx="5502275" cy="233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83801" y="6422441"/>
            <a:ext cx="2235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094" y="5957311"/>
            <a:ext cx="2684145" cy="54991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259"/>
              </a:spcBef>
            </a:pP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Mission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Christ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University</a:t>
            </a:r>
            <a:r>
              <a:rPr dirty="0" sz="10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0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nurturing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ground</a:t>
            </a:r>
            <a:r>
              <a:rPr dirty="0" sz="10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10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individual’s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holistic</a:t>
            </a:r>
            <a:r>
              <a:rPr dirty="0" sz="10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dirty="0" sz="10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0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contribution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775" y="6482283"/>
            <a:ext cx="1989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0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0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dirty="0" sz="10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dirty="0" sz="10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environment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2017" y="5977508"/>
            <a:ext cx="1143635" cy="36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Vision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Excellence and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4723" y="1324355"/>
            <a:ext cx="2586228" cy="88087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48639" y="2323592"/>
            <a:ext cx="8225790" cy="1697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3815">
              <a:lnSpc>
                <a:spcPct val="100000"/>
              </a:lnSpc>
              <a:spcBef>
                <a:spcPts val="100"/>
              </a:spcBef>
            </a:pPr>
            <a:r>
              <a:rPr dirty="0" spc="-65" b="0">
                <a:latin typeface="Times New Roman"/>
                <a:cs typeface="Times New Roman"/>
              </a:rPr>
              <a:t>SERVICE</a:t>
            </a:r>
            <a:r>
              <a:rPr dirty="0" spc="-114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LEARNING</a:t>
            </a:r>
          </a:p>
          <a:p>
            <a:pPr marL="2366010" marR="5080" indent="-2353945">
              <a:lnSpc>
                <a:spcPct val="100000"/>
              </a:lnSpc>
              <a:spcBef>
                <a:spcPts val="140"/>
              </a:spcBef>
            </a:pPr>
            <a:r>
              <a:rPr dirty="0" sz="3950" spc="-145">
                <a:latin typeface="Times New Roman"/>
                <a:cs typeface="Times New Roman"/>
              </a:rPr>
              <a:t>Ecocare–</a:t>
            </a:r>
            <a:r>
              <a:rPr dirty="0" sz="3950" spc="-7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Smart</a:t>
            </a:r>
            <a:r>
              <a:rPr dirty="0" sz="3950" spc="-40">
                <a:latin typeface="Times New Roman"/>
                <a:cs typeface="Times New Roman"/>
              </a:rPr>
              <a:t> </a:t>
            </a:r>
            <a:r>
              <a:rPr dirty="0" sz="3950" spc="-25">
                <a:latin typeface="Times New Roman"/>
                <a:cs typeface="Times New Roman"/>
              </a:rPr>
              <a:t>E-</a:t>
            </a:r>
            <a:r>
              <a:rPr dirty="0" sz="3950">
                <a:latin typeface="Times New Roman"/>
                <a:cs typeface="Times New Roman"/>
              </a:rPr>
              <a:t>Waste</a:t>
            </a:r>
            <a:r>
              <a:rPr dirty="0" sz="3950" spc="-35">
                <a:latin typeface="Times New Roman"/>
                <a:cs typeface="Times New Roman"/>
              </a:rPr>
              <a:t> </a:t>
            </a:r>
            <a:r>
              <a:rPr dirty="0" sz="3950" spc="-10">
                <a:latin typeface="Times New Roman"/>
                <a:cs typeface="Times New Roman"/>
              </a:rPr>
              <a:t>Management </a:t>
            </a:r>
            <a:r>
              <a:rPr dirty="0" sz="3950">
                <a:latin typeface="Times New Roman"/>
                <a:cs typeface="Times New Roman"/>
              </a:rPr>
              <a:t>and</a:t>
            </a:r>
            <a:r>
              <a:rPr dirty="0" sz="3950" spc="-9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Intelligent</a:t>
            </a:r>
            <a:r>
              <a:rPr dirty="0" sz="3950" spc="-80">
                <a:latin typeface="Times New Roman"/>
                <a:cs typeface="Times New Roman"/>
              </a:rPr>
              <a:t> </a:t>
            </a:r>
            <a:r>
              <a:rPr dirty="0" sz="3950" spc="-10">
                <a:latin typeface="Times New Roman"/>
                <a:cs typeface="Times New Roman"/>
              </a:rPr>
              <a:t>System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1328" y="4164838"/>
            <a:ext cx="202882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10">
                <a:latin typeface="Times New Roman"/>
                <a:cs typeface="Times New Roman"/>
              </a:rPr>
              <a:t>EcoParadigm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808" y="4797297"/>
            <a:ext cx="2894965" cy="935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2384">
              <a:lnSpc>
                <a:spcPts val="1925"/>
              </a:lnSpc>
              <a:spcBef>
                <a:spcPts val="105"/>
              </a:spcBef>
            </a:pPr>
            <a:r>
              <a:rPr dirty="0" sz="1650" spc="-80">
                <a:latin typeface="Tahoma"/>
                <a:cs typeface="Tahoma"/>
              </a:rPr>
              <a:t>Community</a:t>
            </a:r>
            <a:r>
              <a:rPr dirty="0" sz="1650" spc="-17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Location</a:t>
            </a:r>
            <a:endParaRPr sz="1650">
              <a:latin typeface="Tahoma"/>
              <a:cs typeface="Tahoma"/>
            </a:endParaRPr>
          </a:p>
          <a:p>
            <a:pPr algn="ctr" marR="4445">
              <a:lnSpc>
                <a:spcPts val="1685"/>
              </a:lnSpc>
            </a:pPr>
            <a:r>
              <a:rPr dirty="0" sz="1450" spc="-40">
                <a:latin typeface="Tahoma"/>
                <a:cs typeface="Tahoma"/>
              </a:rPr>
              <a:t>#968A,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5th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Cross,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11th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Main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Road,</a:t>
            </a:r>
            <a:endParaRPr sz="1450">
              <a:latin typeface="Tahoma"/>
              <a:cs typeface="Tahoma"/>
            </a:endParaRPr>
          </a:p>
          <a:p>
            <a:pPr algn="ctr" marL="12065" marR="5080">
              <a:lnSpc>
                <a:spcPct val="102099"/>
              </a:lnSpc>
            </a:pPr>
            <a:r>
              <a:rPr dirty="0" sz="1450" spc="-65">
                <a:latin typeface="Tahoma"/>
                <a:cs typeface="Tahoma"/>
              </a:rPr>
              <a:t>Vijaya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Bank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70">
                <a:latin typeface="Tahoma"/>
                <a:cs typeface="Tahoma"/>
              </a:rPr>
              <a:t>Layout,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Bilekahalli, </a:t>
            </a:r>
            <a:r>
              <a:rPr dirty="0" sz="1450" spc="-50">
                <a:latin typeface="Tahoma"/>
                <a:cs typeface="Tahoma"/>
              </a:rPr>
              <a:t>Bengaluru-</a:t>
            </a:r>
            <a:r>
              <a:rPr dirty="0" sz="1450" spc="-10">
                <a:latin typeface="Tahoma"/>
                <a:cs typeface="Tahoma"/>
              </a:rPr>
              <a:t>560076,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Karnataka,</a:t>
            </a:r>
            <a:r>
              <a:rPr dirty="0" sz="1450" spc="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India.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8646" y="4797297"/>
            <a:ext cx="3132455" cy="18376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09650">
              <a:lnSpc>
                <a:spcPct val="100000"/>
              </a:lnSpc>
              <a:spcBef>
                <a:spcPts val="105"/>
              </a:spcBef>
            </a:pPr>
            <a:r>
              <a:rPr dirty="0" sz="1650" spc="-80">
                <a:latin typeface="Tahoma"/>
                <a:cs typeface="Tahoma"/>
              </a:rPr>
              <a:t>Team</a:t>
            </a:r>
            <a:r>
              <a:rPr dirty="0" sz="1650" spc="-21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Details:</a:t>
            </a:r>
            <a:endParaRPr sz="165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 spc="-45">
                <a:latin typeface="Tahoma"/>
                <a:cs typeface="Tahoma"/>
              </a:rPr>
              <a:t>Ashutosh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55">
                <a:latin typeface="Tahoma"/>
                <a:cs typeface="Tahoma"/>
              </a:rPr>
              <a:t>Dash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2362044</a:t>
            </a:r>
            <a:endParaRPr sz="130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>
                <a:latin typeface="Tahoma"/>
                <a:cs typeface="Tahoma"/>
              </a:rPr>
              <a:t>JV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60">
                <a:latin typeface="Tahoma"/>
                <a:cs typeface="Tahoma"/>
              </a:rPr>
              <a:t>Bhavyasree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8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2362093</a:t>
            </a:r>
            <a:endParaRPr sz="130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 spc="-45">
                <a:latin typeface="Tahoma"/>
                <a:cs typeface="Tahoma"/>
              </a:rPr>
              <a:t>Sohini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Ghosh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2362170</a:t>
            </a:r>
            <a:endParaRPr sz="1300">
              <a:latin typeface="Tahoma"/>
              <a:cs typeface="Tahoma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dirty="0" sz="1300" spc="-55">
                <a:latin typeface="Tahoma"/>
                <a:cs typeface="Tahoma"/>
              </a:rPr>
              <a:t>Sudanshu Sreedhara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55">
                <a:latin typeface="Tahoma"/>
                <a:cs typeface="Tahoma"/>
              </a:rPr>
              <a:t>Belavarthy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2362177</a:t>
            </a:r>
            <a:endParaRPr sz="1300">
              <a:latin typeface="Tahoma"/>
              <a:cs typeface="Tahoma"/>
            </a:endParaRPr>
          </a:p>
          <a:p>
            <a:pPr marL="1477645">
              <a:lnSpc>
                <a:spcPct val="100000"/>
              </a:lnSpc>
              <a:spcBef>
                <a:spcPts val="965"/>
              </a:spcBef>
            </a:pPr>
            <a:r>
              <a:rPr dirty="0" sz="1200" spc="-75" b="1">
                <a:solidFill>
                  <a:srgbClr val="D1AD6B"/>
                </a:solidFill>
                <a:latin typeface="Trebuchet MS"/>
                <a:cs typeface="Trebuchet MS"/>
              </a:rPr>
              <a:t>Core</a:t>
            </a:r>
            <a:r>
              <a:rPr dirty="0" sz="1200" spc="-130" b="1">
                <a:solidFill>
                  <a:srgbClr val="D1AD6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Values</a:t>
            </a:r>
            <a:endParaRPr sz="1200">
              <a:latin typeface="Trebuchet MS"/>
              <a:cs typeface="Trebuchet MS"/>
            </a:endParaRPr>
          </a:p>
          <a:p>
            <a:pPr marL="824865" marR="171450" indent="228600">
              <a:lnSpc>
                <a:spcPct val="100000"/>
              </a:lnSpc>
              <a:spcBef>
                <a:spcPts val="30"/>
              </a:spcBef>
            </a:pP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Faith</a:t>
            </a:r>
            <a:r>
              <a:rPr dirty="0" sz="10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0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God|</a:t>
            </a:r>
            <a:r>
              <a:rPr dirty="0" sz="10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Moral</a:t>
            </a:r>
            <a:r>
              <a:rPr dirty="0" sz="10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Uprightness</a:t>
            </a:r>
            <a:r>
              <a:rPr dirty="0" sz="100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Love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0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Fellow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Beings</a:t>
            </a:r>
            <a:r>
              <a:rPr dirty="0" sz="10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1000" spc="2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dirty="0" sz="10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Responsibility</a:t>
            </a:r>
            <a:endParaRPr sz="1000">
              <a:latin typeface="Tahoma"/>
              <a:cs typeface="Tahoma"/>
            </a:endParaRPr>
          </a:p>
          <a:p>
            <a:pPr marL="1363345">
              <a:lnSpc>
                <a:spcPct val="100000"/>
              </a:lnSpc>
              <a:spcBef>
                <a:spcPts val="5"/>
              </a:spcBef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Pursuit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0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Excellence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2421364"/>
            <a:ext cx="9171940" cy="2666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95"/>
              </a:spcBef>
            </a:pPr>
            <a:r>
              <a:rPr dirty="0" sz="1650" spc="-50">
                <a:latin typeface="Tahoma"/>
                <a:cs typeface="Tahoma"/>
              </a:rPr>
              <a:t>E-</a:t>
            </a:r>
            <a:r>
              <a:rPr dirty="0" sz="1650" spc="-40">
                <a:latin typeface="Tahoma"/>
                <a:cs typeface="Tahoma"/>
              </a:rPr>
              <a:t>waste</a:t>
            </a:r>
            <a:r>
              <a:rPr dirty="0" sz="1650" spc="-9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collection</a:t>
            </a:r>
            <a:r>
              <a:rPr dirty="0" sz="1650" spc="-6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centers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struggle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with</a:t>
            </a:r>
            <a:r>
              <a:rPr dirty="0" sz="1650" spc="-6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inaccurate</a:t>
            </a:r>
            <a:r>
              <a:rPr dirty="0" sz="1650" spc="-50">
                <a:latin typeface="Tahoma"/>
                <a:cs typeface="Tahoma"/>
              </a:rPr>
              <a:t> </a:t>
            </a:r>
            <a:r>
              <a:rPr dirty="0" sz="1650" spc="-80">
                <a:latin typeface="Tahoma"/>
                <a:cs typeface="Tahoma"/>
              </a:rPr>
              <a:t>manual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sorting,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85">
                <a:latin typeface="Tahoma"/>
                <a:cs typeface="Tahoma"/>
              </a:rPr>
              <a:t>high</a:t>
            </a:r>
            <a:r>
              <a:rPr dirty="0" sz="1650" spc="-45">
                <a:latin typeface="Tahoma"/>
                <a:cs typeface="Tahoma"/>
              </a:rPr>
              <a:t> labour </a:t>
            </a:r>
            <a:r>
              <a:rPr dirty="0" sz="1650" spc="-40">
                <a:latin typeface="Tahoma"/>
                <a:cs typeface="Tahoma"/>
              </a:rPr>
              <a:t>costs,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85">
                <a:latin typeface="Tahoma"/>
                <a:cs typeface="Tahoma"/>
              </a:rPr>
              <a:t>and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low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recovery</a:t>
            </a:r>
            <a:r>
              <a:rPr dirty="0" sz="1650" spc="-7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of </a:t>
            </a:r>
            <a:r>
              <a:rPr dirty="0" sz="1650">
                <a:latin typeface="Tahoma"/>
                <a:cs typeface="Tahoma"/>
              </a:rPr>
              <a:t>valuable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materials.</a:t>
            </a:r>
            <a:r>
              <a:rPr dirty="0" sz="1650" spc="7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This</a:t>
            </a:r>
            <a:r>
              <a:rPr dirty="0" sz="1650" spc="8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work</a:t>
            </a:r>
            <a:r>
              <a:rPr dirty="0" sz="1650" spc="7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proposes</a:t>
            </a:r>
            <a:r>
              <a:rPr dirty="0" sz="1650" spc="7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plug-</a:t>
            </a:r>
            <a:r>
              <a:rPr dirty="0" sz="1650" spc="-75">
                <a:latin typeface="Tahoma"/>
                <a:cs typeface="Tahoma"/>
              </a:rPr>
              <a:t>and-</a:t>
            </a:r>
            <a:r>
              <a:rPr dirty="0" sz="1650">
                <a:latin typeface="Tahoma"/>
                <a:cs typeface="Tahoma"/>
              </a:rPr>
              <a:t>play</a:t>
            </a:r>
            <a:r>
              <a:rPr dirty="0" sz="1650" spc="8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Smart</a:t>
            </a:r>
            <a:r>
              <a:rPr dirty="0" sz="1650" spc="6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E-</a:t>
            </a:r>
            <a:r>
              <a:rPr dirty="0" sz="1650">
                <a:latin typeface="Tahoma"/>
                <a:cs typeface="Tahoma"/>
              </a:rPr>
              <a:t>Waste</a:t>
            </a:r>
            <a:r>
              <a:rPr dirty="0" sz="1650" spc="5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Sorting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&amp;</a:t>
            </a:r>
            <a:r>
              <a:rPr dirty="0" sz="1650" spc="5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Recovery</a:t>
            </a:r>
            <a:r>
              <a:rPr dirty="0" sz="1650" spc="7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System </a:t>
            </a:r>
            <a:r>
              <a:rPr dirty="0" sz="1650" spc="-70">
                <a:latin typeface="Tahoma"/>
                <a:cs typeface="Tahoma"/>
              </a:rPr>
              <a:t>combining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90">
                <a:latin typeface="Tahoma"/>
                <a:cs typeface="Tahoma"/>
              </a:rPr>
              <a:t>an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AI-</a:t>
            </a:r>
            <a:r>
              <a:rPr dirty="0" sz="1650" spc="-55">
                <a:latin typeface="Tahoma"/>
                <a:cs typeface="Tahoma"/>
              </a:rPr>
              <a:t>based</a:t>
            </a:r>
            <a:r>
              <a:rPr dirty="0" sz="1650" spc="-15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visual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identification</a:t>
            </a:r>
            <a:r>
              <a:rPr dirty="0" sz="1650" spc="-1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unit,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guided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smart-</a:t>
            </a:r>
            <a:r>
              <a:rPr dirty="0" sz="1650" spc="-70">
                <a:latin typeface="Tahoma"/>
                <a:cs typeface="Tahoma"/>
              </a:rPr>
              <a:t>sorting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interface,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and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integrated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inventory </a:t>
            </a:r>
            <a:r>
              <a:rPr dirty="0" sz="1650" spc="-60">
                <a:latin typeface="Tahoma"/>
                <a:cs typeface="Tahoma"/>
              </a:rPr>
              <a:t>tracking.</a:t>
            </a:r>
            <a:r>
              <a:rPr dirty="0" sz="1650" spc="-70">
                <a:latin typeface="Tahoma"/>
                <a:cs typeface="Tahoma"/>
              </a:rPr>
              <a:t> </a:t>
            </a:r>
            <a:r>
              <a:rPr dirty="0" sz="1650" spc="-95">
                <a:latin typeface="Tahoma"/>
                <a:cs typeface="Tahoma"/>
              </a:rPr>
              <a:t>The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system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identifies</a:t>
            </a:r>
            <a:r>
              <a:rPr dirty="0" sz="1650" spc="-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device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types,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hazardous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components,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and</a:t>
            </a:r>
            <a:r>
              <a:rPr dirty="0" sz="1650" spc="-5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reuse/recycle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categories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directly </a:t>
            </a:r>
            <a:r>
              <a:rPr dirty="0" sz="1650">
                <a:latin typeface="Tahoma"/>
                <a:cs typeface="Tahoma"/>
              </a:rPr>
              <a:t>on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the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edge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without </a:t>
            </a:r>
            <a:r>
              <a:rPr dirty="0" sz="1650">
                <a:latin typeface="Tahoma"/>
                <a:cs typeface="Tahoma"/>
              </a:rPr>
              <a:t>cloud</a:t>
            </a:r>
            <a:r>
              <a:rPr dirty="0" sz="1650" spc="-10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dependence.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Guided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bin-</a:t>
            </a:r>
            <a:r>
              <a:rPr dirty="0" sz="1650" spc="-25">
                <a:latin typeface="Tahoma"/>
                <a:cs typeface="Tahoma"/>
              </a:rPr>
              <a:t>lighting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and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automated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logging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20">
                <a:latin typeface="Tahoma"/>
                <a:cs typeface="Tahoma"/>
              </a:rPr>
              <a:t>streamline</a:t>
            </a:r>
            <a:r>
              <a:rPr dirty="0" sz="1650" spc="-10">
                <a:latin typeface="Tahoma"/>
                <a:cs typeface="Tahoma"/>
              </a:rPr>
              <a:t> worker decisions </a:t>
            </a:r>
            <a:r>
              <a:rPr dirty="0" sz="1650">
                <a:latin typeface="Tahoma"/>
                <a:cs typeface="Tahoma"/>
              </a:rPr>
              <a:t>while</a:t>
            </a:r>
            <a:r>
              <a:rPr dirty="0" sz="1650" spc="-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improving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20">
                <a:latin typeface="Tahoma"/>
                <a:cs typeface="Tahoma"/>
              </a:rPr>
              <a:t>accuracy </a:t>
            </a:r>
            <a:r>
              <a:rPr dirty="0" sz="1650">
                <a:latin typeface="Tahoma"/>
                <a:cs typeface="Tahoma"/>
              </a:rPr>
              <a:t>and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throughput.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The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expected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impact</a:t>
            </a:r>
            <a:r>
              <a:rPr dirty="0" sz="1650" spc="-1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is</a:t>
            </a:r>
            <a:r>
              <a:rPr dirty="0" sz="1650" spc="1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higher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material recovery, </a:t>
            </a:r>
            <a:r>
              <a:rPr dirty="0" sz="1650" spc="-50">
                <a:latin typeface="Tahoma"/>
                <a:cs typeface="Tahoma"/>
              </a:rPr>
              <a:t>reduced</a:t>
            </a:r>
            <a:r>
              <a:rPr dirty="0" sz="1650" spc="-229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sorting</a:t>
            </a:r>
            <a:r>
              <a:rPr dirty="0" sz="1650" spc="-204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errors,</a:t>
            </a:r>
            <a:r>
              <a:rPr dirty="0" sz="1650" spc="-204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lower</a:t>
            </a:r>
            <a:r>
              <a:rPr dirty="0" sz="1650" spc="-21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operational</a:t>
            </a:r>
            <a:r>
              <a:rPr dirty="0" sz="1650" spc="-24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cost,</a:t>
            </a:r>
            <a:r>
              <a:rPr dirty="0" sz="1650" spc="-18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and</a:t>
            </a:r>
            <a:r>
              <a:rPr dirty="0" sz="1650" spc="-22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improved</a:t>
            </a:r>
            <a:r>
              <a:rPr dirty="0" sz="1650" spc="-23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regulatory</a:t>
            </a:r>
            <a:r>
              <a:rPr dirty="0" sz="1650" spc="-22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compliance.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43247" y="1645361"/>
            <a:ext cx="1791335" cy="4762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ABSTRACT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9328" y="4710684"/>
            <a:ext cx="1522476" cy="15209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28927"/>
            <a:ext cx="1290827" cy="12908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708" y="1716404"/>
            <a:ext cx="8002270" cy="4562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95" b="1">
                <a:latin typeface="Trebuchet MS"/>
                <a:cs typeface="Trebuchet MS"/>
              </a:rPr>
              <a:t>Community </a:t>
            </a:r>
            <a:r>
              <a:rPr dirty="0" sz="1950" spc="-10" b="1">
                <a:latin typeface="Trebuchet MS"/>
                <a:cs typeface="Trebuchet MS"/>
              </a:rPr>
              <a:t>Profile</a:t>
            </a:r>
            <a:endParaRPr sz="1950">
              <a:latin typeface="Trebuchet MS"/>
              <a:cs typeface="Trebuchet MS"/>
            </a:endParaRPr>
          </a:p>
          <a:p>
            <a:pPr marL="346710" indent="-334010">
              <a:lnSpc>
                <a:spcPct val="100000"/>
              </a:lnSpc>
              <a:spcBef>
                <a:spcPts val="580"/>
              </a:spcBef>
              <a:buSzPct val="136666"/>
              <a:buFont typeface="Cambria"/>
              <a:buChar char="●"/>
              <a:tabLst>
                <a:tab pos="346710" algn="l"/>
              </a:tabLst>
            </a:pPr>
            <a:r>
              <a:rPr dirty="0" sz="1500" spc="-75">
                <a:latin typeface="Tahoma"/>
                <a:cs typeface="Tahoma"/>
              </a:rPr>
              <a:t>Location:</a:t>
            </a:r>
            <a:r>
              <a:rPr dirty="0" sz="1500" spc="-195">
                <a:latin typeface="Tahoma"/>
                <a:cs typeface="Tahoma"/>
              </a:rPr>
              <a:t> </a:t>
            </a:r>
            <a:r>
              <a:rPr dirty="0" sz="1500" spc="-70" b="1">
                <a:latin typeface="Trebuchet MS"/>
                <a:cs typeface="Trebuchet MS"/>
              </a:rPr>
              <a:t>Bilekahalli,</a:t>
            </a:r>
            <a:r>
              <a:rPr dirty="0" sz="1500" spc="-225" b="1">
                <a:latin typeface="Trebuchet MS"/>
                <a:cs typeface="Trebuchet MS"/>
              </a:rPr>
              <a:t> </a:t>
            </a:r>
            <a:r>
              <a:rPr dirty="0" sz="1500" spc="-65" b="1">
                <a:latin typeface="Trebuchet MS"/>
                <a:cs typeface="Trebuchet MS"/>
              </a:rPr>
              <a:t>Vijaya</a:t>
            </a:r>
            <a:r>
              <a:rPr dirty="0" sz="1500" spc="-105" b="1">
                <a:latin typeface="Trebuchet MS"/>
                <a:cs typeface="Trebuchet MS"/>
              </a:rPr>
              <a:t> </a:t>
            </a:r>
            <a:r>
              <a:rPr dirty="0" sz="1500" spc="-50" b="1">
                <a:latin typeface="Trebuchet MS"/>
                <a:cs typeface="Trebuchet MS"/>
              </a:rPr>
              <a:t>Bank</a:t>
            </a:r>
            <a:r>
              <a:rPr dirty="0" sz="1500" spc="-105" b="1">
                <a:latin typeface="Trebuchet MS"/>
                <a:cs typeface="Trebuchet MS"/>
              </a:rPr>
              <a:t> </a:t>
            </a:r>
            <a:r>
              <a:rPr dirty="0" sz="1500" spc="-90" b="1">
                <a:latin typeface="Trebuchet MS"/>
                <a:cs typeface="Trebuchet MS"/>
              </a:rPr>
              <a:t>Layout,</a:t>
            </a:r>
            <a:r>
              <a:rPr dirty="0" sz="1500" spc="-204" b="1">
                <a:latin typeface="Trebuchet MS"/>
                <a:cs typeface="Trebuchet MS"/>
              </a:rPr>
              <a:t> </a:t>
            </a:r>
            <a:r>
              <a:rPr dirty="0" sz="1500" spc="-80" b="1">
                <a:latin typeface="Trebuchet MS"/>
                <a:cs typeface="Trebuchet MS"/>
              </a:rPr>
              <a:t>Bengaluru</a:t>
            </a:r>
            <a:r>
              <a:rPr dirty="0" sz="1500" spc="-190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–</a:t>
            </a:r>
            <a:r>
              <a:rPr dirty="0" sz="1500" spc="260" b="1">
                <a:latin typeface="Trebuchet MS"/>
                <a:cs typeface="Trebuchet MS"/>
              </a:rPr>
              <a:t> </a:t>
            </a:r>
            <a:r>
              <a:rPr dirty="0" sz="1500" spc="-10" b="1">
                <a:latin typeface="Trebuchet MS"/>
                <a:cs typeface="Trebuchet MS"/>
              </a:rPr>
              <a:t>560076</a:t>
            </a:r>
            <a:endParaRPr sz="1500">
              <a:latin typeface="Trebuchet MS"/>
              <a:cs typeface="Trebuchet MS"/>
            </a:endParaRPr>
          </a:p>
          <a:p>
            <a:pPr marL="346710" marR="5080" indent="-334010">
              <a:lnSpc>
                <a:spcPct val="150000"/>
              </a:lnSpc>
              <a:buSzPct val="136666"/>
              <a:buFont typeface="Cambria"/>
              <a:buChar char="●"/>
              <a:tabLst>
                <a:tab pos="347980" algn="l"/>
              </a:tabLst>
            </a:pPr>
            <a:r>
              <a:rPr dirty="0" sz="1500" spc="-45">
                <a:latin typeface="Tahoma"/>
                <a:cs typeface="Tahoma"/>
              </a:rPr>
              <a:t>An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NGO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actively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involved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in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sustainable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development</a:t>
            </a:r>
            <a:r>
              <a:rPr dirty="0" sz="1500" spc="-195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initiatives,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including</a:t>
            </a:r>
            <a:r>
              <a:rPr dirty="0" sz="1500" spc="-17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safe</a:t>
            </a:r>
            <a:r>
              <a:rPr dirty="0" sz="1500" spc="-15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e-</a:t>
            </a:r>
            <a:r>
              <a:rPr dirty="0" sz="1500" spc="-60">
                <a:latin typeface="Tahoma"/>
                <a:cs typeface="Tahoma"/>
              </a:rPr>
              <a:t>waste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handling</a:t>
            </a:r>
            <a:r>
              <a:rPr dirty="0" sz="1500" spc="-18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and </a:t>
            </a:r>
            <a:r>
              <a:rPr dirty="0" sz="1500" spc="-25">
                <a:latin typeface="Tahoma"/>
                <a:cs typeface="Tahoma"/>
              </a:rPr>
              <a:t>	</a:t>
            </a:r>
            <a:r>
              <a:rPr dirty="0" sz="1500" spc="-75">
                <a:latin typeface="Tahoma"/>
                <a:cs typeface="Tahoma"/>
              </a:rPr>
              <a:t>community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awareness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programs.</a:t>
            </a:r>
            <a:endParaRPr sz="1500">
              <a:latin typeface="Tahoma"/>
              <a:cs typeface="Tahoma"/>
            </a:endParaRPr>
          </a:p>
          <a:p>
            <a:pPr marL="347345" indent="-334645">
              <a:lnSpc>
                <a:spcPct val="100000"/>
              </a:lnSpc>
              <a:spcBef>
                <a:spcPts val="900"/>
              </a:spcBef>
              <a:buSzPct val="140000"/>
              <a:buFont typeface="Cambria"/>
              <a:buChar char="●"/>
              <a:tabLst>
                <a:tab pos="347345" algn="l"/>
              </a:tabLst>
            </a:pPr>
            <a:r>
              <a:rPr dirty="0" sz="1500" spc="-75">
                <a:latin typeface="Tahoma"/>
                <a:cs typeface="Tahoma"/>
              </a:rPr>
              <a:t>High</a:t>
            </a:r>
            <a:r>
              <a:rPr dirty="0" sz="1500" spc="-16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electronic</a:t>
            </a:r>
            <a:r>
              <a:rPr dirty="0" sz="1500" spc="-17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consumption</a:t>
            </a:r>
            <a:r>
              <a:rPr dirty="0" sz="1500" spc="-210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and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75">
                <a:latin typeface="Tahoma"/>
                <a:cs typeface="Tahoma"/>
              </a:rPr>
              <a:t>turnover</a:t>
            </a:r>
            <a:r>
              <a:rPr dirty="0" sz="1500" spc="-24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due</a:t>
            </a:r>
            <a:r>
              <a:rPr dirty="0" sz="1500" spc="-15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to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proximity.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Cambria"/>
              <a:buChar char="●"/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50" spc="-65" b="1">
                <a:latin typeface="Trebuchet MS"/>
                <a:cs typeface="Trebuchet MS"/>
              </a:rPr>
              <a:t>Problems</a:t>
            </a:r>
            <a:r>
              <a:rPr dirty="0" sz="1950" spc="-225" b="1">
                <a:latin typeface="Trebuchet MS"/>
                <a:cs typeface="Trebuchet MS"/>
              </a:rPr>
              <a:t> </a:t>
            </a:r>
            <a:r>
              <a:rPr dirty="0" sz="1950" spc="-80" b="1">
                <a:latin typeface="Trebuchet MS"/>
                <a:cs typeface="Trebuchet MS"/>
              </a:rPr>
              <a:t>Faced</a:t>
            </a:r>
            <a:r>
              <a:rPr dirty="0" sz="1950" spc="-195" b="1">
                <a:latin typeface="Trebuchet MS"/>
                <a:cs typeface="Trebuchet MS"/>
              </a:rPr>
              <a:t> </a:t>
            </a:r>
            <a:r>
              <a:rPr dirty="0" sz="1950" spc="-30" b="1">
                <a:latin typeface="Trebuchet MS"/>
                <a:cs typeface="Trebuchet MS"/>
              </a:rPr>
              <a:t>by</a:t>
            </a:r>
            <a:r>
              <a:rPr dirty="0" sz="1950" spc="-195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the</a:t>
            </a:r>
            <a:r>
              <a:rPr dirty="0" sz="1950" spc="-22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Community</a:t>
            </a: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66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Manual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sorting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inefficiency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→frequent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misclassification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devices.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0" b="1">
                <a:latin typeface="Trebuchet MS"/>
                <a:cs typeface="Trebuchet MS"/>
              </a:rPr>
              <a:t>Low</a:t>
            </a:r>
            <a:r>
              <a:rPr dirty="0" sz="1450" spc="-11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recovery</a:t>
            </a:r>
            <a:r>
              <a:rPr dirty="0" sz="1450" spc="-18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of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valuable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materials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(PCBs,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metals,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reusable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parts).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6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High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labour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dependence</a:t>
            </a:r>
            <a:r>
              <a:rPr dirty="0" sz="1450" spc="-130" b="1">
                <a:latin typeface="Trebuchet MS"/>
                <a:cs typeface="Trebuchet MS"/>
              </a:rPr>
              <a:t> </a:t>
            </a:r>
            <a:r>
              <a:rPr dirty="0" sz="1450" spc="-50">
                <a:latin typeface="Tahoma"/>
                <a:cs typeface="Tahoma"/>
              </a:rPr>
              <a:t>→fatigue,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inconsistent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accuracy,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training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difficulty.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Safety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risks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from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undetected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hazards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(swollen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batteries,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toxic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parts).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5" b="1">
                <a:latin typeface="Trebuchet MS"/>
                <a:cs typeface="Trebuchet MS"/>
              </a:rPr>
              <a:t>Poor </a:t>
            </a:r>
            <a:r>
              <a:rPr dirty="0" sz="1450" spc="-55" b="1">
                <a:latin typeface="Trebuchet MS"/>
                <a:cs typeface="Trebuchet MS"/>
              </a:rPr>
              <a:t>tracking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&amp;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documentation</a:t>
            </a:r>
            <a:r>
              <a:rPr dirty="0" sz="1450" spc="-140" b="1">
                <a:latin typeface="Trebuchet MS"/>
                <a:cs typeface="Trebuchet MS"/>
              </a:rPr>
              <a:t> </a:t>
            </a:r>
            <a:r>
              <a:rPr dirty="0" sz="1450" spc="-35">
                <a:latin typeface="Tahoma"/>
                <a:cs typeface="Tahoma"/>
              </a:rPr>
              <a:t>→inaccurate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logs,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CPCB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issues.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6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0" b="1">
                <a:latin typeface="Trebuchet MS"/>
                <a:cs typeface="Trebuchet MS"/>
              </a:rPr>
              <a:t>No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affordable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automation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30">
                <a:latin typeface="Tahoma"/>
                <a:cs typeface="Tahoma"/>
              </a:rPr>
              <a:t>→robotic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too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costly;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cloud-based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tools </a:t>
            </a:r>
            <a:r>
              <a:rPr dirty="0" sz="1450" spc="-10">
                <a:latin typeface="Tahoma"/>
                <a:cs typeface="Tahoma"/>
              </a:rPr>
              <a:t>unreliable.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0" b="1">
                <a:latin typeface="Trebuchet MS"/>
                <a:cs typeface="Trebuchet MS"/>
              </a:rPr>
              <a:t>Operational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delays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due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lack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guided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sorting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standardized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workflow.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11426" y="1266824"/>
            <a:ext cx="603567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INTRODUCTION</a:t>
            </a:r>
            <a:r>
              <a:rPr dirty="0" spc="-254"/>
              <a:t> </a:t>
            </a:r>
            <a:r>
              <a:rPr dirty="0" spc="-100"/>
              <a:t>TO</a:t>
            </a:r>
            <a:r>
              <a:rPr dirty="0" spc="-409"/>
              <a:t> </a:t>
            </a:r>
            <a:r>
              <a:rPr dirty="0" spc="-95"/>
              <a:t>THE</a:t>
            </a:r>
            <a:r>
              <a:rPr dirty="0" spc="-335"/>
              <a:t> </a:t>
            </a:r>
            <a:r>
              <a:rPr dirty="0" spc="-10"/>
              <a:t>COMMUNITY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6471" y="3697223"/>
            <a:ext cx="2273807" cy="2523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1883664"/>
            <a:ext cx="3054095" cy="43601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5967" y="1318005"/>
            <a:ext cx="399034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CONFIRMATION</a:t>
            </a:r>
            <a:r>
              <a:rPr dirty="0" spc="-135"/>
              <a:t> </a:t>
            </a:r>
            <a:r>
              <a:rPr dirty="0" spc="-50"/>
              <a:t>LETTER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7944" y="1883664"/>
            <a:ext cx="3054096" cy="43601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970" y="2030729"/>
            <a:ext cx="9011285" cy="401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spc="-40" b="1">
                <a:latin typeface="Trebuchet MS"/>
                <a:cs typeface="Trebuchet MS"/>
              </a:rPr>
              <a:t>Why</a:t>
            </a:r>
            <a:r>
              <a:rPr dirty="0" sz="1950" spc="-220" b="1">
                <a:latin typeface="Trebuchet MS"/>
                <a:cs typeface="Trebuchet MS"/>
              </a:rPr>
              <a:t> </a:t>
            </a:r>
            <a:r>
              <a:rPr dirty="0" sz="1950" spc="-60" b="1">
                <a:latin typeface="Trebuchet MS"/>
                <a:cs typeface="Trebuchet MS"/>
              </a:rPr>
              <a:t>This</a:t>
            </a:r>
            <a:r>
              <a:rPr dirty="0" sz="1950" spc="-204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Solution</a:t>
            </a:r>
            <a:r>
              <a:rPr dirty="0" sz="1950" spc="-155" b="1">
                <a:latin typeface="Trebuchet MS"/>
                <a:cs typeface="Trebuchet MS"/>
              </a:rPr>
              <a:t> </a:t>
            </a:r>
            <a:r>
              <a:rPr dirty="0" sz="1950" spc="75" b="1">
                <a:latin typeface="Trebuchet MS"/>
                <a:cs typeface="Trebuchet MS"/>
              </a:rPr>
              <a:t>Is</a:t>
            </a:r>
            <a:r>
              <a:rPr dirty="0" sz="1950" spc="2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Necessary</a:t>
            </a:r>
            <a:endParaRPr sz="1950">
              <a:latin typeface="Trebuchet MS"/>
              <a:cs typeface="Trebuchet MS"/>
            </a:endParaRPr>
          </a:p>
          <a:p>
            <a:pPr marL="373380" indent="-335280">
              <a:lnSpc>
                <a:spcPct val="100000"/>
              </a:lnSpc>
              <a:spcBef>
                <a:spcPts val="150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5">
                <a:latin typeface="Tahoma"/>
                <a:cs typeface="Tahoma"/>
              </a:rPr>
              <a:t>Manual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sorting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local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centers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slow,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inaccurate,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labour-</a:t>
            </a:r>
            <a:r>
              <a:rPr dirty="0" sz="1450" spc="-10">
                <a:latin typeface="Tahoma"/>
                <a:cs typeface="Tahoma"/>
              </a:rPr>
              <a:t>intensive.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9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Workers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cannot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reliably </a:t>
            </a:r>
            <a:r>
              <a:rPr dirty="0" sz="1450" spc="-45">
                <a:latin typeface="Tahoma"/>
                <a:cs typeface="Tahoma"/>
              </a:rPr>
              <a:t>identify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brands,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hazardous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parts,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refurbishable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components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by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visual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inspection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alone.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0">
                <a:latin typeface="Tahoma"/>
                <a:cs typeface="Tahoma"/>
              </a:rPr>
              <a:t>Lack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automation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leads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low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recovery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valuable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reducing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income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recyclers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refurbishers.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9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0">
                <a:latin typeface="Tahoma"/>
                <a:cs typeface="Tahoma"/>
              </a:rPr>
              <a:t>Hazard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(swollen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cracked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screens)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requires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AI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assistance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prevent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accidents.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Current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systems </a:t>
            </a:r>
            <a:r>
              <a:rPr dirty="0" sz="1450" spc="-60">
                <a:latin typeface="Tahoma"/>
                <a:cs typeface="Tahoma"/>
              </a:rPr>
              <a:t>have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no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integrated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tracking,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making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reporting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difficult.</a:t>
            </a:r>
            <a:endParaRPr sz="14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695"/>
              </a:spcBef>
            </a:pPr>
            <a:r>
              <a:rPr dirty="0" sz="1950" spc="-90" b="1">
                <a:latin typeface="Trebuchet MS"/>
                <a:cs typeface="Trebuchet MS"/>
              </a:rPr>
              <a:t>Evidence</a:t>
            </a:r>
            <a:r>
              <a:rPr dirty="0" sz="1950" spc="-175" b="1">
                <a:latin typeface="Trebuchet MS"/>
                <a:cs typeface="Trebuchet MS"/>
              </a:rPr>
              <a:t> </a:t>
            </a:r>
            <a:r>
              <a:rPr dirty="0" sz="1950" b="1">
                <a:latin typeface="Trebuchet MS"/>
                <a:cs typeface="Trebuchet MS"/>
              </a:rPr>
              <a:t>/</a:t>
            </a:r>
            <a:r>
              <a:rPr dirty="0" sz="1950" spc="-10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Observations</a:t>
            </a:r>
            <a:r>
              <a:rPr dirty="0" sz="1950" spc="-200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From</a:t>
            </a:r>
            <a:r>
              <a:rPr dirty="0" sz="1950" spc="-245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the</a:t>
            </a:r>
            <a:r>
              <a:rPr dirty="0" sz="1950" spc="-21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Community</a:t>
            </a:r>
            <a:endParaRPr sz="1950">
              <a:latin typeface="Trebuchet MS"/>
              <a:cs typeface="Trebuchet MS"/>
            </a:endParaRPr>
          </a:p>
          <a:p>
            <a:pPr marL="373380" indent="-335280">
              <a:lnSpc>
                <a:spcPct val="100000"/>
              </a:lnSpc>
              <a:spcBef>
                <a:spcPts val="15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workers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Bilekahalli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surrounding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areas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report: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45">
                <a:latin typeface="Tahoma"/>
                <a:cs typeface="Tahoma"/>
              </a:rPr>
              <a:t>Frequent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misclassification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(phones,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PCBs,</a:t>
            </a:r>
            <a:r>
              <a:rPr dirty="0" sz="1450" spc="-55">
                <a:latin typeface="Tahoma"/>
                <a:cs typeface="Tahoma"/>
              </a:rPr>
              <a:t> chargers,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mixed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plastics).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60">
                <a:latin typeface="Tahoma"/>
                <a:cs typeface="Tahoma"/>
              </a:rPr>
              <a:t>Human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fatigue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causing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errors, </a:t>
            </a:r>
            <a:r>
              <a:rPr dirty="0" sz="1450" spc="-35">
                <a:latin typeface="Tahoma"/>
                <a:cs typeface="Tahoma"/>
              </a:rPr>
              <a:t>especially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high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daily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volume.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710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45">
                <a:latin typeface="Tahoma"/>
                <a:cs typeface="Tahoma"/>
              </a:rPr>
              <a:t>Difficulty</a:t>
            </a:r>
            <a:r>
              <a:rPr dirty="0" sz="1450" spc="-55">
                <a:latin typeface="Tahoma"/>
                <a:cs typeface="Tahoma"/>
              </a:rPr>
              <a:t> separating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reusable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vs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recyclable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vs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scrap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categories.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55">
                <a:latin typeface="Tahoma"/>
                <a:cs typeface="Tahoma"/>
              </a:rPr>
              <a:t>Safety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incidents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involving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damaged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sharp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components.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700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25">
                <a:latin typeface="Tahoma"/>
                <a:cs typeface="Tahoma"/>
              </a:rPr>
              <a:t>No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reliable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counts,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weight,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accuracy,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material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recovery.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Workshops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lack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funds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robotic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systems;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they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require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low-</a:t>
            </a:r>
            <a:r>
              <a:rPr dirty="0" sz="1450" spc="-40">
                <a:latin typeface="Tahoma"/>
                <a:cs typeface="Tahoma"/>
              </a:rPr>
              <a:t>cost,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40">
                <a:latin typeface="Tahoma"/>
                <a:cs typeface="Tahoma"/>
              </a:rPr>
              <a:t>play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alternative.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NEED</a:t>
            </a:r>
            <a:r>
              <a:rPr dirty="0" spc="-254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556" y="3436620"/>
            <a:ext cx="2218944" cy="22204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7315" y="4480469"/>
            <a:ext cx="162750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increased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landfill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2030729"/>
            <a:ext cx="7668895" cy="3014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30" b="1">
                <a:latin typeface="Trebuchet MS"/>
                <a:cs typeface="Trebuchet MS"/>
              </a:rPr>
              <a:t>Impact</a:t>
            </a:r>
            <a:r>
              <a:rPr dirty="0" sz="1950" spc="-120" b="1">
                <a:latin typeface="Trebuchet MS"/>
                <a:cs typeface="Trebuchet MS"/>
              </a:rPr>
              <a:t> </a:t>
            </a:r>
            <a:r>
              <a:rPr dirty="0" sz="1950" b="1">
                <a:latin typeface="Trebuchet MS"/>
                <a:cs typeface="Trebuchet MS"/>
              </a:rPr>
              <a:t>If</a:t>
            </a:r>
            <a:r>
              <a:rPr dirty="0" sz="1950" spc="-15" b="1">
                <a:latin typeface="Trebuchet MS"/>
                <a:cs typeface="Trebuchet MS"/>
              </a:rPr>
              <a:t> </a:t>
            </a:r>
            <a:r>
              <a:rPr dirty="0" sz="1950" spc="-80" b="1">
                <a:latin typeface="Trebuchet MS"/>
                <a:cs typeface="Trebuchet MS"/>
              </a:rPr>
              <a:t>the</a:t>
            </a:r>
            <a:r>
              <a:rPr dirty="0" sz="1950" spc="-175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Problem</a:t>
            </a:r>
            <a:r>
              <a:rPr dirty="0" sz="1950" spc="-185" b="1">
                <a:latin typeface="Trebuchet MS"/>
                <a:cs typeface="Trebuchet MS"/>
              </a:rPr>
              <a:t> </a:t>
            </a:r>
            <a:r>
              <a:rPr dirty="0" sz="1950" spc="-60" b="1">
                <a:latin typeface="Trebuchet MS"/>
                <a:cs typeface="Trebuchet MS"/>
              </a:rPr>
              <a:t>Remains</a:t>
            </a:r>
            <a:r>
              <a:rPr dirty="0" sz="1950" spc="-21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Unsolved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5">
                <a:latin typeface="Tahoma"/>
                <a:cs typeface="Tahoma"/>
              </a:rPr>
              <a:t>Continued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loss</a:t>
            </a:r>
            <a:r>
              <a:rPr dirty="0" sz="1450" spc="-30">
                <a:latin typeface="Tahoma"/>
                <a:cs typeface="Tahoma"/>
              </a:rPr>
              <a:t> of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valuable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materials</a:t>
            </a:r>
            <a:r>
              <a:rPr dirty="0" sz="1450" spc="-55">
                <a:latin typeface="Tahoma"/>
                <a:cs typeface="Tahoma"/>
              </a:rPr>
              <a:t>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reducing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revenue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>
                <a:latin typeface="Tahoma"/>
                <a:cs typeface="Tahoma"/>
              </a:rPr>
              <a:t>Increase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hazardous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incidents,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including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battery </a:t>
            </a:r>
            <a:r>
              <a:rPr dirty="0" sz="1450" spc="-45">
                <a:latin typeface="Tahoma"/>
                <a:cs typeface="Tahoma"/>
              </a:rPr>
              <a:t>swelling,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smoke,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minor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fires.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>
                <a:latin typeface="Tahoma"/>
                <a:cs typeface="Tahoma"/>
              </a:rPr>
              <a:t>Persistent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overload,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leading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slow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operations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higher </a:t>
            </a:r>
            <a:r>
              <a:rPr dirty="0" sz="1450" spc="-10">
                <a:latin typeface="Tahoma"/>
                <a:cs typeface="Tahoma"/>
              </a:rPr>
              <a:t>costs.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5">
                <a:latin typeface="Tahoma"/>
                <a:cs typeface="Tahoma"/>
              </a:rPr>
              <a:t>Poor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documentation</a:t>
            </a:r>
            <a:r>
              <a:rPr dirty="0" sz="1450" spc="-50">
                <a:latin typeface="Tahoma"/>
                <a:cs typeface="Tahoma"/>
              </a:rPr>
              <a:t> may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result</a:t>
            </a:r>
            <a:r>
              <a:rPr dirty="0" sz="1450" spc="-35">
                <a:latin typeface="Tahoma"/>
                <a:cs typeface="Tahoma"/>
              </a:rPr>
              <a:t> 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penalties</a:t>
            </a:r>
            <a:r>
              <a:rPr dirty="0" sz="1450" spc="-35">
                <a:latin typeface="Tahoma"/>
                <a:cs typeface="Tahoma"/>
              </a:rPr>
              <a:t> or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rejection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by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CPCB-</a:t>
            </a:r>
            <a:r>
              <a:rPr dirty="0" sz="1450" spc="-40">
                <a:latin typeface="Tahoma"/>
                <a:cs typeface="Tahoma"/>
              </a:rPr>
              <a:t>certified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 marL="347980" marR="458470" indent="-335280">
              <a:lnSpc>
                <a:spcPct val="149700"/>
              </a:lnSpc>
              <a:spcBef>
                <a:spcPts val="1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will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be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improperly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segregated,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contributing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environmental </a:t>
            </a:r>
            <a:r>
              <a:rPr dirty="0" sz="1450" spc="-10">
                <a:latin typeface="Tahoma"/>
                <a:cs typeface="Tahoma"/>
              </a:rPr>
              <a:t>pollution burden.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NEED</a:t>
            </a:r>
            <a:r>
              <a:rPr dirty="0" spc="-254"/>
              <a:t> </a:t>
            </a:r>
            <a:r>
              <a:rPr dirty="0" spc="-10"/>
              <a:t>ANALYSIS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3340" y="4399788"/>
            <a:ext cx="2253996" cy="18714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2434739"/>
            <a:ext cx="9165590" cy="377825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950" spc="-85" b="1">
                <a:latin typeface="Trebuchet MS"/>
                <a:cs typeface="Trebuchet MS"/>
              </a:rPr>
              <a:t>Problem</a:t>
            </a:r>
            <a:r>
              <a:rPr dirty="0" sz="1950" spc="-12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Explanation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>
                <a:latin typeface="Tahoma"/>
                <a:cs typeface="Tahoma"/>
              </a:rPr>
              <a:t>waste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collection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centers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areas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like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Bilekahalli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still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depend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heavily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manual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sorting,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where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workers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visually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450">
                <a:latin typeface="Tahoma"/>
                <a:cs typeface="Tahoma"/>
              </a:rPr>
              <a:t>inspect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every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80">
                <a:latin typeface="Tahoma"/>
                <a:cs typeface="Tahoma"/>
              </a:rPr>
              <a:t>device—</a:t>
            </a:r>
            <a:r>
              <a:rPr dirty="0" sz="1450" spc="-25">
                <a:latin typeface="Tahoma"/>
                <a:cs typeface="Tahoma"/>
              </a:rPr>
              <a:t>phones,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chargers,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batteries,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cables,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PCBs.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Because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process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entirely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human-</a:t>
            </a:r>
            <a:r>
              <a:rPr dirty="0" sz="1450" spc="-10">
                <a:latin typeface="Tahoma"/>
                <a:cs typeface="Tahoma"/>
              </a:rPr>
              <a:t>driven,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52400"/>
              </a:lnSpc>
              <a:spcBef>
                <a:spcPts val="15"/>
              </a:spcBef>
            </a:pPr>
            <a:r>
              <a:rPr dirty="0" sz="1450" spc="-20">
                <a:latin typeface="Tahoma"/>
                <a:cs typeface="Tahoma"/>
              </a:rPr>
              <a:t>workers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often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misidentify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items,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fail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notice</a:t>
            </a:r>
            <a:r>
              <a:rPr dirty="0" sz="1450" spc="-35">
                <a:latin typeface="Tahoma"/>
                <a:cs typeface="Tahoma"/>
              </a:rPr>
              <a:t> hazardous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components,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or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miss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valuable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reusable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parts.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This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leads</a:t>
            </a:r>
            <a:r>
              <a:rPr dirty="0" sz="1450" spc="-25">
                <a:latin typeface="Tahoma"/>
                <a:cs typeface="Tahoma"/>
              </a:rPr>
              <a:t> to </a:t>
            </a:r>
            <a:r>
              <a:rPr dirty="0" sz="1450" spc="-40">
                <a:latin typeface="Tahoma"/>
                <a:cs typeface="Tahoma"/>
              </a:rPr>
              <a:t>low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recovery,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safety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issues,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high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fatigue.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 spc="-30">
                <a:latin typeface="Tahoma"/>
                <a:cs typeface="Tahoma"/>
              </a:rPr>
              <a:t>Additionally,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there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no</a:t>
            </a:r>
            <a:r>
              <a:rPr dirty="0" sz="1450" spc="-20">
                <a:latin typeface="Tahoma"/>
                <a:cs typeface="Tahoma"/>
              </a:rPr>
              <a:t> proper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tracking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system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for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weight,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item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count,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or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segregation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accuracy,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making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compliance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documentation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difficult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50" spc="-65" b="1">
                <a:latin typeface="Trebuchet MS"/>
                <a:cs typeface="Trebuchet MS"/>
              </a:rPr>
              <a:t>Final</a:t>
            </a:r>
            <a:r>
              <a:rPr dirty="0" sz="1950" spc="-185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Problem</a:t>
            </a:r>
            <a:r>
              <a:rPr dirty="0" sz="1950" spc="-21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Statement</a:t>
            </a:r>
            <a:endParaRPr sz="1950">
              <a:latin typeface="Trebuchet MS"/>
              <a:cs typeface="Trebuchet MS"/>
            </a:endParaRPr>
          </a:p>
          <a:p>
            <a:pPr marL="12700" marR="64135">
              <a:lnSpc>
                <a:spcPts val="2640"/>
              </a:lnSpc>
            </a:pP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35">
                <a:latin typeface="Tahoma"/>
                <a:cs typeface="Tahoma"/>
              </a:rPr>
              <a:t>play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hardware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+software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platform </a:t>
            </a:r>
            <a:r>
              <a:rPr dirty="0" sz="1450" spc="-50">
                <a:latin typeface="Tahoma"/>
                <a:cs typeface="Tahoma"/>
              </a:rPr>
              <a:t>designed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help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collection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centers,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recyclers,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refurbishers </a:t>
            </a:r>
            <a:r>
              <a:rPr dirty="0" sz="1450" spc="-45">
                <a:latin typeface="Tahoma"/>
                <a:cs typeface="Tahoma"/>
              </a:rPr>
              <a:t>increase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throughput,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reduce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costs,</a:t>
            </a:r>
            <a:r>
              <a:rPr dirty="0" sz="1450" spc="-45">
                <a:latin typeface="Tahoma"/>
                <a:cs typeface="Tahoma"/>
              </a:rPr>
              <a:t> and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recover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more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valuable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materials.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4711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PROBLEM</a:t>
            </a:r>
            <a:r>
              <a:rPr dirty="0" spc="-300"/>
              <a:t> </a:t>
            </a:r>
            <a:r>
              <a:rPr dirty="0" spc="-5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" y="1344167"/>
            <a:ext cx="1696212" cy="10896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80434" y="1601165"/>
            <a:ext cx="2113915" cy="4762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706" y="2470785"/>
            <a:ext cx="8996680" cy="24955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4765" marR="5080" indent="-12700">
              <a:lnSpc>
                <a:spcPct val="102800"/>
              </a:lnSpc>
              <a:spcBef>
                <a:spcPts val="50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>
                <a:latin typeface="Tahoma"/>
                <a:cs typeface="Tahoma"/>
              </a:rPr>
              <a:t>	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develop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AI-</a:t>
            </a:r>
            <a:r>
              <a:rPr dirty="0" sz="1450">
                <a:latin typeface="Tahoma"/>
                <a:cs typeface="Tahoma"/>
              </a:rPr>
              <a:t>driven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visual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identification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system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that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can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accurately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detect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device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type,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brand/model,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and </a:t>
            </a:r>
            <a:r>
              <a:rPr dirty="0" sz="1450" spc="-45">
                <a:latin typeface="Tahoma"/>
                <a:cs typeface="Tahoma"/>
              </a:rPr>
              <a:t>minerals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present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real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time.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•"/>
            </a:pPr>
            <a:endParaRPr sz="1450">
              <a:latin typeface="Tahoma"/>
              <a:cs typeface="Tahoma"/>
            </a:endParaRPr>
          </a:p>
          <a:p>
            <a:pPr marL="24765" marR="9525" indent="-12700">
              <a:lnSpc>
                <a:spcPct val="102099"/>
              </a:lnSpc>
              <a:spcBef>
                <a:spcPts val="5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 spc="-10">
                <a:latin typeface="Tahoma"/>
                <a:cs typeface="Tahoma"/>
              </a:rPr>
              <a:t>	</a:t>
            </a:r>
            <a:r>
              <a:rPr dirty="0" sz="1450" spc="-10">
                <a:latin typeface="Tahoma"/>
                <a:cs typeface="Tahoma"/>
              </a:rPr>
              <a:t>To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design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guided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Smart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Ewaste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Managament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System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which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will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store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history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of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all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devices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scanned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and </a:t>
            </a:r>
            <a:r>
              <a:rPr dirty="0" sz="1450" spc="-40">
                <a:latin typeface="Tahoma"/>
                <a:cs typeface="Tahoma"/>
              </a:rPr>
              <a:t>completely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make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automated.</a:t>
            </a:r>
            <a:endParaRPr sz="1450">
              <a:latin typeface="Tahoma"/>
              <a:cs typeface="Tahoma"/>
            </a:endParaRPr>
          </a:p>
          <a:p>
            <a:pPr marL="24765" marR="8255" indent="-12700">
              <a:lnSpc>
                <a:spcPct val="102800"/>
              </a:lnSpc>
              <a:spcBef>
                <a:spcPts val="1739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>
                <a:latin typeface="Tahoma"/>
                <a:cs typeface="Tahoma"/>
              </a:rPr>
              <a:t>	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implement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integrated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tracking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inventory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system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that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logs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device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into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database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maintain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 </a:t>
            </a:r>
            <a:r>
              <a:rPr dirty="0" sz="1450" spc="-10">
                <a:latin typeface="Tahoma"/>
                <a:cs typeface="Tahoma"/>
              </a:rPr>
              <a:t>history.</a:t>
            </a:r>
            <a:endParaRPr sz="1450">
              <a:latin typeface="Tahoma"/>
              <a:cs typeface="Tahoma"/>
            </a:endParaRPr>
          </a:p>
          <a:p>
            <a:pPr marL="24765" marR="15875" indent="-12700">
              <a:lnSpc>
                <a:spcPct val="102099"/>
              </a:lnSpc>
              <a:spcBef>
                <a:spcPts val="1739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 spc="-10">
                <a:latin typeface="Tahoma"/>
                <a:cs typeface="Tahoma"/>
              </a:rPr>
              <a:t>	</a:t>
            </a:r>
            <a:r>
              <a:rPr dirty="0" sz="1450" spc="-10">
                <a:latin typeface="Tahoma"/>
                <a:cs typeface="Tahoma"/>
              </a:rPr>
              <a:t>To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reduce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manual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errors,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labour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load,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and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safety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risks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by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providing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low-</a:t>
            </a:r>
            <a:r>
              <a:rPr dirty="0" sz="1450" spc="-10">
                <a:latin typeface="Tahoma"/>
                <a:cs typeface="Tahoma"/>
              </a:rPr>
              <a:t>cost,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10">
                <a:latin typeface="Tahoma"/>
                <a:cs typeface="Tahoma"/>
              </a:rPr>
              <a:t>play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solution </a:t>
            </a:r>
            <a:r>
              <a:rPr dirty="0" sz="1450" spc="-20">
                <a:latin typeface="Tahoma"/>
                <a:cs typeface="Tahoma"/>
              </a:rPr>
              <a:t>suitable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for </a:t>
            </a:r>
            <a:r>
              <a:rPr dirty="0" sz="1450" spc="-20">
                <a:latin typeface="Tahoma"/>
                <a:cs typeface="Tahoma"/>
              </a:rPr>
              <a:t>small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mid-scale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recycling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centers.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5256" y="4768596"/>
            <a:ext cx="1464563" cy="14630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20" y="2031492"/>
            <a:ext cx="5219700" cy="40431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5791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PROPOSED</a:t>
            </a:r>
            <a:r>
              <a:rPr dirty="0" spc="-250"/>
              <a:t> </a:t>
            </a:r>
            <a:r>
              <a:rPr dirty="0" spc="-2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2599944"/>
            <a:ext cx="7139940" cy="25770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5"/>
              <a:t>AI</a:t>
            </a:r>
            <a:r>
              <a:rPr dirty="0" spc="-35"/>
              <a:t> </a:t>
            </a:r>
            <a:r>
              <a:rPr dirty="0"/>
              <a:t>PIPELINE</a:t>
            </a:r>
            <a:r>
              <a:rPr dirty="0" spc="-170"/>
              <a:t> </a:t>
            </a:r>
            <a:r>
              <a:rPr dirty="0" spc="-100"/>
              <a:t>OF</a:t>
            </a:r>
            <a:r>
              <a:rPr dirty="0" spc="-370"/>
              <a:t> </a:t>
            </a:r>
            <a:r>
              <a:rPr dirty="0" spc="-1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1953310"/>
            <a:ext cx="9017000" cy="3763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100"/>
              </a:spcBef>
            </a:pP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proposed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AI-</a:t>
            </a:r>
            <a:r>
              <a:rPr dirty="0" sz="1450" spc="-50">
                <a:latin typeface="Tahoma"/>
                <a:cs typeface="Tahoma"/>
              </a:rPr>
              <a:t>driven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identification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monitoring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solution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which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camera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mounted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a </a:t>
            </a:r>
            <a:r>
              <a:rPr dirty="0" sz="1450" spc="-55">
                <a:latin typeface="Tahoma"/>
                <a:cs typeface="Tahoma"/>
              </a:rPr>
              <a:t>Raspberry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Pi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continuously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captures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images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along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sensor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sends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them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central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processing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engine.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This </a:t>
            </a:r>
            <a:r>
              <a:rPr dirty="0" sz="1450" spc="-65">
                <a:latin typeface="Tahoma"/>
                <a:cs typeface="Tahoma"/>
              </a:rPr>
              <a:t>engine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uses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artificial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intelligence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split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analysis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two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parallel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tasks: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one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model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detects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product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brand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or </a:t>
            </a:r>
            <a:r>
              <a:rPr dirty="0" sz="1450" spc="-40">
                <a:latin typeface="Tahoma"/>
                <a:cs typeface="Tahoma"/>
              </a:rPr>
              <a:t>model,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while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another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identifies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metals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minerals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present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object.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450">
              <a:latin typeface="Tahoma"/>
              <a:cs typeface="Tahoma"/>
            </a:endParaRPr>
          </a:p>
          <a:p>
            <a:pPr marL="12700" marR="84455">
              <a:lnSpc>
                <a:spcPct val="154000"/>
              </a:lnSpc>
              <a:spcBef>
                <a:spcPts val="5"/>
              </a:spcBef>
            </a:pP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processed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results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are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continuously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stored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MongoDB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database,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which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also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acts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reference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layer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where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the </a:t>
            </a:r>
            <a:r>
              <a:rPr dirty="0" sz="1450" spc="-20">
                <a:latin typeface="Tahoma"/>
                <a:cs typeface="Tahoma"/>
              </a:rPr>
              <a:t>AI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checks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whether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similar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already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exists,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enabling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validation,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reuse,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consistent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detection.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database </a:t>
            </a:r>
            <a:r>
              <a:rPr dirty="0" sz="1450" spc="-50">
                <a:latin typeface="Tahoma"/>
                <a:cs typeface="Tahoma"/>
              </a:rPr>
              <a:t>maintains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complete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history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detected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timestamps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metadata.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desktop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application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mobile </a:t>
            </a:r>
            <a:r>
              <a:rPr dirty="0" sz="1450" spc="-40">
                <a:latin typeface="Tahoma"/>
                <a:cs typeface="Tahoma"/>
              </a:rPr>
              <a:t>application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are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connected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database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monitor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real-</a:t>
            </a:r>
            <a:r>
              <a:rPr dirty="0" sz="1450" spc="-40">
                <a:latin typeface="Tahoma"/>
                <a:cs typeface="Tahoma"/>
              </a:rPr>
              <a:t>time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view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historical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records,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while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small </a:t>
            </a:r>
            <a:r>
              <a:rPr dirty="0" sz="1450" spc="-20">
                <a:latin typeface="Tahoma"/>
                <a:cs typeface="Tahoma"/>
              </a:rPr>
              <a:t>local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display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shows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immediate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output,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enabling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seamless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real-</a:t>
            </a:r>
            <a:r>
              <a:rPr dirty="0" sz="1450" spc="-40">
                <a:latin typeface="Tahoma"/>
                <a:cs typeface="Tahoma"/>
              </a:rPr>
              <a:t>time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tracking</a:t>
            </a:r>
            <a:r>
              <a:rPr dirty="0" sz="1450" spc="-45">
                <a:latin typeface="Tahoma"/>
                <a:cs typeface="Tahoma"/>
              </a:rPr>
              <a:t> 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long-</a:t>
            </a:r>
            <a:r>
              <a:rPr dirty="0" sz="1450" spc="-45">
                <a:latin typeface="Tahoma"/>
                <a:cs typeface="Tahoma"/>
              </a:rPr>
              <a:t>term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analysis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of </a:t>
            </a:r>
            <a:r>
              <a:rPr dirty="0" sz="1450" spc="-45">
                <a:latin typeface="Tahoma"/>
                <a:cs typeface="Tahoma"/>
              </a:rPr>
              <a:t>detected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products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materials.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5791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PROPOSED</a:t>
            </a:r>
            <a:r>
              <a:rPr dirty="0" spc="-250"/>
              <a:t> </a:t>
            </a:r>
            <a:r>
              <a:rPr dirty="0" spc="-20"/>
              <a:t>SOLUTION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2288" y="5443728"/>
            <a:ext cx="699516" cy="7421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2038350"/>
            <a:ext cx="8940800" cy="36753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70" b="1">
                <a:latin typeface="Trebuchet MS"/>
                <a:cs typeface="Trebuchet MS"/>
              </a:rPr>
              <a:t>Software</a:t>
            </a:r>
            <a:r>
              <a:rPr dirty="0" sz="1950" spc="-13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Requirements</a:t>
            </a: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71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 b="1">
                <a:latin typeface="Trebuchet MS"/>
                <a:cs typeface="Trebuchet MS"/>
              </a:rPr>
              <a:t>Python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3.8+</a:t>
            </a:r>
            <a:r>
              <a:rPr dirty="0" sz="1450" spc="-11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model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training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backend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automation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LLM</a:t>
            </a:r>
            <a:r>
              <a:rPr dirty="0" sz="1450" spc="-160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Knowledge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run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models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like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Ollama</a:t>
            </a:r>
            <a:endParaRPr sz="14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5" b="1">
                <a:latin typeface="Trebuchet MS"/>
                <a:cs typeface="Trebuchet MS"/>
              </a:rPr>
              <a:t>OpenCV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image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capture,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preprocessing,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frame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handling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94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10" b="1">
                <a:latin typeface="Trebuchet MS"/>
                <a:cs typeface="Trebuchet MS"/>
              </a:rPr>
              <a:t>FastAPI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Flask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lightweight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API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integration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80" b="1">
                <a:latin typeface="Trebuchet MS"/>
                <a:cs typeface="Trebuchet MS"/>
              </a:rPr>
              <a:t>microcontroller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firmware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(ESP32/Arduino</a:t>
            </a:r>
            <a:r>
              <a:rPr dirty="0" sz="1450" spc="-55">
                <a:latin typeface="Tahoma"/>
                <a:cs typeface="Tahoma"/>
              </a:rPr>
              <a:t> code)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for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sensor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testing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 b="1">
                <a:latin typeface="Trebuchet MS"/>
                <a:cs typeface="Trebuchet MS"/>
              </a:rPr>
              <a:t>Rule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Engine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Logic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Module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classification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decisions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(simple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Python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rules)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0" b="1">
                <a:latin typeface="Trebuchet MS"/>
                <a:cs typeface="Trebuchet MS"/>
              </a:rPr>
              <a:t>Local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Database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65" b="1">
                <a:latin typeface="Trebuchet MS"/>
                <a:cs typeface="Trebuchet MS"/>
              </a:rPr>
              <a:t>(SQLite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TinyDB)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logging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items,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results,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tracking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5" b="1">
                <a:latin typeface="Trebuchet MS"/>
                <a:cs typeface="Trebuchet MS"/>
              </a:rPr>
              <a:t>Transformer-</a:t>
            </a:r>
            <a:r>
              <a:rPr dirty="0" sz="1450" spc="-40" b="1">
                <a:latin typeface="Trebuchet MS"/>
                <a:cs typeface="Trebuchet MS"/>
              </a:rPr>
              <a:t>based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50" b="1">
                <a:latin typeface="Trebuchet MS"/>
                <a:cs typeface="Trebuchet MS"/>
              </a:rPr>
              <a:t>AI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Search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Agent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API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(local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cloud-</a:t>
            </a:r>
            <a:r>
              <a:rPr dirty="0" sz="1450" spc="-50">
                <a:latin typeface="Tahoma"/>
                <a:cs typeface="Tahoma"/>
              </a:rPr>
              <a:t>enabled)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spare-</a:t>
            </a:r>
            <a:r>
              <a:rPr dirty="0" sz="1450" spc="-40">
                <a:latin typeface="Tahoma"/>
                <a:cs typeface="Tahoma"/>
              </a:rPr>
              <a:t>part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lookup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repairability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checks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Dashboard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GUI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displaying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results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bin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guidance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React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Flutter</a:t>
            </a:r>
            <a:r>
              <a:rPr dirty="0" sz="1450" spc="-13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Application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Development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REQUIREMENTS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19" y="1354836"/>
            <a:ext cx="1924812" cy="16200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599" y="4204715"/>
            <a:ext cx="2008631" cy="20101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Hardware</a:t>
            </a:r>
            <a:r>
              <a:rPr dirty="0" spc="-150"/>
              <a:t> </a:t>
            </a:r>
            <a:r>
              <a:rPr dirty="0" spc="-10"/>
              <a:t>Requirements</a:t>
            </a:r>
          </a:p>
          <a:p>
            <a:pPr marL="347980" indent="-335280">
              <a:lnSpc>
                <a:spcPct val="100000"/>
              </a:lnSpc>
              <a:spcBef>
                <a:spcPts val="71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50"/>
              <a:t>AI</a:t>
            </a:r>
            <a:r>
              <a:rPr dirty="0" sz="1450" spc="20"/>
              <a:t> </a:t>
            </a:r>
            <a:r>
              <a:rPr dirty="0" sz="1450" spc="-55"/>
              <a:t>Camera</a:t>
            </a:r>
            <a:r>
              <a:rPr dirty="0" sz="1450" spc="-150"/>
              <a:t> </a:t>
            </a:r>
            <a:r>
              <a:rPr dirty="0" sz="1450" spc="-55"/>
              <a:t>Module</a:t>
            </a:r>
            <a:r>
              <a:rPr dirty="0" sz="1450" spc="-110"/>
              <a:t> </a:t>
            </a:r>
            <a:r>
              <a:rPr dirty="0" sz="1450" spc="-50" b="0">
                <a:latin typeface="Tahoma"/>
                <a:cs typeface="Tahoma"/>
              </a:rPr>
              <a:t>(USB</a:t>
            </a:r>
            <a:r>
              <a:rPr dirty="0" sz="1450" spc="-135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webcam,</a:t>
            </a:r>
            <a:r>
              <a:rPr dirty="0" sz="1450" spc="-16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Pi</a:t>
            </a:r>
            <a:r>
              <a:rPr dirty="0" sz="1450" spc="-75" b="0">
                <a:latin typeface="Tahoma"/>
                <a:cs typeface="Tahoma"/>
              </a:rPr>
              <a:t> </a:t>
            </a:r>
            <a:r>
              <a:rPr dirty="0" sz="1450" spc="-60" b="0">
                <a:latin typeface="Tahoma"/>
                <a:cs typeface="Tahoma"/>
              </a:rPr>
              <a:t>Camera,</a:t>
            </a:r>
            <a:r>
              <a:rPr dirty="0" sz="1450" spc="-150" b="0">
                <a:latin typeface="Tahoma"/>
                <a:cs typeface="Tahoma"/>
              </a:rPr>
              <a:t> </a:t>
            </a:r>
            <a:r>
              <a:rPr dirty="0" sz="1450" spc="-25" b="0">
                <a:latin typeface="Tahoma"/>
                <a:cs typeface="Tahoma"/>
              </a:rPr>
              <a:t>or</a:t>
            </a:r>
            <a:r>
              <a:rPr dirty="0" sz="1450" spc="-125" b="0">
                <a:latin typeface="Tahoma"/>
                <a:cs typeface="Tahoma"/>
              </a:rPr>
              <a:t> </a:t>
            </a:r>
            <a:r>
              <a:rPr dirty="0" sz="1450" spc="-40" b="0">
                <a:latin typeface="Tahoma"/>
                <a:cs typeface="Tahoma"/>
              </a:rPr>
              <a:t>industrial</a:t>
            </a:r>
            <a:r>
              <a:rPr dirty="0" sz="1450" spc="-5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camera)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5"/>
              <a:t>Edge</a:t>
            </a:r>
            <a:r>
              <a:rPr dirty="0" sz="1450" spc="-120"/>
              <a:t> </a:t>
            </a:r>
            <a:r>
              <a:rPr dirty="0" sz="1450" spc="-70"/>
              <a:t>Compute</a:t>
            </a:r>
            <a:r>
              <a:rPr dirty="0" sz="1450" spc="-125"/>
              <a:t> </a:t>
            </a:r>
            <a:r>
              <a:rPr dirty="0" sz="1450" spc="-65"/>
              <a:t>Device</a:t>
            </a:r>
            <a:r>
              <a:rPr dirty="0" sz="1450" spc="-125"/>
              <a:t> </a:t>
            </a:r>
            <a:r>
              <a:rPr dirty="0" sz="1450" spc="-55" b="0">
                <a:latin typeface="Tahoma"/>
                <a:cs typeface="Tahoma"/>
              </a:rPr>
              <a:t>(Raspberry</a:t>
            </a:r>
            <a:r>
              <a:rPr dirty="0" sz="1450" spc="-170" b="0">
                <a:latin typeface="Tahoma"/>
                <a:cs typeface="Tahoma"/>
              </a:rPr>
              <a:t> </a:t>
            </a:r>
            <a:r>
              <a:rPr dirty="0" sz="1450" b="0">
                <a:latin typeface="Tahoma"/>
                <a:cs typeface="Tahoma"/>
              </a:rPr>
              <a:t>Pi</a:t>
            </a:r>
            <a:r>
              <a:rPr dirty="0" sz="1450" spc="-55" b="0">
                <a:latin typeface="Tahoma"/>
                <a:cs typeface="Tahoma"/>
              </a:rPr>
              <a:t> </a:t>
            </a:r>
            <a:r>
              <a:rPr dirty="0" sz="1450" b="0">
                <a:latin typeface="Tahoma"/>
                <a:cs typeface="Tahoma"/>
              </a:rPr>
              <a:t>4</a:t>
            </a:r>
            <a:r>
              <a:rPr dirty="0" sz="1450" spc="-75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5"/>
              <a:t>Microcontroller</a:t>
            </a:r>
            <a:r>
              <a:rPr dirty="0" sz="1450" spc="-170"/>
              <a:t> </a:t>
            </a:r>
            <a:r>
              <a:rPr dirty="0" sz="1450" spc="-60"/>
              <a:t>(Raspberry</a:t>
            </a:r>
            <a:r>
              <a:rPr dirty="0" sz="1450" spc="-45"/>
              <a:t> </a:t>
            </a:r>
            <a:r>
              <a:rPr dirty="0" sz="1450" spc="-10"/>
              <a:t>Pi</a:t>
            </a:r>
            <a:r>
              <a:rPr dirty="0" sz="1450" spc="-35"/>
              <a:t> </a:t>
            </a:r>
            <a:r>
              <a:rPr dirty="0" sz="1450" spc="-10"/>
              <a:t>)</a:t>
            </a:r>
            <a:r>
              <a:rPr dirty="0" sz="1450" spc="-110"/>
              <a:t> </a:t>
            </a:r>
            <a:r>
              <a:rPr dirty="0" sz="1450" spc="-40" b="0">
                <a:latin typeface="Tahoma"/>
                <a:cs typeface="Tahoma"/>
              </a:rPr>
              <a:t>for</a:t>
            </a:r>
            <a:r>
              <a:rPr dirty="0" sz="1450" spc="-7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sensor</a:t>
            </a:r>
            <a:r>
              <a:rPr dirty="0" sz="1450" spc="-9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94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/>
              <a:t>Digital</a:t>
            </a:r>
            <a:r>
              <a:rPr dirty="0" sz="1450" spc="-55"/>
              <a:t> </a:t>
            </a:r>
            <a:r>
              <a:rPr dirty="0" sz="1450" spc="-50"/>
              <a:t>Weight</a:t>
            </a:r>
            <a:r>
              <a:rPr dirty="0" sz="1450" spc="-100"/>
              <a:t> </a:t>
            </a:r>
            <a:r>
              <a:rPr dirty="0" sz="1450" spc="-35"/>
              <a:t>Scale</a:t>
            </a:r>
            <a:r>
              <a:rPr dirty="0" sz="1450" spc="-100"/>
              <a:t> </a:t>
            </a:r>
            <a:r>
              <a:rPr dirty="0" sz="1450" spc="-55"/>
              <a:t>Module</a:t>
            </a:r>
            <a:r>
              <a:rPr dirty="0" sz="1450" spc="-100"/>
              <a:t> </a:t>
            </a:r>
            <a:r>
              <a:rPr dirty="0" sz="1450" spc="-25" b="0">
                <a:latin typeface="Tahoma"/>
                <a:cs typeface="Tahoma"/>
              </a:rPr>
              <a:t>(HX711</a:t>
            </a:r>
            <a:r>
              <a:rPr dirty="0" sz="1450" spc="-13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+load</a:t>
            </a:r>
            <a:r>
              <a:rPr dirty="0" sz="1450" spc="-11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cell)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/>
              <a:t>Display/Monitor</a:t>
            </a:r>
            <a:r>
              <a:rPr dirty="0" sz="1450" spc="-90"/>
              <a:t> </a:t>
            </a:r>
            <a:r>
              <a:rPr dirty="0" sz="1450" spc="-35" b="0">
                <a:latin typeface="Tahoma"/>
                <a:cs typeface="Tahoma"/>
              </a:rPr>
              <a:t>for</a:t>
            </a:r>
            <a:r>
              <a:rPr dirty="0" sz="1450" spc="-45" b="0">
                <a:latin typeface="Tahoma"/>
                <a:cs typeface="Tahoma"/>
              </a:rPr>
              <a:t> </a:t>
            </a:r>
            <a:r>
              <a:rPr dirty="0" sz="1450" spc="-55" b="0">
                <a:latin typeface="Tahoma"/>
                <a:cs typeface="Tahoma"/>
              </a:rPr>
              <a:t>showing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detection</a:t>
            </a:r>
            <a:r>
              <a:rPr dirty="0" sz="1450" spc="-105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and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sorting</a:t>
            </a:r>
            <a:r>
              <a:rPr dirty="0" sz="1450" spc="-4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instructions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/>
              <a:t>Stable</a:t>
            </a:r>
            <a:r>
              <a:rPr dirty="0" sz="1450" spc="-60"/>
              <a:t> Power</a:t>
            </a:r>
            <a:r>
              <a:rPr dirty="0" sz="1450" spc="-65"/>
              <a:t> </a:t>
            </a:r>
            <a:r>
              <a:rPr dirty="0" sz="1450" spc="-40"/>
              <a:t>Supply</a:t>
            </a:r>
            <a:r>
              <a:rPr dirty="0" sz="1450" spc="-30"/>
              <a:t> </a:t>
            </a:r>
            <a:r>
              <a:rPr dirty="0" sz="1450" spc="-40" b="0">
                <a:latin typeface="Tahoma"/>
                <a:cs typeface="Tahoma"/>
              </a:rPr>
              <a:t>for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sensors,</a:t>
            </a:r>
            <a:r>
              <a:rPr dirty="0" sz="1450" spc="-120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camera,</a:t>
            </a:r>
            <a:r>
              <a:rPr dirty="0" sz="1450" spc="-16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and</a:t>
            </a:r>
            <a:r>
              <a:rPr dirty="0" sz="1450" spc="-114" b="0">
                <a:latin typeface="Tahoma"/>
                <a:cs typeface="Tahoma"/>
              </a:rPr>
              <a:t> </a:t>
            </a:r>
            <a:r>
              <a:rPr dirty="0" sz="1450" spc="-55" b="0">
                <a:latin typeface="Tahoma"/>
                <a:cs typeface="Tahoma"/>
              </a:rPr>
              <a:t>compute</a:t>
            </a:r>
            <a:r>
              <a:rPr dirty="0" sz="1450" spc="-125" b="0">
                <a:latin typeface="Tahoma"/>
                <a:cs typeface="Tahoma"/>
              </a:rPr>
              <a:t> </a:t>
            </a:r>
            <a:r>
              <a:rPr dirty="0" sz="1450" spc="-20" b="0">
                <a:latin typeface="Tahoma"/>
                <a:cs typeface="Tahoma"/>
              </a:rPr>
              <a:t>unit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439" y="2132329"/>
            <a:ext cx="5319395" cy="398957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348" y="2057400"/>
            <a:ext cx="5505830" cy="412927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336" y="2132330"/>
            <a:ext cx="5935726" cy="395719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2026-09-10T17:57:02Z</dcterms:created>
  <dcterms:modified xsi:type="dcterms:W3CDTF">2026-09-10T17:57:02Z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  <property fmtid="{D5CDD505-2E9C-101B-9397-08002B2CF9AE}" pid="5" name="Producer">
    <vt:lpwstr>iLovePDF</vt:lpwstr>
  </property>
</Properties>
</file>