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5.jpg" ContentType="image/jpeg"/>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1502"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shael Julian" userId="9deeb756e411964c" providerId="LiveId" clId="{B9A5FECB-1042-4CBE-B163-58C565DFD1D6}"/>
    <pc:docChg chg="undo custSel addSld delSld modSld">
      <pc:chgData name="Mishael Julian" userId="9deeb756e411964c" providerId="LiveId" clId="{B9A5FECB-1042-4CBE-B163-58C565DFD1D6}" dt="2026-09-10T18:19:32.075" v="117" actId="14100"/>
      <pc:docMkLst>
        <pc:docMk/>
      </pc:docMkLst>
      <pc:sldChg chg="del">
        <pc:chgData name="Mishael Julian" userId="9deeb756e411964c" providerId="LiveId" clId="{B9A5FECB-1042-4CBE-B163-58C565DFD1D6}" dt="2026-09-10T18:17:19.217" v="0" actId="47"/>
        <pc:sldMkLst>
          <pc:docMk/>
          <pc:sldMk cId="0" sldId="257"/>
        </pc:sldMkLst>
      </pc:sldChg>
      <pc:sldChg chg="add del">
        <pc:chgData name="Mishael Julian" userId="9deeb756e411964c" providerId="LiveId" clId="{B9A5FECB-1042-4CBE-B163-58C565DFD1D6}" dt="2026-09-10T18:17:24.445" v="3" actId="47"/>
        <pc:sldMkLst>
          <pc:docMk/>
          <pc:sldMk cId="0" sldId="258"/>
        </pc:sldMkLst>
      </pc:sldChg>
      <pc:sldChg chg="addSp delSp modSp mod">
        <pc:chgData name="Mishael Julian" userId="9deeb756e411964c" providerId="LiveId" clId="{B9A5FECB-1042-4CBE-B163-58C565DFD1D6}" dt="2026-09-10T18:19:32.075" v="117" actId="14100"/>
        <pc:sldMkLst>
          <pc:docMk/>
          <pc:sldMk cId="0" sldId="262"/>
        </pc:sldMkLst>
        <pc:spChg chg="del mod">
          <ac:chgData name="Mishael Julian" userId="9deeb756e411964c" providerId="LiveId" clId="{B9A5FECB-1042-4CBE-B163-58C565DFD1D6}" dt="2026-09-10T18:18:08.719" v="112" actId="478"/>
          <ac:spMkLst>
            <pc:docMk/>
            <pc:sldMk cId="0" sldId="262"/>
            <ac:spMk id="4" creationId="{00000000-0000-0000-0000-000000000000}"/>
          </ac:spMkLst>
        </pc:spChg>
        <pc:picChg chg="add mod">
          <ac:chgData name="Mishael Julian" userId="9deeb756e411964c" providerId="LiveId" clId="{B9A5FECB-1042-4CBE-B163-58C565DFD1D6}" dt="2026-09-10T18:19:32.075" v="117" actId="14100"/>
          <ac:picMkLst>
            <pc:docMk/>
            <pc:sldMk cId="0" sldId="262"/>
            <ac:picMk id="6" creationId="{AF04CC97-FBF6-8BB0-A4A3-97F2AEAC89B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950" b="1"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9/10/2026</a:t>
            </a:fld>
            <a:endParaRPr lang="en-US"/>
          </a:p>
        </p:txBody>
      </p:sp>
      <p:sp>
        <p:nvSpPr>
          <p:cNvPr id="6" name="Holder 6"/>
          <p:cNvSpPr>
            <a:spLocks noGrp="1"/>
          </p:cNvSpPr>
          <p:nvPr>
            <p:ph type="sldNum" sz="quarter" idx="7"/>
          </p:nvPr>
        </p:nvSpPr>
        <p:spPr/>
        <p:txBody>
          <a:bodyPr lIns="0" tIns="0" rIns="0" bIns="0"/>
          <a:lstStyle>
            <a:lvl1pPr>
              <a:defRPr sz="1000" b="0" i="0">
                <a:solidFill>
                  <a:schemeClr val="bg1"/>
                </a:solidFill>
                <a:latin typeface="Cambria"/>
                <a:cs typeface="Cambria"/>
              </a:defRPr>
            </a:lvl1pPr>
          </a:lstStyle>
          <a:p>
            <a:pPr marL="38100">
              <a:lnSpc>
                <a:spcPct val="100000"/>
              </a:lnSpc>
              <a:spcBef>
                <a:spcPts val="45"/>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5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9/10/2026</a:t>
            </a:fld>
            <a:endParaRPr lang="en-US"/>
          </a:p>
        </p:txBody>
      </p:sp>
      <p:sp>
        <p:nvSpPr>
          <p:cNvPr id="6" name="Holder 6"/>
          <p:cNvSpPr>
            <a:spLocks noGrp="1"/>
          </p:cNvSpPr>
          <p:nvPr>
            <p:ph type="sldNum" sz="quarter" idx="7"/>
          </p:nvPr>
        </p:nvSpPr>
        <p:spPr/>
        <p:txBody>
          <a:bodyPr lIns="0" tIns="0" rIns="0" bIns="0"/>
          <a:lstStyle>
            <a:lvl1pPr>
              <a:defRPr sz="1000" b="0" i="0">
                <a:solidFill>
                  <a:schemeClr val="bg1"/>
                </a:solidFill>
                <a:latin typeface="Cambria"/>
                <a:cs typeface="Cambria"/>
              </a:defRPr>
            </a:lvl1pPr>
          </a:lstStyle>
          <a:p>
            <a:pPr marL="38100">
              <a:lnSpc>
                <a:spcPct val="100000"/>
              </a:lnSpc>
              <a:spcBef>
                <a:spcPts val="45"/>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057655"/>
            <a:ext cx="10058400" cy="208915"/>
          </a:xfrm>
          <a:custGeom>
            <a:avLst/>
            <a:gdLst/>
            <a:ahLst/>
            <a:cxnLst/>
            <a:rect l="l" t="t" r="r" b="b"/>
            <a:pathLst>
              <a:path w="10058400" h="208915">
                <a:moveTo>
                  <a:pt x="10058400" y="0"/>
                </a:moveTo>
                <a:lnTo>
                  <a:pt x="10058400" y="208788"/>
                </a:lnTo>
                <a:lnTo>
                  <a:pt x="0" y="208788"/>
                </a:lnTo>
                <a:lnTo>
                  <a:pt x="0" y="0"/>
                </a:lnTo>
              </a:path>
            </a:pathLst>
          </a:custGeom>
          <a:ln w="7620">
            <a:solidFill>
              <a:srgbClr val="0C5292"/>
            </a:solidFill>
          </a:ln>
        </p:spPr>
        <p:txBody>
          <a:bodyPr wrap="square" lIns="0" tIns="0" rIns="0" bIns="0" rtlCol="0"/>
          <a:lstStyle/>
          <a:p>
            <a:endParaRPr/>
          </a:p>
        </p:txBody>
      </p:sp>
      <p:sp>
        <p:nvSpPr>
          <p:cNvPr id="17" name="bg object 17"/>
          <p:cNvSpPr/>
          <p:nvPr/>
        </p:nvSpPr>
        <p:spPr>
          <a:xfrm>
            <a:off x="0" y="6516624"/>
            <a:ext cx="10058400" cy="200025"/>
          </a:xfrm>
          <a:custGeom>
            <a:avLst/>
            <a:gdLst/>
            <a:ahLst/>
            <a:cxnLst/>
            <a:rect l="l" t="t" r="r" b="b"/>
            <a:pathLst>
              <a:path w="10058400" h="200025">
                <a:moveTo>
                  <a:pt x="0" y="199644"/>
                </a:moveTo>
                <a:lnTo>
                  <a:pt x="0" y="0"/>
                </a:lnTo>
                <a:lnTo>
                  <a:pt x="10058400" y="0"/>
                </a:lnTo>
                <a:lnTo>
                  <a:pt x="10058400" y="199644"/>
                </a:lnTo>
              </a:path>
            </a:pathLst>
          </a:custGeom>
          <a:ln w="7619">
            <a:solidFill>
              <a:srgbClr val="0C5292"/>
            </a:solidFill>
          </a:ln>
        </p:spPr>
        <p:txBody>
          <a:bodyPr wrap="square" lIns="0" tIns="0" rIns="0" bIns="0" rtlCol="0"/>
          <a:lstStyle/>
          <a:p>
            <a:endParaRPr/>
          </a:p>
        </p:txBody>
      </p:sp>
      <p:pic>
        <p:nvPicPr>
          <p:cNvPr id="18" name="bg object 18"/>
          <p:cNvPicPr/>
          <p:nvPr/>
        </p:nvPicPr>
        <p:blipFill>
          <a:blip r:embed="rId2" cstate="print"/>
          <a:stretch>
            <a:fillRect/>
          </a:stretch>
        </p:blipFill>
        <p:spPr>
          <a:xfrm>
            <a:off x="0" y="6323838"/>
            <a:ext cx="10058400" cy="306578"/>
          </a:xfrm>
          <a:prstGeom prst="rect">
            <a:avLst/>
          </a:prstGeom>
        </p:spPr>
      </p:pic>
      <p:pic>
        <p:nvPicPr>
          <p:cNvPr id="19" name="bg object 19"/>
          <p:cNvPicPr/>
          <p:nvPr/>
        </p:nvPicPr>
        <p:blipFill>
          <a:blip r:embed="rId3" cstate="print"/>
          <a:stretch>
            <a:fillRect/>
          </a:stretch>
        </p:blipFill>
        <p:spPr>
          <a:xfrm>
            <a:off x="6713219" y="2816351"/>
            <a:ext cx="3292221" cy="3284220"/>
          </a:xfrm>
          <a:prstGeom prst="rect">
            <a:avLst/>
          </a:prstGeom>
        </p:spPr>
      </p:pic>
      <p:sp>
        <p:nvSpPr>
          <p:cNvPr id="20" name="bg object 20"/>
          <p:cNvSpPr/>
          <p:nvPr/>
        </p:nvSpPr>
        <p:spPr>
          <a:xfrm>
            <a:off x="0" y="1057655"/>
            <a:ext cx="10058400" cy="584200"/>
          </a:xfrm>
          <a:custGeom>
            <a:avLst/>
            <a:gdLst/>
            <a:ahLst/>
            <a:cxnLst/>
            <a:rect l="l" t="t" r="r" b="b"/>
            <a:pathLst>
              <a:path w="10058400" h="584200">
                <a:moveTo>
                  <a:pt x="10058400" y="0"/>
                </a:moveTo>
                <a:lnTo>
                  <a:pt x="0" y="0"/>
                </a:lnTo>
                <a:lnTo>
                  <a:pt x="0" y="583692"/>
                </a:lnTo>
                <a:lnTo>
                  <a:pt x="10058400" y="583692"/>
                </a:lnTo>
                <a:lnTo>
                  <a:pt x="10058400" y="0"/>
                </a:lnTo>
                <a:close/>
              </a:path>
            </a:pathLst>
          </a:custGeom>
          <a:solidFill>
            <a:srgbClr val="0C5292"/>
          </a:solidFill>
        </p:spPr>
        <p:txBody>
          <a:bodyPr wrap="square" lIns="0" tIns="0" rIns="0" bIns="0" rtlCol="0"/>
          <a:lstStyle/>
          <a:p>
            <a:endParaRPr/>
          </a:p>
        </p:txBody>
      </p:sp>
      <p:sp>
        <p:nvSpPr>
          <p:cNvPr id="21" name="bg object 21"/>
          <p:cNvSpPr/>
          <p:nvPr/>
        </p:nvSpPr>
        <p:spPr>
          <a:xfrm>
            <a:off x="0" y="1641347"/>
            <a:ext cx="10058400" cy="0"/>
          </a:xfrm>
          <a:custGeom>
            <a:avLst/>
            <a:gdLst/>
            <a:ahLst/>
            <a:cxnLst/>
            <a:rect l="l" t="t" r="r" b="b"/>
            <a:pathLst>
              <a:path w="10058400">
                <a:moveTo>
                  <a:pt x="10058400" y="0"/>
                </a:moveTo>
                <a:lnTo>
                  <a:pt x="0" y="0"/>
                </a:lnTo>
              </a:path>
            </a:pathLst>
          </a:custGeom>
          <a:ln w="7620">
            <a:solidFill>
              <a:srgbClr val="0C5292"/>
            </a:solidFill>
          </a:ln>
        </p:spPr>
        <p:txBody>
          <a:bodyPr wrap="square" lIns="0" tIns="0" rIns="0" bIns="0" rtlCol="0"/>
          <a:lstStyle/>
          <a:p>
            <a:endParaRPr/>
          </a:p>
        </p:txBody>
      </p:sp>
      <p:sp>
        <p:nvSpPr>
          <p:cNvPr id="22" name="bg object 22"/>
          <p:cNvSpPr/>
          <p:nvPr/>
        </p:nvSpPr>
        <p:spPr>
          <a:xfrm>
            <a:off x="0" y="1185671"/>
            <a:ext cx="10058400" cy="1057910"/>
          </a:xfrm>
          <a:custGeom>
            <a:avLst/>
            <a:gdLst/>
            <a:ahLst/>
            <a:cxnLst/>
            <a:rect l="l" t="t" r="r" b="b"/>
            <a:pathLst>
              <a:path w="10058400" h="1057910">
                <a:moveTo>
                  <a:pt x="9963912" y="0"/>
                </a:moveTo>
                <a:lnTo>
                  <a:pt x="100584" y="0"/>
                </a:lnTo>
                <a:lnTo>
                  <a:pt x="58601" y="8508"/>
                </a:lnTo>
                <a:lnTo>
                  <a:pt x="24193" y="31750"/>
                </a:lnTo>
                <a:lnTo>
                  <a:pt x="928" y="66167"/>
                </a:lnTo>
                <a:lnTo>
                  <a:pt x="0" y="70738"/>
                </a:lnTo>
                <a:lnTo>
                  <a:pt x="0" y="987425"/>
                </a:lnTo>
                <a:lnTo>
                  <a:pt x="928" y="992124"/>
                </a:lnTo>
                <a:lnTo>
                  <a:pt x="24193" y="1026413"/>
                </a:lnTo>
                <a:lnTo>
                  <a:pt x="58601" y="1049274"/>
                </a:lnTo>
                <a:lnTo>
                  <a:pt x="100584" y="1057655"/>
                </a:lnTo>
                <a:lnTo>
                  <a:pt x="9963912" y="1057655"/>
                </a:lnTo>
                <a:lnTo>
                  <a:pt x="10005949" y="1049274"/>
                </a:lnTo>
                <a:lnTo>
                  <a:pt x="10040239" y="1026413"/>
                </a:lnTo>
                <a:lnTo>
                  <a:pt x="10058400" y="999743"/>
                </a:lnTo>
                <a:lnTo>
                  <a:pt x="10058400" y="58547"/>
                </a:lnTo>
                <a:lnTo>
                  <a:pt x="10040239" y="31750"/>
                </a:lnTo>
                <a:lnTo>
                  <a:pt x="10005949" y="8508"/>
                </a:lnTo>
                <a:lnTo>
                  <a:pt x="9963912" y="0"/>
                </a:lnTo>
                <a:close/>
              </a:path>
            </a:pathLst>
          </a:custGeom>
          <a:solidFill>
            <a:srgbClr val="0C5292"/>
          </a:solidFill>
        </p:spPr>
        <p:txBody>
          <a:bodyPr wrap="square" lIns="0" tIns="0" rIns="0" bIns="0" rtlCol="0"/>
          <a:lstStyle/>
          <a:p>
            <a:endParaRPr/>
          </a:p>
        </p:txBody>
      </p:sp>
      <p:sp>
        <p:nvSpPr>
          <p:cNvPr id="23" name="bg object 23"/>
          <p:cNvSpPr/>
          <p:nvPr/>
        </p:nvSpPr>
        <p:spPr>
          <a:xfrm>
            <a:off x="0" y="1185671"/>
            <a:ext cx="10058400" cy="1057910"/>
          </a:xfrm>
          <a:custGeom>
            <a:avLst/>
            <a:gdLst/>
            <a:ahLst/>
            <a:cxnLst/>
            <a:rect l="l" t="t" r="r" b="b"/>
            <a:pathLst>
              <a:path w="10058400" h="1057910">
                <a:moveTo>
                  <a:pt x="0" y="70738"/>
                </a:moveTo>
                <a:lnTo>
                  <a:pt x="928" y="66167"/>
                </a:lnTo>
                <a:lnTo>
                  <a:pt x="24193" y="31750"/>
                </a:lnTo>
                <a:lnTo>
                  <a:pt x="58601" y="8508"/>
                </a:lnTo>
                <a:lnTo>
                  <a:pt x="100584" y="0"/>
                </a:lnTo>
                <a:lnTo>
                  <a:pt x="9963912" y="0"/>
                </a:lnTo>
                <a:lnTo>
                  <a:pt x="10005949" y="8508"/>
                </a:lnTo>
                <a:lnTo>
                  <a:pt x="10040239" y="31750"/>
                </a:lnTo>
                <a:lnTo>
                  <a:pt x="10058400" y="58547"/>
                </a:lnTo>
              </a:path>
              <a:path w="10058400" h="1057910">
                <a:moveTo>
                  <a:pt x="10058400" y="999743"/>
                </a:moveTo>
                <a:lnTo>
                  <a:pt x="10040239" y="1026413"/>
                </a:lnTo>
                <a:lnTo>
                  <a:pt x="10005949" y="1049274"/>
                </a:lnTo>
                <a:lnTo>
                  <a:pt x="9963912" y="1057655"/>
                </a:lnTo>
                <a:lnTo>
                  <a:pt x="100584" y="1057655"/>
                </a:lnTo>
                <a:lnTo>
                  <a:pt x="58601" y="1049274"/>
                </a:lnTo>
                <a:lnTo>
                  <a:pt x="24193" y="1026413"/>
                </a:lnTo>
                <a:lnTo>
                  <a:pt x="928" y="992124"/>
                </a:lnTo>
                <a:lnTo>
                  <a:pt x="0" y="987425"/>
                </a:lnTo>
              </a:path>
            </a:pathLst>
          </a:custGeom>
          <a:ln w="7620">
            <a:solidFill>
              <a:srgbClr val="0C5292"/>
            </a:solidFill>
          </a:ln>
        </p:spPr>
        <p:txBody>
          <a:bodyPr wrap="square" lIns="0" tIns="0" rIns="0" bIns="0" rtlCol="0"/>
          <a:lstStyle/>
          <a:p>
            <a:endParaRPr/>
          </a:p>
        </p:txBody>
      </p:sp>
      <p:sp>
        <p:nvSpPr>
          <p:cNvPr id="24" name="bg object 24"/>
          <p:cNvSpPr/>
          <p:nvPr/>
        </p:nvSpPr>
        <p:spPr>
          <a:xfrm>
            <a:off x="8880347" y="1057655"/>
            <a:ext cx="709930" cy="1186180"/>
          </a:xfrm>
          <a:custGeom>
            <a:avLst/>
            <a:gdLst/>
            <a:ahLst/>
            <a:cxnLst/>
            <a:rect l="l" t="t" r="r" b="b"/>
            <a:pathLst>
              <a:path w="709929" h="1186180">
                <a:moveTo>
                  <a:pt x="709422" y="0"/>
                </a:moveTo>
                <a:lnTo>
                  <a:pt x="406146" y="0"/>
                </a:lnTo>
                <a:lnTo>
                  <a:pt x="0" y="1185672"/>
                </a:lnTo>
                <a:lnTo>
                  <a:pt x="301751" y="1185672"/>
                </a:lnTo>
                <a:lnTo>
                  <a:pt x="709422" y="0"/>
                </a:lnTo>
                <a:close/>
              </a:path>
            </a:pathLst>
          </a:custGeom>
          <a:solidFill>
            <a:srgbClr val="D1AD6B"/>
          </a:solidFill>
        </p:spPr>
        <p:txBody>
          <a:bodyPr wrap="square" lIns="0" tIns="0" rIns="0" bIns="0" rtlCol="0"/>
          <a:lstStyle/>
          <a:p>
            <a:endParaRPr/>
          </a:p>
        </p:txBody>
      </p:sp>
      <p:sp>
        <p:nvSpPr>
          <p:cNvPr id="25" name="bg object 25"/>
          <p:cNvSpPr/>
          <p:nvPr/>
        </p:nvSpPr>
        <p:spPr>
          <a:xfrm>
            <a:off x="6364224" y="1057655"/>
            <a:ext cx="3161665" cy="1203960"/>
          </a:xfrm>
          <a:custGeom>
            <a:avLst/>
            <a:gdLst/>
            <a:ahLst/>
            <a:cxnLst/>
            <a:rect l="l" t="t" r="r" b="b"/>
            <a:pathLst>
              <a:path w="3161665" h="1203960">
                <a:moveTo>
                  <a:pt x="3161665" y="0"/>
                </a:moveTo>
                <a:lnTo>
                  <a:pt x="409321" y="0"/>
                </a:lnTo>
                <a:lnTo>
                  <a:pt x="0" y="1203960"/>
                </a:lnTo>
                <a:lnTo>
                  <a:pt x="2753868" y="1203960"/>
                </a:lnTo>
                <a:lnTo>
                  <a:pt x="3161665" y="0"/>
                </a:lnTo>
                <a:close/>
              </a:path>
            </a:pathLst>
          </a:custGeom>
          <a:solidFill>
            <a:srgbClr val="FFFFFF"/>
          </a:solidFill>
        </p:spPr>
        <p:txBody>
          <a:bodyPr wrap="square" lIns="0" tIns="0" rIns="0" bIns="0" rtlCol="0"/>
          <a:lstStyle/>
          <a:p>
            <a:endParaRPr/>
          </a:p>
        </p:txBody>
      </p:sp>
      <p:sp>
        <p:nvSpPr>
          <p:cNvPr id="26" name="bg object 26"/>
          <p:cNvSpPr/>
          <p:nvPr/>
        </p:nvSpPr>
        <p:spPr>
          <a:xfrm>
            <a:off x="0" y="6507480"/>
            <a:ext cx="10058400" cy="208915"/>
          </a:xfrm>
          <a:custGeom>
            <a:avLst/>
            <a:gdLst/>
            <a:ahLst/>
            <a:cxnLst/>
            <a:rect l="l" t="t" r="r" b="b"/>
            <a:pathLst>
              <a:path w="10058400" h="208915">
                <a:moveTo>
                  <a:pt x="10058400" y="0"/>
                </a:moveTo>
                <a:lnTo>
                  <a:pt x="0" y="0"/>
                </a:lnTo>
                <a:lnTo>
                  <a:pt x="0" y="208788"/>
                </a:lnTo>
                <a:lnTo>
                  <a:pt x="10058400" y="208788"/>
                </a:lnTo>
                <a:lnTo>
                  <a:pt x="10058400" y="0"/>
                </a:lnTo>
                <a:close/>
              </a:path>
            </a:pathLst>
          </a:custGeom>
          <a:solidFill>
            <a:srgbClr val="0C5292"/>
          </a:solidFill>
        </p:spPr>
        <p:txBody>
          <a:bodyPr wrap="square" lIns="0" tIns="0" rIns="0" bIns="0" rtlCol="0"/>
          <a:lstStyle/>
          <a:p>
            <a:endParaRPr/>
          </a:p>
        </p:txBody>
      </p:sp>
      <p:sp>
        <p:nvSpPr>
          <p:cNvPr id="27" name="bg object 27"/>
          <p:cNvSpPr/>
          <p:nvPr/>
        </p:nvSpPr>
        <p:spPr>
          <a:xfrm>
            <a:off x="0" y="6507480"/>
            <a:ext cx="10058400" cy="0"/>
          </a:xfrm>
          <a:custGeom>
            <a:avLst/>
            <a:gdLst/>
            <a:ahLst/>
            <a:cxnLst/>
            <a:rect l="l" t="t" r="r" b="b"/>
            <a:pathLst>
              <a:path w="10058400">
                <a:moveTo>
                  <a:pt x="0" y="0"/>
                </a:moveTo>
                <a:lnTo>
                  <a:pt x="10058400" y="0"/>
                </a:lnTo>
              </a:path>
            </a:pathLst>
          </a:custGeom>
          <a:ln w="7620">
            <a:solidFill>
              <a:srgbClr val="0C5292"/>
            </a:solidFill>
          </a:ln>
        </p:spPr>
        <p:txBody>
          <a:bodyPr wrap="square" lIns="0" tIns="0" rIns="0" bIns="0" rtlCol="0"/>
          <a:lstStyle/>
          <a:p>
            <a:endParaRPr/>
          </a:p>
        </p:txBody>
      </p:sp>
      <p:sp>
        <p:nvSpPr>
          <p:cNvPr id="28" name="bg object 28"/>
          <p:cNvSpPr/>
          <p:nvPr/>
        </p:nvSpPr>
        <p:spPr>
          <a:xfrm>
            <a:off x="0" y="5925312"/>
            <a:ext cx="10058400" cy="608330"/>
          </a:xfrm>
          <a:custGeom>
            <a:avLst/>
            <a:gdLst/>
            <a:ahLst/>
            <a:cxnLst/>
            <a:rect l="l" t="t" r="r" b="b"/>
            <a:pathLst>
              <a:path w="10058400" h="608329">
                <a:moveTo>
                  <a:pt x="10009632" y="0"/>
                </a:moveTo>
                <a:lnTo>
                  <a:pt x="54864" y="0"/>
                </a:lnTo>
                <a:lnTo>
                  <a:pt x="30956" y="4825"/>
                </a:lnTo>
                <a:lnTo>
                  <a:pt x="11049" y="18033"/>
                </a:lnTo>
                <a:lnTo>
                  <a:pt x="0" y="34162"/>
                </a:lnTo>
                <a:lnTo>
                  <a:pt x="0" y="574421"/>
                </a:lnTo>
                <a:lnTo>
                  <a:pt x="11049" y="590169"/>
                </a:lnTo>
                <a:lnTo>
                  <a:pt x="30956" y="603262"/>
                </a:lnTo>
                <a:lnTo>
                  <a:pt x="54864" y="608076"/>
                </a:lnTo>
                <a:lnTo>
                  <a:pt x="10009632" y="608076"/>
                </a:lnTo>
                <a:lnTo>
                  <a:pt x="10034143" y="603262"/>
                </a:lnTo>
                <a:lnTo>
                  <a:pt x="10053955" y="590169"/>
                </a:lnTo>
                <a:lnTo>
                  <a:pt x="10058400" y="583768"/>
                </a:lnTo>
                <a:lnTo>
                  <a:pt x="10058400" y="24637"/>
                </a:lnTo>
                <a:lnTo>
                  <a:pt x="10053955" y="18033"/>
                </a:lnTo>
                <a:lnTo>
                  <a:pt x="10034143" y="4825"/>
                </a:lnTo>
                <a:lnTo>
                  <a:pt x="10009632" y="0"/>
                </a:lnTo>
                <a:close/>
              </a:path>
            </a:pathLst>
          </a:custGeom>
          <a:solidFill>
            <a:srgbClr val="0C5292"/>
          </a:solidFill>
        </p:spPr>
        <p:txBody>
          <a:bodyPr wrap="square" lIns="0" tIns="0" rIns="0" bIns="0" rtlCol="0"/>
          <a:lstStyle/>
          <a:p>
            <a:endParaRPr/>
          </a:p>
        </p:txBody>
      </p:sp>
      <p:sp>
        <p:nvSpPr>
          <p:cNvPr id="29" name="bg object 29"/>
          <p:cNvSpPr/>
          <p:nvPr/>
        </p:nvSpPr>
        <p:spPr>
          <a:xfrm>
            <a:off x="0" y="5925312"/>
            <a:ext cx="10058400" cy="608330"/>
          </a:xfrm>
          <a:custGeom>
            <a:avLst/>
            <a:gdLst/>
            <a:ahLst/>
            <a:cxnLst/>
            <a:rect l="l" t="t" r="r" b="b"/>
            <a:pathLst>
              <a:path w="10058400" h="608329">
                <a:moveTo>
                  <a:pt x="0" y="34162"/>
                </a:moveTo>
                <a:lnTo>
                  <a:pt x="11049" y="18033"/>
                </a:lnTo>
                <a:lnTo>
                  <a:pt x="30956" y="4825"/>
                </a:lnTo>
                <a:lnTo>
                  <a:pt x="54864" y="0"/>
                </a:lnTo>
                <a:lnTo>
                  <a:pt x="10009632" y="0"/>
                </a:lnTo>
                <a:lnTo>
                  <a:pt x="10034143" y="4825"/>
                </a:lnTo>
                <a:lnTo>
                  <a:pt x="10053955" y="18033"/>
                </a:lnTo>
                <a:lnTo>
                  <a:pt x="10058400" y="24637"/>
                </a:lnTo>
              </a:path>
              <a:path w="10058400" h="608329">
                <a:moveTo>
                  <a:pt x="10058400" y="583768"/>
                </a:moveTo>
                <a:lnTo>
                  <a:pt x="10053955" y="590169"/>
                </a:lnTo>
                <a:lnTo>
                  <a:pt x="10034143" y="603262"/>
                </a:lnTo>
                <a:lnTo>
                  <a:pt x="10009632" y="608076"/>
                </a:lnTo>
                <a:lnTo>
                  <a:pt x="54864" y="608076"/>
                </a:lnTo>
                <a:lnTo>
                  <a:pt x="30956" y="603262"/>
                </a:lnTo>
                <a:lnTo>
                  <a:pt x="11049" y="590169"/>
                </a:lnTo>
                <a:lnTo>
                  <a:pt x="0" y="574421"/>
                </a:lnTo>
              </a:path>
            </a:pathLst>
          </a:custGeom>
          <a:ln w="7620">
            <a:solidFill>
              <a:srgbClr val="0C5292"/>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95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9/10/2026</a:t>
            </a:fld>
            <a:endParaRPr lang="en-US"/>
          </a:p>
        </p:txBody>
      </p:sp>
      <p:sp>
        <p:nvSpPr>
          <p:cNvPr id="7" name="Holder 7"/>
          <p:cNvSpPr>
            <a:spLocks noGrp="1"/>
          </p:cNvSpPr>
          <p:nvPr>
            <p:ph type="sldNum" sz="quarter" idx="7"/>
          </p:nvPr>
        </p:nvSpPr>
        <p:spPr/>
        <p:txBody>
          <a:bodyPr lIns="0" tIns="0" rIns="0" bIns="0"/>
          <a:lstStyle>
            <a:lvl1pPr>
              <a:defRPr sz="1000" b="0" i="0">
                <a:solidFill>
                  <a:schemeClr val="bg1"/>
                </a:solidFill>
                <a:latin typeface="Cambria"/>
                <a:cs typeface="Cambria"/>
              </a:defRPr>
            </a:lvl1pPr>
          </a:lstStyle>
          <a:p>
            <a:pPr marL="38100">
              <a:lnSpc>
                <a:spcPct val="100000"/>
              </a:lnSpc>
              <a:spcBef>
                <a:spcPts val="45"/>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5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9/10/2026</a:t>
            </a:fld>
            <a:endParaRPr lang="en-US"/>
          </a:p>
        </p:txBody>
      </p:sp>
      <p:sp>
        <p:nvSpPr>
          <p:cNvPr id="5" name="Holder 5"/>
          <p:cNvSpPr>
            <a:spLocks noGrp="1"/>
          </p:cNvSpPr>
          <p:nvPr>
            <p:ph type="sldNum" sz="quarter" idx="7"/>
          </p:nvPr>
        </p:nvSpPr>
        <p:spPr/>
        <p:txBody>
          <a:bodyPr lIns="0" tIns="0" rIns="0" bIns="0"/>
          <a:lstStyle>
            <a:lvl1pPr>
              <a:defRPr sz="1000" b="0" i="0">
                <a:solidFill>
                  <a:schemeClr val="bg1"/>
                </a:solidFill>
                <a:latin typeface="Cambria"/>
                <a:cs typeface="Cambria"/>
              </a:defRPr>
            </a:lvl1pPr>
          </a:lstStyle>
          <a:p>
            <a:pPr marL="38100">
              <a:lnSpc>
                <a:spcPct val="100000"/>
              </a:lnSpc>
              <a:spcBef>
                <a:spcPts val="45"/>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9/10/2026</a:t>
            </a:fld>
            <a:endParaRPr lang="en-US"/>
          </a:p>
        </p:txBody>
      </p:sp>
      <p:sp>
        <p:nvSpPr>
          <p:cNvPr id="4" name="Holder 4"/>
          <p:cNvSpPr>
            <a:spLocks noGrp="1"/>
          </p:cNvSpPr>
          <p:nvPr>
            <p:ph type="sldNum" sz="quarter" idx="7"/>
          </p:nvPr>
        </p:nvSpPr>
        <p:spPr/>
        <p:txBody>
          <a:bodyPr lIns="0" tIns="0" rIns="0" bIns="0"/>
          <a:lstStyle>
            <a:lvl1pPr>
              <a:defRPr sz="1000" b="0" i="0">
                <a:solidFill>
                  <a:schemeClr val="bg1"/>
                </a:solidFill>
                <a:latin typeface="Cambria"/>
                <a:cs typeface="Cambria"/>
              </a:defRPr>
            </a:lvl1pPr>
          </a:lstStyle>
          <a:p>
            <a:pPr marL="38100">
              <a:lnSpc>
                <a:spcPct val="100000"/>
              </a:lnSpc>
              <a:spcBef>
                <a:spcPts val="45"/>
              </a:spcBef>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057656"/>
            <a:ext cx="10058400" cy="208915"/>
          </a:xfrm>
          <a:custGeom>
            <a:avLst/>
            <a:gdLst/>
            <a:ahLst/>
            <a:cxnLst/>
            <a:rect l="l" t="t" r="r" b="b"/>
            <a:pathLst>
              <a:path w="10058400" h="208915">
                <a:moveTo>
                  <a:pt x="10058400" y="0"/>
                </a:moveTo>
                <a:lnTo>
                  <a:pt x="0" y="0"/>
                </a:lnTo>
                <a:lnTo>
                  <a:pt x="0" y="208788"/>
                </a:lnTo>
                <a:lnTo>
                  <a:pt x="10058400" y="208788"/>
                </a:lnTo>
                <a:lnTo>
                  <a:pt x="10058400" y="0"/>
                </a:lnTo>
                <a:close/>
              </a:path>
            </a:pathLst>
          </a:custGeom>
          <a:solidFill>
            <a:srgbClr val="0C5292"/>
          </a:solidFill>
        </p:spPr>
        <p:txBody>
          <a:bodyPr wrap="square" lIns="0" tIns="0" rIns="0" bIns="0" rtlCol="0"/>
          <a:lstStyle/>
          <a:p>
            <a:endParaRPr/>
          </a:p>
        </p:txBody>
      </p:sp>
      <p:sp>
        <p:nvSpPr>
          <p:cNvPr id="17" name="bg object 17"/>
          <p:cNvSpPr/>
          <p:nvPr/>
        </p:nvSpPr>
        <p:spPr>
          <a:xfrm>
            <a:off x="0" y="1057656"/>
            <a:ext cx="10058400" cy="208915"/>
          </a:xfrm>
          <a:custGeom>
            <a:avLst/>
            <a:gdLst/>
            <a:ahLst/>
            <a:cxnLst/>
            <a:rect l="l" t="t" r="r" b="b"/>
            <a:pathLst>
              <a:path w="10058400" h="208915">
                <a:moveTo>
                  <a:pt x="10058400" y="0"/>
                </a:moveTo>
                <a:lnTo>
                  <a:pt x="10058400" y="208788"/>
                </a:lnTo>
                <a:lnTo>
                  <a:pt x="0" y="208788"/>
                </a:lnTo>
                <a:lnTo>
                  <a:pt x="0" y="0"/>
                </a:lnTo>
              </a:path>
            </a:pathLst>
          </a:custGeom>
          <a:ln w="7620">
            <a:solidFill>
              <a:srgbClr val="0C5292"/>
            </a:solidFill>
          </a:ln>
        </p:spPr>
        <p:txBody>
          <a:bodyPr wrap="square" lIns="0" tIns="0" rIns="0" bIns="0" rtlCol="0"/>
          <a:lstStyle/>
          <a:p>
            <a:endParaRPr/>
          </a:p>
        </p:txBody>
      </p:sp>
      <p:sp>
        <p:nvSpPr>
          <p:cNvPr id="18" name="bg object 18"/>
          <p:cNvSpPr/>
          <p:nvPr/>
        </p:nvSpPr>
        <p:spPr>
          <a:xfrm>
            <a:off x="0" y="6516624"/>
            <a:ext cx="10058400" cy="200025"/>
          </a:xfrm>
          <a:custGeom>
            <a:avLst/>
            <a:gdLst/>
            <a:ahLst/>
            <a:cxnLst/>
            <a:rect l="l" t="t" r="r" b="b"/>
            <a:pathLst>
              <a:path w="10058400" h="200025">
                <a:moveTo>
                  <a:pt x="10058400" y="0"/>
                </a:moveTo>
                <a:lnTo>
                  <a:pt x="0" y="0"/>
                </a:lnTo>
                <a:lnTo>
                  <a:pt x="0" y="199644"/>
                </a:lnTo>
                <a:lnTo>
                  <a:pt x="10058400" y="199644"/>
                </a:lnTo>
                <a:lnTo>
                  <a:pt x="10058400" y="0"/>
                </a:lnTo>
                <a:close/>
              </a:path>
            </a:pathLst>
          </a:custGeom>
          <a:solidFill>
            <a:srgbClr val="0C5292"/>
          </a:solidFill>
        </p:spPr>
        <p:txBody>
          <a:bodyPr wrap="square" lIns="0" tIns="0" rIns="0" bIns="0" rtlCol="0"/>
          <a:lstStyle/>
          <a:p>
            <a:endParaRPr/>
          </a:p>
        </p:txBody>
      </p:sp>
      <p:sp>
        <p:nvSpPr>
          <p:cNvPr id="19" name="bg object 19"/>
          <p:cNvSpPr/>
          <p:nvPr/>
        </p:nvSpPr>
        <p:spPr>
          <a:xfrm>
            <a:off x="0" y="6516624"/>
            <a:ext cx="10058400" cy="200025"/>
          </a:xfrm>
          <a:custGeom>
            <a:avLst/>
            <a:gdLst/>
            <a:ahLst/>
            <a:cxnLst/>
            <a:rect l="l" t="t" r="r" b="b"/>
            <a:pathLst>
              <a:path w="10058400" h="200025">
                <a:moveTo>
                  <a:pt x="0" y="199644"/>
                </a:moveTo>
                <a:lnTo>
                  <a:pt x="0" y="0"/>
                </a:lnTo>
                <a:lnTo>
                  <a:pt x="10058400" y="0"/>
                </a:lnTo>
                <a:lnTo>
                  <a:pt x="10058400" y="199644"/>
                </a:lnTo>
              </a:path>
            </a:pathLst>
          </a:custGeom>
          <a:ln w="7619">
            <a:solidFill>
              <a:srgbClr val="0C5292"/>
            </a:solidFill>
          </a:ln>
        </p:spPr>
        <p:txBody>
          <a:bodyPr wrap="square" lIns="0" tIns="0" rIns="0" bIns="0" rtlCol="0"/>
          <a:lstStyle/>
          <a:p>
            <a:endParaRPr/>
          </a:p>
        </p:txBody>
      </p:sp>
      <p:pic>
        <p:nvPicPr>
          <p:cNvPr id="20" name="bg object 20"/>
          <p:cNvPicPr/>
          <p:nvPr/>
        </p:nvPicPr>
        <p:blipFill>
          <a:blip r:embed="rId7" cstate="print"/>
          <a:stretch>
            <a:fillRect/>
          </a:stretch>
        </p:blipFill>
        <p:spPr>
          <a:xfrm>
            <a:off x="0" y="6323838"/>
            <a:ext cx="10058400" cy="306578"/>
          </a:xfrm>
          <a:prstGeom prst="rect">
            <a:avLst/>
          </a:prstGeom>
        </p:spPr>
      </p:pic>
      <p:pic>
        <p:nvPicPr>
          <p:cNvPr id="21" name="bg object 21"/>
          <p:cNvPicPr/>
          <p:nvPr/>
        </p:nvPicPr>
        <p:blipFill>
          <a:blip r:embed="rId8" cstate="print"/>
          <a:stretch>
            <a:fillRect/>
          </a:stretch>
        </p:blipFill>
        <p:spPr>
          <a:xfrm>
            <a:off x="6713220" y="2816352"/>
            <a:ext cx="3292221" cy="3284220"/>
          </a:xfrm>
          <a:prstGeom prst="rect">
            <a:avLst/>
          </a:prstGeom>
        </p:spPr>
      </p:pic>
      <p:sp>
        <p:nvSpPr>
          <p:cNvPr id="2" name="Holder 2"/>
          <p:cNvSpPr>
            <a:spLocks noGrp="1"/>
          </p:cNvSpPr>
          <p:nvPr>
            <p:ph type="title"/>
          </p:nvPr>
        </p:nvSpPr>
        <p:spPr>
          <a:xfrm>
            <a:off x="2155698" y="1406093"/>
            <a:ext cx="5747003" cy="476250"/>
          </a:xfrm>
          <a:prstGeom prst="rect">
            <a:avLst/>
          </a:prstGeom>
        </p:spPr>
        <p:txBody>
          <a:bodyPr wrap="square" lIns="0" tIns="0" rIns="0" bIns="0">
            <a:spAutoFit/>
          </a:bodyPr>
          <a:lstStyle>
            <a:lvl1pPr>
              <a:defRPr sz="295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474370" y="2038350"/>
            <a:ext cx="5502275" cy="2334260"/>
          </a:xfrm>
          <a:prstGeom prst="rect">
            <a:avLst/>
          </a:prstGeom>
        </p:spPr>
        <p:txBody>
          <a:bodyPr wrap="square" lIns="0" tIns="0" rIns="0" bIns="0">
            <a:spAutoFit/>
          </a:bodyPr>
          <a:lstStyle>
            <a:lvl1pPr>
              <a:defRPr sz="1950" b="1" i="0">
                <a:solidFill>
                  <a:schemeClr val="tx1"/>
                </a:solidFill>
                <a:latin typeface="Trebuchet MS"/>
                <a:cs typeface="Trebuchet MS"/>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9/10/2026</a:t>
            </a:fld>
            <a:endParaRPr lang="en-US"/>
          </a:p>
        </p:txBody>
      </p:sp>
      <p:sp>
        <p:nvSpPr>
          <p:cNvPr id="6" name="Holder 6"/>
          <p:cNvSpPr>
            <a:spLocks noGrp="1"/>
          </p:cNvSpPr>
          <p:nvPr>
            <p:ph type="sldNum" sz="quarter" idx="7"/>
          </p:nvPr>
        </p:nvSpPr>
        <p:spPr>
          <a:xfrm>
            <a:off x="9583801" y="6422441"/>
            <a:ext cx="223520" cy="173990"/>
          </a:xfrm>
          <a:prstGeom prst="rect">
            <a:avLst/>
          </a:prstGeom>
        </p:spPr>
        <p:txBody>
          <a:bodyPr wrap="square" lIns="0" tIns="0" rIns="0" bIns="0">
            <a:spAutoFit/>
          </a:bodyPr>
          <a:lstStyle>
            <a:lvl1pPr>
              <a:defRPr sz="1000" b="0" i="0">
                <a:solidFill>
                  <a:schemeClr val="bg1"/>
                </a:solidFill>
                <a:latin typeface="Cambria"/>
                <a:cs typeface="Cambria"/>
              </a:defRPr>
            </a:lvl1pPr>
          </a:lstStyle>
          <a:p>
            <a:pPr marL="38100">
              <a:lnSpc>
                <a:spcPct val="100000"/>
              </a:lnSpc>
              <a:spcBef>
                <a:spcPts val="45"/>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2094" y="5957311"/>
            <a:ext cx="2684145" cy="549910"/>
          </a:xfrm>
          <a:prstGeom prst="rect">
            <a:avLst/>
          </a:prstGeom>
        </p:spPr>
        <p:txBody>
          <a:bodyPr vert="horz" wrap="square" lIns="0" tIns="33019" rIns="0" bIns="0" rtlCol="0">
            <a:spAutoFit/>
          </a:bodyPr>
          <a:lstStyle/>
          <a:p>
            <a:pPr marR="2540" algn="ctr">
              <a:lnSpc>
                <a:spcPct val="100000"/>
              </a:lnSpc>
              <a:spcBef>
                <a:spcPts val="259"/>
              </a:spcBef>
            </a:pPr>
            <a:r>
              <a:rPr sz="1200" b="1" spc="-10" dirty="0">
                <a:solidFill>
                  <a:srgbClr val="D1AD6B"/>
                </a:solidFill>
                <a:latin typeface="Trebuchet MS"/>
                <a:cs typeface="Trebuchet MS"/>
              </a:rPr>
              <a:t>Mission</a:t>
            </a:r>
            <a:endParaRPr sz="1200">
              <a:latin typeface="Trebuchet MS"/>
              <a:cs typeface="Trebuchet MS"/>
            </a:endParaRPr>
          </a:p>
          <a:p>
            <a:pPr algn="ctr">
              <a:lnSpc>
                <a:spcPct val="100000"/>
              </a:lnSpc>
              <a:spcBef>
                <a:spcPts val="125"/>
              </a:spcBef>
            </a:pPr>
            <a:r>
              <a:rPr sz="1000" spc="-65" dirty="0">
                <a:solidFill>
                  <a:srgbClr val="FFFFFF"/>
                </a:solidFill>
                <a:latin typeface="Tahoma"/>
                <a:cs typeface="Tahoma"/>
              </a:rPr>
              <a:t>Christ</a:t>
            </a:r>
            <a:r>
              <a:rPr sz="1000" spc="-55" dirty="0">
                <a:solidFill>
                  <a:srgbClr val="FFFFFF"/>
                </a:solidFill>
                <a:latin typeface="Tahoma"/>
                <a:cs typeface="Tahoma"/>
              </a:rPr>
              <a:t> </a:t>
            </a:r>
            <a:r>
              <a:rPr sz="1000" spc="-80" dirty="0">
                <a:solidFill>
                  <a:srgbClr val="FFFFFF"/>
                </a:solidFill>
                <a:latin typeface="Tahoma"/>
                <a:cs typeface="Tahoma"/>
              </a:rPr>
              <a:t>University</a:t>
            </a:r>
            <a:r>
              <a:rPr sz="1000" spc="-50" dirty="0">
                <a:solidFill>
                  <a:srgbClr val="FFFFFF"/>
                </a:solidFill>
                <a:latin typeface="Tahoma"/>
                <a:cs typeface="Tahoma"/>
              </a:rPr>
              <a:t> </a:t>
            </a:r>
            <a:r>
              <a:rPr sz="1000" spc="-20" dirty="0">
                <a:solidFill>
                  <a:srgbClr val="FFFFFF"/>
                </a:solidFill>
                <a:latin typeface="Tahoma"/>
                <a:cs typeface="Tahoma"/>
              </a:rPr>
              <a:t>is</a:t>
            </a:r>
            <a:r>
              <a:rPr sz="1000" spc="-30" dirty="0">
                <a:solidFill>
                  <a:srgbClr val="FFFFFF"/>
                </a:solidFill>
                <a:latin typeface="Tahoma"/>
                <a:cs typeface="Tahoma"/>
              </a:rPr>
              <a:t> </a:t>
            </a:r>
            <a:r>
              <a:rPr sz="1000" spc="-10" dirty="0">
                <a:solidFill>
                  <a:srgbClr val="FFFFFF"/>
                </a:solidFill>
                <a:latin typeface="Tahoma"/>
                <a:cs typeface="Tahoma"/>
              </a:rPr>
              <a:t>a</a:t>
            </a:r>
            <a:r>
              <a:rPr sz="1000" spc="-80" dirty="0">
                <a:solidFill>
                  <a:srgbClr val="FFFFFF"/>
                </a:solidFill>
                <a:latin typeface="Tahoma"/>
                <a:cs typeface="Tahoma"/>
              </a:rPr>
              <a:t> </a:t>
            </a:r>
            <a:r>
              <a:rPr sz="1000" spc="-90" dirty="0">
                <a:solidFill>
                  <a:srgbClr val="FFFFFF"/>
                </a:solidFill>
                <a:latin typeface="Tahoma"/>
                <a:cs typeface="Tahoma"/>
              </a:rPr>
              <a:t>nurturing</a:t>
            </a:r>
            <a:r>
              <a:rPr sz="1000" spc="-145" dirty="0">
                <a:solidFill>
                  <a:srgbClr val="FFFFFF"/>
                </a:solidFill>
                <a:latin typeface="Tahoma"/>
                <a:cs typeface="Tahoma"/>
              </a:rPr>
              <a:t> </a:t>
            </a:r>
            <a:r>
              <a:rPr sz="1000" spc="-85" dirty="0">
                <a:solidFill>
                  <a:srgbClr val="FFFFFF"/>
                </a:solidFill>
                <a:latin typeface="Tahoma"/>
                <a:cs typeface="Tahoma"/>
              </a:rPr>
              <a:t>ground</a:t>
            </a:r>
            <a:r>
              <a:rPr sz="1000" spc="-155" dirty="0">
                <a:solidFill>
                  <a:srgbClr val="FFFFFF"/>
                </a:solidFill>
                <a:latin typeface="Tahoma"/>
                <a:cs typeface="Tahoma"/>
              </a:rPr>
              <a:t> </a:t>
            </a:r>
            <a:r>
              <a:rPr sz="1000" spc="-65" dirty="0">
                <a:solidFill>
                  <a:srgbClr val="FFFFFF"/>
                </a:solidFill>
                <a:latin typeface="Tahoma"/>
                <a:cs typeface="Tahoma"/>
              </a:rPr>
              <a:t>for</a:t>
            </a:r>
            <a:r>
              <a:rPr sz="1000" spc="-85" dirty="0">
                <a:solidFill>
                  <a:srgbClr val="FFFFFF"/>
                </a:solidFill>
                <a:latin typeface="Tahoma"/>
                <a:cs typeface="Tahoma"/>
              </a:rPr>
              <a:t> </a:t>
            </a:r>
            <a:r>
              <a:rPr sz="1000" spc="-55" dirty="0">
                <a:solidFill>
                  <a:srgbClr val="FFFFFF"/>
                </a:solidFill>
                <a:latin typeface="Tahoma"/>
                <a:cs typeface="Tahoma"/>
              </a:rPr>
              <a:t>an</a:t>
            </a:r>
            <a:r>
              <a:rPr sz="1000" spc="-135" dirty="0">
                <a:solidFill>
                  <a:srgbClr val="FFFFFF"/>
                </a:solidFill>
                <a:latin typeface="Tahoma"/>
                <a:cs typeface="Tahoma"/>
              </a:rPr>
              <a:t> </a:t>
            </a:r>
            <a:r>
              <a:rPr sz="1000" spc="-25" dirty="0">
                <a:solidFill>
                  <a:srgbClr val="FFFFFF"/>
                </a:solidFill>
                <a:latin typeface="Tahoma"/>
                <a:cs typeface="Tahoma"/>
              </a:rPr>
              <a:t>individual’s</a:t>
            </a:r>
            <a:endParaRPr sz="1000">
              <a:latin typeface="Tahoma"/>
              <a:cs typeface="Tahoma"/>
            </a:endParaRPr>
          </a:p>
          <a:p>
            <a:pPr algn="ctr">
              <a:lnSpc>
                <a:spcPct val="100000"/>
              </a:lnSpc>
            </a:pPr>
            <a:r>
              <a:rPr sz="1000" spc="-65" dirty="0">
                <a:solidFill>
                  <a:srgbClr val="FFFFFF"/>
                </a:solidFill>
                <a:latin typeface="Tahoma"/>
                <a:cs typeface="Tahoma"/>
              </a:rPr>
              <a:t>holistic</a:t>
            </a:r>
            <a:r>
              <a:rPr sz="1000" spc="15" dirty="0">
                <a:solidFill>
                  <a:srgbClr val="FFFFFF"/>
                </a:solidFill>
                <a:latin typeface="Tahoma"/>
                <a:cs typeface="Tahoma"/>
              </a:rPr>
              <a:t> </a:t>
            </a:r>
            <a:r>
              <a:rPr sz="1000" spc="-90" dirty="0">
                <a:solidFill>
                  <a:srgbClr val="FFFFFF"/>
                </a:solidFill>
                <a:latin typeface="Tahoma"/>
                <a:cs typeface="Tahoma"/>
              </a:rPr>
              <a:t>development</a:t>
            </a:r>
            <a:r>
              <a:rPr sz="1000" spc="-165" dirty="0">
                <a:solidFill>
                  <a:srgbClr val="FFFFFF"/>
                </a:solidFill>
                <a:latin typeface="Tahoma"/>
                <a:cs typeface="Tahoma"/>
              </a:rPr>
              <a:t> </a:t>
            </a:r>
            <a:r>
              <a:rPr sz="1000" spc="-55" dirty="0">
                <a:solidFill>
                  <a:srgbClr val="FFFFFF"/>
                </a:solidFill>
                <a:latin typeface="Tahoma"/>
                <a:cs typeface="Tahoma"/>
              </a:rPr>
              <a:t>to</a:t>
            </a:r>
            <a:r>
              <a:rPr sz="1000" spc="-120" dirty="0">
                <a:solidFill>
                  <a:srgbClr val="FFFFFF"/>
                </a:solidFill>
                <a:latin typeface="Tahoma"/>
                <a:cs typeface="Tahoma"/>
              </a:rPr>
              <a:t> </a:t>
            </a:r>
            <a:r>
              <a:rPr sz="1000" spc="-85" dirty="0">
                <a:solidFill>
                  <a:srgbClr val="FFFFFF"/>
                </a:solidFill>
                <a:latin typeface="Tahoma"/>
                <a:cs typeface="Tahoma"/>
              </a:rPr>
              <a:t>make</a:t>
            </a:r>
            <a:r>
              <a:rPr sz="1000" spc="-95" dirty="0">
                <a:solidFill>
                  <a:srgbClr val="FFFFFF"/>
                </a:solidFill>
                <a:latin typeface="Tahoma"/>
                <a:cs typeface="Tahoma"/>
              </a:rPr>
              <a:t> </a:t>
            </a:r>
            <a:r>
              <a:rPr sz="1000" spc="-75" dirty="0">
                <a:solidFill>
                  <a:srgbClr val="FFFFFF"/>
                </a:solidFill>
                <a:latin typeface="Tahoma"/>
                <a:cs typeface="Tahoma"/>
              </a:rPr>
              <a:t>effective</a:t>
            </a:r>
            <a:r>
              <a:rPr sz="1000" spc="-100" dirty="0">
                <a:solidFill>
                  <a:srgbClr val="FFFFFF"/>
                </a:solidFill>
                <a:latin typeface="Tahoma"/>
                <a:cs typeface="Tahoma"/>
              </a:rPr>
              <a:t> </a:t>
            </a:r>
            <a:r>
              <a:rPr sz="1000" spc="-10" dirty="0">
                <a:solidFill>
                  <a:srgbClr val="FFFFFF"/>
                </a:solidFill>
                <a:latin typeface="Tahoma"/>
                <a:cs typeface="Tahoma"/>
              </a:rPr>
              <a:t>contribution</a:t>
            </a:r>
            <a:endParaRPr sz="1000">
              <a:latin typeface="Tahoma"/>
              <a:cs typeface="Tahoma"/>
            </a:endParaRPr>
          </a:p>
        </p:txBody>
      </p:sp>
      <p:sp>
        <p:nvSpPr>
          <p:cNvPr id="3" name="object 3"/>
          <p:cNvSpPr txBox="1"/>
          <p:nvPr/>
        </p:nvSpPr>
        <p:spPr>
          <a:xfrm>
            <a:off x="893775" y="6482283"/>
            <a:ext cx="1989455" cy="177800"/>
          </a:xfrm>
          <a:prstGeom prst="rect">
            <a:avLst/>
          </a:prstGeom>
        </p:spPr>
        <p:txBody>
          <a:bodyPr vert="horz" wrap="square" lIns="0" tIns="12065" rIns="0" bIns="0" rtlCol="0">
            <a:spAutoFit/>
          </a:bodyPr>
          <a:lstStyle/>
          <a:p>
            <a:pPr marL="12700">
              <a:lnSpc>
                <a:spcPct val="100000"/>
              </a:lnSpc>
              <a:spcBef>
                <a:spcPts val="95"/>
              </a:spcBef>
            </a:pPr>
            <a:r>
              <a:rPr sz="1000" spc="-60" dirty="0">
                <a:solidFill>
                  <a:srgbClr val="FFFFFF"/>
                </a:solidFill>
                <a:latin typeface="Tahoma"/>
                <a:cs typeface="Tahoma"/>
              </a:rPr>
              <a:t>to</a:t>
            </a:r>
            <a:r>
              <a:rPr sz="1000" spc="-150" dirty="0">
                <a:solidFill>
                  <a:srgbClr val="FFFFFF"/>
                </a:solidFill>
                <a:latin typeface="Tahoma"/>
                <a:cs typeface="Tahoma"/>
              </a:rPr>
              <a:t> </a:t>
            </a:r>
            <a:r>
              <a:rPr sz="1000" spc="-80" dirty="0">
                <a:solidFill>
                  <a:srgbClr val="FFFFFF"/>
                </a:solidFill>
                <a:latin typeface="Tahoma"/>
                <a:cs typeface="Tahoma"/>
              </a:rPr>
              <a:t>the</a:t>
            </a:r>
            <a:r>
              <a:rPr sz="1000" spc="-120" dirty="0">
                <a:solidFill>
                  <a:srgbClr val="FFFFFF"/>
                </a:solidFill>
                <a:latin typeface="Tahoma"/>
                <a:cs typeface="Tahoma"/>
              </a:rPr>
              <a:t> </a:t>
            </a:r>
            <a:r>
              <a:rPr sz="1000" spc="-65" dirty="0">
                <a:solidFill>
                  <a:srgbClr val="FFFFFF"/>
                </a:solidFill>
                <a:latin typeface="Tahoma"/>
                <a:cs typeface="Tahoma"/>
              </a:rPr>
              <a:t>society</a:t>
            </a:r>
            <a:r>
              <a:rPr sz="1000" spc="-125" dirty="0">
                <a:solidFill>
                  <a:srgbClr val="FFFFFF"/>
                </a:solidFill>
                <a:latin typeface="Tahoma"/>
                <a:cs typeface="Tahoma"/>
              </a:rPr>
              <a:t> </a:t>
            </a:r>
            <a:r>
              <a:rPr sz="1000" spc="-40" dirty="0">
                <a:solidFill>
                  <a:srgbClr val="FFFFFF"/>
                </a:solidFill>
                <a:latin typeface="Tahoma"/>
                <a:cs typeface="Tahoma"/>
              </a:rPr>
              <a:t>in</a:t>
            </a:r>
            <a:r>
              <a:rPr sz="1000" spc="-80" dirty="0">
                <a:solidFill>
                  <a:srgbClr val="FFFFFF"/>
                </a:solidFill>
                <a:latin typeface="Tahoma"/>
                <a:cs typeface="Tahoma"/>
              </a:rPr>
              <a:t> </a:t>
            </a:r>
            <a:r>
              <a:rPr sz="1000" spc="-10" dirty="0">
                <a:solidFill>
                  <a:srgbClr val="FFFFFF"/>
                </a:solidFill>
                <a:latin typeface="Tahoma"/>
                <a:cs typeface="Tahoma"/>
              </a:rPr>
              <a:t>a</a:t>
            </a:r>
            <a:r>
              <a:rPr sz="1000" spc="-114" dirty="0">
                <a:solidFill>
                  <a:srgbClr val="FFFFFF"/>
                </a:solidFill>
                <a:latin typeface="Tahoma"/>
                <a:cs typeface="Tahoma"/>
              </a:rPr>
              <a:t> </a:t>
            </a:r>
            <a:r>
              <a:rPr sz="1000" spc="-85" dirty="0">
                <a:solidFill>
                  <a:srgbClr val="FFFFFF"/>
                </a:solidFill>
                <a:latin typeface="Tahoma"/>
                <a:cs typeface="Tahoma"/>
              </a:rPr>
              <a:t>dynamic</a:t>
            </a:r>
            <a:r>
              <a:rPr sz="1000" spc="-125" dirty="0">
                <a:solidFill>
                  <a:srgbClr val="FFFFFF"/>
                </a:solidFill>
                <a:latin typeface="Tahoma"/>
                <a:cs typeface="Tahoma"/>
              </a:rPr>
              <a:t> </a:t>
            </a:r>
            <a:r>
              <a:rPr sz="1000" spc="-10" dirty="0">
                <a:solidFill>
                  <a:srgbClr val="FFFFFF"/>
                </a:solidFill>
                <a:latin typeface="Tahoma"/>
                <a:cs typeface="Tahoma"/>
              </a:rPr>
              <a:t>environment</a:t>
            </a:r>
            <a:endParaRPr sz="1000">
              <a:latin typeface="Tahoma"/>
              <a:cs typeface="Tahoma"/>
            </a:endParaRPr>
          </a:p>
        </p:txBody>
      </p:sp>
      <p:sp>
        <p:nvSpPr>
          <p:cNvPr id="4" name="object 4"/>
          <p:cNvSpPr txBox="1"/>
          <p:nvPr/>
        </p:nvSpPr>
        <p:spPr>
          <a:xfrm>
            <a:off x="4462017" y="5977508"/>
            <a:ext cx="1143635" cy="365125"/>
          </a:xfrm>
          <a:prstGeom prst="rect">
            <a:avLst/>
          </a:prstGeom>
        </p:spPr>
        <p:txBody>
          <a:bodyPr vert="horz" wrap="square" lIns="0" tIns="12700" rIns="0" bIns="0" rtlCol="0">
            <a:spAutoFit/>
          </a:bodyPr>
          <a:lstStyle/>
          <a:p>
            <a:pPr algn="ctr">
              <a:lnSpc>
                <a:spcPct val="100000"/>
              </a:lnSpc>
              <a:spcBef>
                <a:spcPts val="100"/>
              </a:spcBef>
            </a:pPr>
            <a:r>
              <a:rPr sz="1200" b="1" spc="-10" dirty="0">
                <a:solidFill>
                  <a:srgbClr val="D1AD6B"/>
                </a:solidFill>
                <a:latin typeface="Trebuchet MS"/>
                <a:cs typeface="Trebuchet MS"/>
              </a:rPr>
              <a:t>Vision</a:t>
            </a:r>
            <a:endParaRPr sz="1200">
              <a:latin typeface="Trebuchet MS"/>
              <a:cs typeface="Trebuchet MS"/>
            </a:endParaRPr>
          </a:p>
          <a:p>
            <a:pPr algn="ctr">
              <a:lnSpc>
                <a:spcPct val="100000"/>
              </a:lnSpc>
              <a:spcBef>
                <a:spcPts val="30"/>
              </a:spcBef>
            </a:pPr>
            <a:r>
              <a:rPr sz="1000" spc="-70" dirty="0">
                <a:solidFill>
                  <a:srgbClr val="FFFFFF"/>
                </a:solidFill>
                <a:latin typeface="Tahoma"/>
                <a:cs typeface="Tahoma"/>
              </a:rPr>
              <a:t>Excellence and</a:t>
            </a:r>
            <a:r>
              <a:rPr sz="1000" spc="-114" dirty="0">
                <a:solidFill>
                  <a:srgbClr val="FFFFFF"/>
                </a:solidFill>
                <a:latin typeface="Tahoma"/>
                <a:cs typeface="Tahoma"/>
              </a:rPr>
              <a:t> </a:t>
            </a:r>
            <a:r>
              <a:rPr sz="1000" spc="-10" dirty="0">
                <a:solidFill>
                  <a:srgbClr val="FFFFFF"/>
                </a:solidFill>
                <a:latin typeface="Tahoma"/>
                <a:cs typeface="Tahoma"/>
              </a:rPr>
              <a:t>Service</a:t>
            </a:r>
            <a:endParaRPr sz="1000">
              <a:latin typeface="Tahoma"/>
              <a:cs typeface="Tahoma"/>
            </a:endParaRPr>
          </a:p>
        </p:txBody>
      </p:sp>
      <p:pic>
        <p:nvPicPr>
          <p:cNvPr id="5" name="object 5"/>
          <p:cNvPicPr/>
          <p:nvPr/>
        </p:nvPicPr>
        <p:blipFill>
          <a:blip r:embed="rId2" cstate="print"/>
          <a:stretch>
            <a:fillRect/>
          </a:stretch>
        </p:blipFill>
        <p:spPr>
          <a:xfrm>
            <a:off x="6554723" y="1324355"/>
            <a:ext cx="2586228" cy="880872"/>
          </a:xfrm>
          <a:prstGeom prst="rect">
            <a:avLst/>
          </a:prstGeom>
        </p:spPr>
      </p:pic>
      <p:sp>
        <p:nvSpPr>
          <p:cNvPr id="6" name="object 6" descr="$PPTXTitle"/>
          <p:cNvSpPr txBox="1">
            <a:spLocks noGrp="1"/>
          </p:cNvSpPr>
          <p:nvPr>
            <p:ph type="title"/>
          </p:nvPr>
        </p:nvSpPr>
        <p:spPr>
          <a:xfrm>
            <a:off x="948639" y="2323592"/>
            <a:ext cx="8225790" cy="1697355"/>
          </a:xfrm>
          <a:prstGeom prst="rect">
            <a:avLst/>
          </a:prstGeom>
        </p:spPr>
        <p:txBody>
          <a:bodyPr vert="horz" wrap="square" lIns="0" tIns="12700" rIns="0" bIns="0" rtlCol="0">
            <a:spAutoFit/>
          </a:bodyPr>
          <a:lstStyle/>
          <a:p>
            <a:pPr marL="43815" algn="ctr">
              <a:lnSpc>
                <a:spcPct val="100000"/>
              </a:lnSpc>
              <a:spcBef>
                <a:spcPts val="100"/>
              </a:spcBef>
              <a:defRPr sz="2000" b="0">
                <a:solidFill>
                  <a:srgbClr val="0F2043"/>
                </a:solidFill>
                <a:latin typeface="Times New Roman"/>
              </a:defRPr>
            </a:pPr>
            <a:r>
              <a:t>SERVICE LEARNING</a:t>
            </a:r>
          </a:p>
          <a:p>
            <a:pPr algn="ctr">
              <a:defRPr sz="3600" b="1">
                <a:solidFill>
                  <a:srgbClr val="0F2043"/>
                </a:solidFill>
                <a:latin typeface="Times New Roman"/>
              </a:defRPr>
            </a:pPr>
            <a:r>
              <a:t>DAKSH</a:t>
            </a:r>
          </a:p>
          <a:p>
            <a:pPr algn="ctr">
              <a:defRPr sz="1700" b="1">
                <a:solidFill>
                  <a:srgbClr val="1C3666"/>
                </a:solidFill>
                <a:latin typeface="Trebuchet MS"/>
              </a:defRPr>
            </a:pPr>
            <a:r>
              <a:t>Judicial Research and Court-Case Information Platform</a:t>
            </a:r>
          </a:p>
          <a:p>
            <a:pPr algn="ctr">
              <a:defRPr sz="1200" i="1">
                <a:solidFill>
                  <a:srgbClr val="646E7D"/>
                </a:solidFill>
                <a:latin typeface="Tahoma"/>
              </a:defRPr>
            </a:pPr>
            <a:r>
              <a:t>Structured Court Data, Searchable Research &amp; Intelligent Analytics</a:t>
            </a:r>
          </a:p>
        </p:txBody>
      </p:sp>
      <p:sp>
        <p:nvSpPr>
          <p:cNvPr id="7" name="object 7"/>
          <p:cNvSpPr txBox="1"/>
          <p:nvPr/>
        </p:nvSpPr>
        <p:spPr>
          <a:xfrm>
            <a:off x="4021328" y="4164838"/>
            <a:ext cx="2028825" cy="475615"/>
          </a:xfrm>
          <a:prstGeom prst="rect">
            <a:avLst/>
          </a:prstGeom>
        </p:spPr>
        <p:txBody>
          <a:bodyPr vert="horz" wrap="square" lIns="0" tIns="12700" rIns="0" bIns="0" rtlCol="0">
            <a:spAutoFit/>
          </a:bodyPr>
          <a:lstStyle/>
          <a:p>
            <a:pPr marL="12700" algn="ctr">
              <a:lnSpc>
                <a:spcPct val="100000"/>
              </a:lnSpc>
              <a:spcBef>
                <a:spcPts val="100"/>
              </a:spcBef>
              <a:defRPr sz="2000" b="1">
                <a:solidFill>
                  <a:srgbClr val="1C3666"/>
                </a:solidFill>
                <a:latin typeface="Times New Roman"/>
              </a:defRPr>
            </a:pPr>
            <a:r>
              <a:t>Community Partner: DAKSH</a:t>
            </a:r>
            <a:endParaRPr sz="2950">
              <a:latin typeface="Times New Roman"/>
              <a:cs typeface="Times New Roman"/>
            </a:endParaRPr>
          </a:p>
        </p:txBody>
      </p:sp>
      <p:sp>
        <p:nvSpPr>
          <p:cNvPr id="8" name="object 8"/>
          <p:cNvSpPr txBox="1"/>
          <p:nvPr/>
        </p:nvSpPr>
        <p:spPr>
          <a:xfrm>
            <a:off x="241808" y="4797297"/>
            <a:ext cx="2894965" cy="935990"/>
          </a:xfrm>
          <a:prstGeom prst="rect">
            <a:avLst/>
          </a:prstGeom>
        </p:spPr>
        <p:txBody>
          <a:bodyPr vert="horz" wrap="square" lIns="0" tIns="13335" rIns="0" bIns="0" rtlCol="0">
            <a:spAutoFit/>
          </a:bodyPr>
          <a:lstStyle/>
          <a:p>
            <a:pPr marR="32384" algn="ctr">
              <a:lnSpc>
                <a:spcPts val="1925"/>
              </a:lnSpc>
              <a:spcBef>
                <a:spcPts val="105"/>
              </a:spcBef>
              <a:defRPr sz="1300" b="1">
                <a:solidFill>
                  <a:srgbClr val="0F2043"/>
                </a:solidFill>
                <a:latin typeface="Tahoma"/>
              </a:defRPr>
            </a:pPr>
            <a:r>
              <a:t>Community Organization</a:t>
            </a:r>
            <a:endParaRPr sz="1650">
              <a:latin typeface="Tahoma"/>
              <a:cs typeface="Tahoma"/>
            </a:endParaRPr>
          </a:p>
          <a:p>
            <a:pPr algn="ctr">
              <a:defRPr sz="1200" b="1">
                <a:solidFill>
                  <a:srgbClr val="1C3666"/>
                </a:solidFill>
                <a:latin typeface="Tahoma"/>
              </a:defRPr>
            </a:pPr>
            <a:r>
              <a:t>DAKSH Society</a:t>
            </a:r>
          </a:p>
          <a:p>
            <a:pPr algn="ctr">
              <a:defRPr sz="1100">
                <a:solidFill>
                  <a:srgbClr val="282C34"/>
                </a:solidFill>
                <a:latin typeface="Tahoma"/>
              </a:defRPr>
            </a:pPr>
            <a:r>
              <a:t>Bengaluru, Karnataka, India</a:t>
            </a:r>
          </a:p>
          <a:p>
            <a:pPr algn="ctr">
              <a:defRPr sz="1000" i="1">
                <a:solidFill>
                  <a:srgbClr val="646E7D"/>
                </a:solidFill>
                <a:latin typeface="Tahoma"/>
              </a:defRPr>
            </a:pPr>
            <a:r>
              <a:t>Advancing Justice System Reforms &amp; Judicial Research</a:t>
            </a:r>
          </a:p>
        </p:txBody>
      </p:sp>
      <p:sp>
        <p:nvSpPr>
          <p:cNvPr id="9" name="object 9"/>
          <p:cNvSpPr txBox="1"/>
          <p:nvPr/>
        </p:nvSpPr>
        <p:spPr>
          <a:xfrm>
            <a:off x="6438646" y="4797297"/>
            <a:ext cx="3132455" cy="1837689"/>
          </a:xfrm>
          <a:prstGeom prst="rect">
            <a:avLst/>
          </a:prstGeom>
        </p:spPr>
        <p:txBody>
          <a:bodyPr vert="horz" wrap="square" lIns="0" tIns="13335" rIns="0" bIns="0" rtlCol="0">
            <a:spAutoFit/>
          </a:bodyPr>
          <a:lstStyle/>
          <a:p>
            <a:pPr marL="1009650">
              <a:lnSpc>
                <a:spcPct val="100000"/>
              </a:lnSpc>
              <a:spcBef>
                <a:spcPts val="105"/>
              </a:spcBef>
              <a:defRPr sz="1200" b="1">
                <a:solidFill>
                  <a:srgbClr val="0F2043"/>
                </a:solidFill>
                <a:latin typeface="Tahoma"/>
              </a:defRPr>
            </a:pPr>
            <a:r>
              <a:t>Team Details (5BTCS AIML A):</a:t>
            </a:r>
            <a:endParaRPr sz="1650">
              <a:latin typeface="Tahoma"/>
              <a:cs typeface="Tahoma"/>
            </a:endParaRPr>
          </a:p>
          <a:p>
            <a:pPr>
              <a:defRPr sz="1050">
                <a:solidFill>
                  <a:srgbClr val="282C34"/>
                </a:solidFill>
                <a:latin typeface="Tahoma"/>
              </a:defRPr>
            </a:pPr>
            <a:r>
              <a:t>Mishael Julian – 2462184</a:t>
            </a:r>
          </a:p>
          <a:p>
            <a:pPr>
              <a:defRPr sz="1050">
                <a:solidFill>
                  <a:srgbClr val="282C34"/>
                </a:solidFill>
                <a:latin typeface="Tahoma"/>
              </a:defRPr>
            </a:pPr>
            <a:r>
              <a:t>Steven Mathew – 2462157</a:t>
            </a:r>
          </a:p>
          <a:p>
            <a:pPr>
              <a:defRPr sz="1050">
                <a:solidFill>
                  <a:srgbClr val="282C34"/>
                </a:solidFill>
                <a:latin typeface="Tahoma"/>
              </a:defRPr>
            </a:pPr>
            <a:r>
              <a:t>Julius Thomas – 2462095</a:t>
            </a:r>
          </a:p>
          <a:p>
            <a:pPr>
              <a:defRPr sz="1050">
                <a:solidFill>
                  <a:srgbClr val="282C34"/>
                </a:solidFill>
                <a:latin typeface="Tahoma"/>
              </a:defRPr>
            </a:pPr>
            <a:r>
              <a:t>Abhishan Francis – 2462835</a:t>
            </a:r>
          </a:p>
          <a:p>
            <a:pPr>
              <a:defRPr sz="1050">
                <a:solidFill>
                  <a:srgbClr val="282C34"/>
                </a:solidFill>
                <a:latin typeface="Tahoma"/>
              </a:defRPr>
            </a:pPr>
            <a:r>
              <a:t>Rahul Prakash – 2462133</a:t>
            </a:r>
          </a:p>
          <a:p>
            <a:pPr>
              <a:defRPr sz="1000" b="1">
                <a:solidFill>
                  <a:srgbClr val="D1AD6B"/>
                </a:solidFill>
                <a:latin typeface="Trebuchet MS"/>
              </a:defRPr>
            </a:pPr>
            <a:r>
              <a:t>Core Values</a:t>
            </a:r>
          </a:p>
          <a:p>
            <a:pPr>
              <a:defRPr sz="850">
                <a:solidFill>
                  <a:srgbClr val="FFFFFF"/>
                </a:solidFill>
                <a:latin typeface="Tahoma"/>
              </a:defRPr>
            </a:pPr>
            <a:r>
              <a:t>Faith in God | Moral Uprightness | Love of Fellow Beings | Social Responsibility</a:t>
            </a:r>
          </a:p>
          <a:p>
            <a:pPr>
              <a:defRPr sz="850">
                <a:solidFill>
                  <a:srgbClr val="FFFFFF"/>
                </a:solidFill>
                <a:latin typeface="Tahoma"/>
              </a:defRPr>
            </a:pPr>
            <a:r>
              <a:t>Pursuit of Excellence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ABSTRACT</a:t>
            </a:r>
          </a:p>
        </p:txBody>
      </p:sp>
      <p:sp>
        <p:nvSpPr>
          <p:cNvPr id="3" name="Rounded Rectangle 2"/>
          <p:cNvSpPr/>
          <p:nvPr/>
        </p:nvSpPr>
        <p:spPr>
          <a:xfrm>
            <a:off x="548640" y="1874519"/>
            <a:ext cx="201168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1565C0"/>
                </a:solidFill>
                <a:latin typeface="Tahoma"/>
              </a:defRPr>
            </a:pPr>
            <a:r>
              <a:t>EXECUTIVE SUMMARY</a:t>
            </a:r>
          </a:p>
        </p:txBody>
      </p:sp>
      <p:sp>
        <p:nvSpPr>
          <p:cNvPr id="4" name="Rounded Rectangle 3"/>
          <p:cNvSpPr/>
          <p:nvPr/>
        </p:nvSpPr>
        <p:spPr>
          <a:xfrm>
            <a:off x="548640" y="2286000"/>
            <a:ext cx="896112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400" b="1">
                <a:solidFill>
                  <a:srgbClr val="1C3666"/>
                </a:solidFill>
                <a:latin typeface="Trebuchet MS"/>
              </a:defRPr>
            </a:pPr>
            <a:r>
              <a:t>DAKSH: A Judicial Research and Court-Case Information Platform</a:t>
            </a:r>
          </a:p>
          <a:p>
            <a:pPr>
              <a:spcAft>
                <a:spcPts val="300"/>
              </a:spcAft>
            </a:pPr>
            <a:r>
              <a:rPr sz="1150" b="1">
                <a:solidFill>
                  <a:srgbClr val="282C34"/>
                </a:solidFill>
                <a:latin typeface="Tahoma"/>
              </a:rPr>
              <a:t>System Overview: </a:t>
            </a:r>
            <a:r>
              <a:rPr sz="1150" b="0">
                <a:solidFill>
                  <a:srgbClr val="282C34"/>
                </a:solidFill>
                <a:latin typeface="Tahoma"/>
              </a:rPr>
              <a:t>DAKSH is envisioned as an end-to-end judicial research platform that organizes publicly available court-case information into a structured, centralized, and searchable ecosystem. The project directly addresses the friction of repeatedly navigating fragmented court records when conducting empirical case-level research.</a:t>
            </a:r>
          </a:p>
          <a:p>
            <a:pPr>
              <a:spcAft>
                <a:spcPts val="300"/>
              </a:spcAft>
            </a:pPr>
            <a:r>
              <a:rPr sz="1150" b="1">
                <a:solidFill>
                  <a:srgbClr val="282C34"/>
                </a:solidFill>
                <a:latin typeface="Tahoma"/>
              </a:rPr>
              <a:t>Data Acquisition Foundation: </a:t>
            </a:r>
            <a:r>
              <a:rPr sz="1150" b="0">
                <a:solidFill>
                  <a:srgbClr val="282C34"/>
                </a:solidFill>
                <a:latin typeface="Tahoma"/>
              </a:rPr>
              <a:t>An automated data acquisition layer powered by Playwright systematically collects case details, party hierarchies, acts/sections, hearing histories, daily status business logs, and final orders/judgments from the eCourts portal.</a:t>
            </a:r>
          </a:p>
          <a:p>
            <a:pPr>
              <a:spcAft>
                <a:spcPts val="300"/>
              </a:spcAft>
            </a:pPr>
            <a:r>
              <a:rPr sz="1150" b="1">
                <a:solidFill>
                  <a:srgbClr val="282C34"/>
                </a:solidFill>
                <a:latin typeface="Tahoma"/>
              </a:rPr>
              <a:t>Structured Information Storage: </a:t>
            </a:r>
            <a:r>
              <a:rPr sz="1150" b="0">
                <a:solidFill>
                  <a:srgbClr val="282C34"/>
                </a:solidFill>
                <a:latin typeface="Tahoma"/>
              </a:rPr>
              <a:t>Collected information is normalized into structured database models that preserve complete case lifecycles, full relational linkages, and linguistic fidelity (including Kannada/vernacular scripts) with zero data loss.</a:t>
            </a:r>
          </a:p>
          <a:p>
            <a:pPr>
              <a:spcAft>
                <a:spcPts val="300"/>
              </a:spcAft>
            </a:pPr>
            <a:r>
              <a:rPr sz="1150" b="1">
                <a:solidFill>
                  <a:srgbClr val="282C34"/>
                </a:solidFill>
                <a:latin typeface="Tahoma"/>
              </a:rPr>
              <a:t>Researcher-Centric Application: </a:t>
            </a:r>
            <a:r>
              <a:rPr sz="1150" b="0">
                <a:solidFill>
                  <a:srgbClr val="282C34"/>
                </a:solidFill>
                <a:latin typeface="Tahoma"/>
              </a:rPr>
              <a:t>A dedicated web application provides researchers with intuitive multi-parameter filters, dropdowns, full-text case search, and a unified case workspace, eliminating tedious manual record compilation.</a:t>
            </a:r>
          </a:p>
          <a:p>
            <a:pPr>
              <a:spcAft>
                <a:spcPts val="300"/>
              </a:spcAft>
            </a:pPr>
            <a:r>
              <a:rPr sz="1150" b="1">
                <a:solidFill>
                  <a:srgbClr val="282C34"/>
                </a:solidFill>
                <a:latin typeface="Tahoma"/>
              </a:rPr>
              <a:t>Future Intelligence Roadmap: </a:t>
            </a:r>
            <a:r>
              <a:rPr sz="1150" b="0">
                <a:solidFill>
                  <a:srgbClr val="282C34"/>
                </a:solidFill>
                <a:latin typeface="Tahoma"/>
              </a:rPr>
              <a:t>The platform establishes a verified foundation for future analytical capabilities, including case similarity clustering, pendency trend analysis, and decision-support case prioritization.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COMMUNITY PROFILE &amp; STAKEHOLDER CONTEXT</a:t>
            </a:r>
          </a:p>
        </p:txBody>
      </p:sp>
      <p:sp>
        <p:nvSpPr>
          <p:cNvPr id="3" name="Rounded Rectangle 2"/>
          <p:cNvSpPr/>
          <p:nvPr/>
        </p:nvSpPr>
        <p:spPr>
          <a:xfrm>
            <a:off x="548640" y="1874519"/>
            <a:ext cx="228600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1565C0"/>
                </a:solidFill>
                <a:latin typeface="Tahoma"/>
              </a:defRPr>
            </a:pPr>
            <a:r>
              <a:t>STAKEHOLDER ANALYSIS</a:t>
            </a:r>
          </a:p>
        </p:txBody>
      </p:sp>
      <p:sp>
        <p:nvSpPr>
          <p:cNvPr id="4" name="Rounded Rectangle 3"/>
          <p:cNvSpPr/>
          <p:nvPr/>
        </p:nvSpPr>
        <p:spPr>
          <a:xfrm>
            <a:off x="548640" y="2286000"/>
            <a:ext cx="288036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00" b="1">
                <a:solidFill>
                  <a:srgbClr val="1C3666"/>
                </a:solidFill>
                <a:latin typeface="Trebuchet MS"/>
              </a:defRPr>
            </a:pPr>
            <a:r>
              <a:t>Community Partner</a:t>
            </a:r>
          </a:p>
          <a:p>
            <a:pPr>
              <a:spcAft>
                <a:spcPts val="300"/>
              </a:spcAft>
            </a:pPr>
            <a:r>
              <a:rPr sz="1050" b="1">
                <a:solidFill>
                  <a:srgbClr val="282C34"/>
                </a:solidFill>
                <a:latin typeface="Tahoma"/>
              </a:rPr>
              <a:t>Organization: </a:t>
            </a:r>
            <a:r>
              <a:rPr sz="1050" b="0">
                <a:solidFill>
                  <a:srgbClr val="282C34"/>
                </a:solidFill>
                <a:latin typeface="Tahoma"/>
              </a:rPr>
              <a:t>DAKSH (Bengaluru)</a:t>
            </a:r>
          </a:p>
          <a:p>
            <a:pPr>
              <a:spcAft>
                <a:spcPts val="300"/>
              </a:spcAft>
            </a:pPr>
            <a:r>
              <a:rPr sz="1050" b="1">
                <a:solidFill>
                  <a:srgbClr val="282C34"/>
                </a:solidFill>
                <a:latin typeface="Tahoma"/>
              </a:rPr>
              <a:t>Domain: </a:t>
            </a:r>
            <a:r>
              <a:rPr sz="1050" b="0">
                <a:solidFill>
                  <a:srgbClr val="282C34"/>
                </a:solidFill>
                <a:latin typeface="Tahoma"/>
              </a:rPr>
              <a:t>Civil society justice-sector research organization.</a:t>
            </a:r>
          </a:p>
          <a:p>
            <a:pPr>
              <a:spcAft>
                <a:spcPts val="300"/>
              </a:spcAft>
            </a:pPr>
            <a:r>
              <a:rPr sz="1050" b="1">
                <a:solidFill>
                  <a:srgbClr val="282C34"/>
                </a:solidFill>
                <a:latin typeface="Tahoma"/>
              </a:rPr>
              <a:t>Mission: </a:t>
            </a:r>
            <a:r>
              <a:rPr sz="1050" b="0">
                <a:solidFill>
                  <a:srgbClr val="282C34"/>
                </a:solidFill>
                <a:latin typeface="Tahoma"/>
              </a:rPr>
              <a:t>Pioneering data-driven insights into court workflows, case pendency, judicial delay, and justice administration.</a:t>
            </a:r>
          </a:p>
          <a:p>
            <a:pPr>
              <a:spcAft>
                <a:spcPts val="300"/>
              </a:spcAft>
            </a:pPr>
            <a:r>
              <a:rPr sz="1050" b="1">
                <a:solidFill>
                  <a:srgbClr val="282C34"/>
                </a:solidFill>
                <a:latin typeface="Tahoma"/>
              </a:rPr>
              <a:t>Key Requirement: </a:t>
            </a:r>
            <a:r>
              <a:rPr sz="1050" b="0">
                <a:solidFill>
                  <a:srgbClr val="282C34"/>
                </a:solidFill>
                <a:latin typeface="Tahoma"/>
              </a:rPr>
              <a:t>Reliable, structured datasets containing complete case histories, hearing logs, and disposal details.</a:t>
            </a:r>
          </a:p>
        </p:txBody>
      </p:sp>
      <p:sp>
        <p:nvSpPr>
          <p:cNvPr id="5" name="Rounded Rectangle 4"/>
          <p:cNvSpPr/>
          <p:nvPr/>
        </p:nvSpPr>
        <p:spPr>
          <a:xfrm>
            <a:off x="3593592" y="2286000"/>
            <a:ext cx="288036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00" b="1">
                <a:solidFill>
                  <a:srgbClr val="1C3666"/>
                </a:solidFill>
                <a:latin typeface="Trebuchet MS"/>
              </a:defRPr>
            </a:pPr>
            <a:r>
              <a:t>Target Researchers &amp; Users</a:t>
            </a:r>
          </a:p>
          <a:p>
            <a:pPr>
              <a:spcAft>
                <a:spcPts val="300"/>
              </a:spcAft>
            </a:pPr>
            <a:r>
              <a:rPr sz="1050" b="1">
                <a:solidFill>
                  <a:srgbClr val="282C34"/>
                </a:solidFill>
                <a:latin typeface="Tahoma"/>
              </a:rPr>
              <a:t>Judicial Researchers: </a:t>
            </a:r>
            <a:r>
              <a:rPr sz="1050" b="0">
                <a:solidFill>
                  <a:srgbClr val="282C34"/>
                </a:solidFill>
                <a:latin typeface="Tahoma"/>
              </a:rPr>
              <a:t>Legal empiricists analyzing caseload trends, hearing patterns, and adjournment reasons.</a:t>
            </a:r>
          </a:p>
          <a:p>
            <a:pPr>
              <a:spcAft>
                <a:spcPts val="300"/>
              </a:spcAft>
            </a:pPr>
            <a:r>
              <a:rPr sz="1050" b="1">
                <a:solidFill>
                  <a:srgbClr val="282C34"/>
                </a:solidFill>
                <a:latin typeface="Tahoma"/>
              </a:rPr>
              <a:t>Policy Analysts: </a:t>
            </a:r>
            <a:r>
              <a:rPr sz="1050" b="0">
                <a:solidFill>
                  <a:srgbClr val="282C34"/>
                </a:solidFill>
                <a:latin typeface="Tahoma"/>
              </a:rPr>
              <a:t>Scholars evaluating procedural reforms and court system bottlenecks.</a:t>
            </a:r>
          </a:p>
          <a:p>
            <a:pPr>
              <a:spcAft>
                <a:spcPts val="300"/>
              </a:spcAft>
            </a:pPr>
            <a:r>
              <a:rPr sz="1050" b="1">
                <a:solidFill>
                  <a:srgbClr val="282C34"/>
                </a:solidFill>
                <a:latin typeface="Tahoma"/>
              </a:rPr>
              <a:t>Legal Academics: </a:t>
            </a:r>
            <a:r>
              <a:rPr sz="1050" b="0">
                <a:solidFill>
                  <a:srgbClr val="282C34"/>
                </a:solidFill>
                <a:latin typeface="Tahoma"/>
              </a:rPr>
              <a:t>Institutions requiring structured, verified datasets for legal research.</a:t>
            </a:r>
          </a:p>
          <a:p>
            <a:pPr>
              <a:spcAft>
                <a:spcPts val="300"/>
              </a:spcAft>
            </a:pPr>
            <a:r>
              <a:rPr sz="1050" b="1">
                <a:solidFill>
                  <a:srgbClr val="282C34"/>
                </a:solidFill>
                <a:latin typeface="Tahoma"/>
              </a:rPr>
              <a:t>Core Benefit: </a:t>
            </a:r>
            <a:r>
              <a:rPr sz="1050" b="0">
                <a:solidFill>
                  <a:srgbClr val="282C34"/>
                </a:solidFill>
                <a:latin typeface="Tahoma"/>
              </a:rPr>
              <a:t>Enables researchers to spend time on deep analysis rather than tedious manual record retrieval.</a:t>
            </a:r>
          </a:p>
        </p:txBody>
      </p:sp>
      <p:sp>
        <p:nvSpPr>
          <p:cNvPr id="6" name="Rounded Rectangle 5"/>
          <p:cNvSpPr/>
          <p:nvPr/>
        </p:nvSpPr>
        <p:spPr>
          <a:xfrm>
            <a:off x="6638544" y="2286000"/>
            <a:ext cx="288036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00" b="1">
                <a:solidFill>
                  <a:srgbClr val="1C3666"/>
                </a:solidFill>
                <a:latin typeface="Trebuchet MS"/>
              </a:defRPr>
            </a:pPr>
            <a:r>
              <a:t>Ethical &amp; System Boundaries</a:t>
            </a:r>
          </a:p>
          <a:p>
            <a:pPr>
              <a:spcAft>
                <a:spcPts val="300"/>
              </a:spcAft>
            </a:pPr>
            <a:r>
              <a:rPr sz="1050" b="1">
                <a:solidFill>
                  <a:srgbClr val="282C34"/>
                </a:solidFill>
                <a:latin typeface="Tahoma"/>
              </a:rPr>
              <a:t>Public Data Only: </a:t>
            </a:r>
            <a:r>
              <a:rPr sz="1050" b="0">
                <a:solidFill>
                  <a:srgbClr val="282C34"/>
                </a:solidFill>
                <a:latin typeface="Tahoma"/>
              </a:rPr>
              <a:t>Operates strictly on publicly accessible eCourts information.</a:t>
            </a:r>
          </a:p>
          <a:p>
            <a:pPr>
              <a:spcAft>
                <a:spcPts val="300"/>
              </a:spcAft>
            </a:pPr>
            <a:r>
              <a:rPr sz="1050" b="1">
                <a:solidFill>
                  <a:srgbClr val="282C34"/>
                </a:solidFill>
                <a:latin typeface="Tahoma"/>
              </a:rPr>
              <a:t>No Judicial Automation: </a:t>
            </a:r>
            <a:r>
              <a:rPr sz="1050" b="0">
                <a:solidFill>
                  <a:srgbClr val="282C34"/>
                </a:solidFill>
                <a:latin typeface="Tahoma"/>
              </a:rPr>
              <a:t>System does NOT make judicial rulings or replace judicial discretion.</a:t>
            </a:r>
          </a:p>
          <a:p>
            <a:pPr>
              <a:spcAft>
                <a:spcPts val="300"/>
              </a:spcAft>
            </a:pPr>
            <a:r>
              <a:rPr sz="1050" b="1">
                <a:solidFill>
                  <a:srgbClr val="282C34"/>
                </a:solidFill>
                <a:latin typeface="Tahoma"/>
              </a:rPr>
              <a:t>No Legal Practitioner Replacement: </a:t>
            </a:r>
            <a:r>
              <a:rPr sz="1050" b="0">
                <a:solidFill>
                  <a:srgbClr val="282C34"/>
                </a:solidFill>
                <a:latin typeface="Tahoma"/>
              </a:rPr>
              <a:t>Serves purely as an analytical research workspace for researchers.</a:t>
            </a:r>
          </a:p>
          <a:p>
            <a:pPr>
              <a:spcAft>
                <a:spcPts val="300"/>
              </a:spcAft>
            </a:pPr>
            <a:r>
              <a:rPr sz="1050" b="1">
                <a:solidFill>
                  <a:srgbClr val="282C34"/>
                </a:solidFill>
                <a:latin typeface="Tahoma"/>
              </a:rPr>
              <a:t>Data Fidelity Priority: </a:t>
            </a:r>
            <a:r>
              <a:rPr sz="1050" b="0">
                <a:solidFill>
                  <a:srgbClr val="282C34"/>
                </a:solidFill>
                <a:latin typeface="Tahoma"/>
              </a:rPr>
              <a:t>Preserves exact public records without synthetic alterations.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PROBLEMS FACED BY JUDICIAL RESEARCHERS</a:t>
            </a:r>
          </a:p>
        </p:txBody>
      </p:sp>
      <p:sp>
        <p:nvSpPr>
          <p:cNvPr id="3" name="Rounded Rectangle 2"/>
          <p:cNvSpPr/>
          <p:nvPr/>
        </p:nvSpPr>
        <p:spPr>
          <a:xfrm>
            <a:off x="548640" y="1874519"/>
            <a:ext cx="2194560" cy="292608"/>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E65100"/>
                </a:solidFill>
                <a:latin typeface="Tahoma"/>
              </a:defRPr>
            </a:pPr>
            <a:r>
              <a:t>RESEARCH BOTTLENECK</a:t>
            </a:r>
          </a:p>
        </p:txBody>
      </p:sp>
      <p:sp>
        <p:nvSpPr>
          <p:cNvPr id="4" name="Rounded Rectangle 3"/>
          <p:cNvSpPr/>
          <p:nvPr/>
        </p:nvSpPr>
        <p:spPr>
          <a:xfrm>
            <a:off x="548640" y="2286000"/>
            <a:ext cx="429768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t>Portal &amp; Data Disconnection</a:t>
            </a:r>
          </a:p>
          <a:p>
            <a:pPr>
              <a:spcAft>
                <a:spcPts val="300"/>
              </a:spcAft>
            </a:pPr>
            <a:r>
              <a:rPr sz="1100" b="1">
                <a:solidFill>
                  <a:srgbClr val="282C34"/>
                </a:solidFill>
                <a:latin typeface="Tahoma"/>
              </a:rPr>
              <a:t>Distributed Case Sections: </a:t>
            </a:r>
            <a:r>
              <a:rPr sz="1100" b="0">
                <a:solidFill>
                  <a:srgbClr val="282C34"/>
                </a:solidFill>
                <a:latin typeface="Tahoma"/>
              </a:rPr>
              <a:t>Crucial case details, hearing logs, process tables, and daily orders are split across multiple disparate web tabs and popups.</a:t>
            </a:r>
          </a:p>
          <a:p>
            <a:pPr>
              <a:spcAft>
                <a:spcPts val="300"/>
              </a:spcAft>
            </a:pPr>
            <a:r>
              <a:rPr sz="1100" b="1">
                <a:solidFill>
                  <a:srgbClr val="282C34"/>
                </a:solidFill>
                <a:latin typeface="Tahoma"/>
              </a:rPr>
              <a:t>Separate Order Links: </a:t>
            </a:r>
            <a:r>
              <a:rPr sz="1100" b="0">
                <a:solidFill>
                  <a:srgbClr val="282C34"/>
                </a:solidFill>
                <a:latin typeface="Tahoma"/>
              </a:rPr>
              <a:t>Daily business records and substantive orders must be clicked and inspected individually, requiring dozens of manual clicks per case.</a:t>
            </a:r>
          </a:p>
          <a:p>
            <a:pPr>
              <a:spcAft>
                <a:spcPts val="300"/>
              </a:spcAft>
            </a:pPr>
            <a:r>
              <a:rPr sz="1100" b="1">
                <a:solidFill>
                  <a:srgbClr val="282C34"/>
                </a:solidFill>
                <a:latin typeface="Tahoma"/>
              </a:rPr>
              <a:t>Lack of Unified View: </a:t>
            </a:r>
            <a:r>
              <a:rPr sz="1100" b="0">
                <a:solidFill>
                  <a:srgbClr val="282C34"/>
                </a:solidFill>
                <a:latin typeface="Tahoma"/>
              </a:rPr>
              <a:t>No single interface aggregates a case's chronological life cycle into a unified research workspace.</a:t>
            </a:r>
          </a:p>
          <a:p>
            <a:pPr>
              <a:spcAft>
                <a:spcPts val="300"/>
              </a:spcAft>
            </a:pPr>
            <a:r>
              <a:rPr sz="1100" b="1">
                <a:solidFill>
                  <a:srgbClr val="282C34"/>
                </a:solidFill>
                <a:latin typeface="Tahoma"/>
              </a:rPr>
              <a:t>Session &amp; CAPTCHA Friction: </a:t>
            </a:r>
            <a:r>
              <a:rPr sz="1100" b="0">
                <a:solidFill>
                  <a:srgbClr val="282C34"/>
                </a:solidFill>
                <a:latin typeface="Tahoma"/>
              </a:rPr>
              <a:t>Repeated manual searches frequently time out or require constant re-entry of CAPTCHAs, halting research momentum.</a:t>
            </a:r>
          </a:p>
        </p:txBody>
      </p:sp>
      <p:sp>
        <p:nvSpPr>
          <p:cNvPr id="5" name="Rounded Rectangle 4"/>
          <p:cNvSpPr/>
          <p:nvPr/>
        </p:nvSpPr>
        <p:spPr>
          <a:xfrm>
            <a:off x="5120640" y="2286000"/>
            <a:ext cx="438912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t>Analytical &amp; Scalability Barriers</a:t>
            </a:r>
          </a:p>
          <a:p>
            <a:pPr>
              <a:spcAft>
                <a:spcPts val="300"/>
              </a:spcAft>
            </a:pPr>
            <a:r>
              <a:rPr sz="1100" b="1">
                <a:solidFill>
                  <a:srgbClr val="282C34"/>
                </a:solidFill>
                <a:latin typeface="Tahoma"/>
              </a:rPr>
              <a:t>No Relational Querying: </a:t>
            </a:r>
            <a:r>
              <a:rPr sz="1100" b="0">
                <a:solidFill>
                  <a:srgbClr val="282C34"/>
                </a:solidFill>
                <a:latin typeface="Tahoma"/>
              </a:rPr>
              <a:t>eCourts does not support querying across multi-variable parameters (e.g., comparing disposal stages across specific case types).</a:t>
            </a:r>
          </a:p>
          <a:p>
            <a:pPr>
              <a:spcAft>
                <a:spcPts val="300"/>
              </a:spcAft>
            </a:pPr>
            <a:r>
              <a:rPr sz="1100" b="1">
                <a:solidFill>
                  <a:srgbClr val="282C34"/>
                </a:solidFill>
                <a:latin typeface="Tahoma"/>
              </a:rPr>
              <a:t>Severe Scalability Limits: </a:t>
            </a:r>
            <a:r>
              <a:rPr sz="1100" b="0">
                <a:solidFill>
                  <a:srgbClr val="282C34"/>
                </a:solidFill>
                <a:latin typeface="Tahoma"/>
              </a:rPr>
              <a:t>Conducting empirical studies across hundreds or thousands of cases is practically impossible through manual copying.</a:t>
            </a:r>
          </a:p>
          <a:p>
            <a:pPr>
              <a:spcAft>
                <a:spcPts val="300"/>
              </a:spcAft>
            </a:pPr>
            <a:r>
              <a:rPr sz="1100" b="1">
                <a:solidFill>
                  <a:srgbClr val="282C34"/>
                </a:solidFill>
                <a:latin typeface="Tahoma"/>
              </a:rPr>
              <a:t>Data Inconsistency Risk: </a:t>
            </a:r>
            <a:r>
              <a:rPr sz="1100" b="0">
                <a:solidFill>
                  <a:srgbClr val="282C34"/>
                </a:solidFill>
                <a:latin typeface="Tahoma"/>
              </a:rPr>
              <a:t>Manual note-taking and copy-pasting lead to human transcription errors, missing fields, and unverified data.</a:t>
            </a:r>
          </a:p>
          <a:p>
            <a:pPr>
              <a:spcAft>
                <a:spcPts val="300"/>
              </a:spcAft>
            </a:pPr>
            <a:r>
              <a:rPr sz="1100" b="1">
                <a:solidFill>
                  <a:srgbClr val="282C34"/>
                </a:solidFill>
                <a:latin typeface="Tahoma"/>
              </a:rPr>
              <a:t>Loss of Analysis Time: </a:t>
            </a:r>
            <a:r>
              <a:rPr sz="1100" b="0">
                <a:solidFill>
                  <a:srgbClr val="282C34"/>
                </a:solidFill>
                <a:latin typeface="Tahoma"/>
              </a:rPr>
              <a:t>Over 80% of research time is consumed by basic data collection rather than substantive legal and policy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CONFIRMATION LETTER</a:t>
            </a:r>
          </a:p>
        </p:txBody>
      </p:sp>
      <p:sp>
        <p:nvSpPr>
          <p:cNvPr id="3" name="Rounded Rectangle 2"/>
          <p:cNvSpPr/>
          <p:nvPr/>
        </p:nvSpPr>
        <p:spPr>
          <a:xfrm>
            <a:off x="548640" y="1874519"/>
            <a:ext cx="2103120" cy="29260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2E7D32"/>
                </a:solidFill>
                <a:latin typeface="Tahoma"/>
              </a:defRPr>
            </a:pPr>
            <a:r>
              <a:t>OFFICIAL EVIDENCE</a:t>
            </a:r>
          </a:p>
        </p:txBody>
      </p:sp>
      <p:pic>
        <p:nvPicPr>
          <p:cNvPr id="6" name="Picture 5">
            <a:extLst>
              <a:ext uri="{FF2B5EF4-FFF2-40B4-BE49-F238E27FC236}">
                <a16:creationId xmlns:a16="http://schemas.microsoft.com/office/drawing/2014/main" id="{AF04CC97-FBF6-8BB0-A4A3-97F2AEAC89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641" y="1759688"/>
            <a:ext cx="5623559" cy="455681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NEED ANALYSIS</a:t>
            </a:r>
          </a:p>
        </p:txBody>
      </p:sp>
      <p:sp>
        <p:nvSpPr>
          <p:cNvPr id="3" name="Rounded Rectangle 2"/>
          <p:cNvSpPr/>
          <p:nvPr/>
        </p:nvSpPr>
        <p:spPr>
          <a:xfrm>
            <a:off x="548640" y="1874519"/>
            <a:ext cx="201168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1565C0"/>
                </a:solidFill>
                <a:latin typeface="Tahoma"/>
              </a:defRPr>
            </a:pPr>
            <a:r>
              <a:t>LOGICAL PROGRESSION</a:t>
            </a:r>
          </a:p>
        </p:txBody>
      </p:sp>
      <p:sp>
        <p:nvSpPr>
          <p:cNvPr id="4" name="Rounded Rectangle 3"/>
          <p:cNvSpPr/>
          <p:nvPr/>
        </p:nvSpPr>
        <p:spPr>
          <a:xfrm>
            <a:off x="548640" y="2240280"/>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0F2043"/>
                </a:solidFill>
                <a:latin typeface="Trebuchet MS"/>
              </a:rPr>
              <a:t>1. CURRENT STATE — </a:t>
            </a:r>
            <a:r>
              <a:rPr sz="1050">
                <a:solidFill>
                  <a:srgbClr val="282C34"/>
                </a:solidFill>
                <a:latin typeface="Tahoma"/>
              </a:rPr>
              <a:t>Researchers navigate individual eCourts portal pages and disparate case tabs manually.</a:t>
            </a:r>
          </a:p>
        </p:txBody>
      </p:sp>
      <p:sp>
        <p:nvSpPr>
          <p:cNvPr id="5" name="Rounded Rectangle 4"/>
          <p:cNvSpPr/>
          <p:nvPr/>
        </p:nvSpPr>
        <p:spPr>
          <a:xfrm>
            <a:off x="548640" y="2907792"/>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0F2043"/>
                </a:solidFill>
                <a:latin typeface="Trebuchet MS"/>
              </a:rPr>
              <a:t>2. STRUCTURAL CHALLENGE — </a:t>
            </a:r>
            <a:r>
              <a:rPr sz="1050">
                <a:solidFill>
                  <a:srgbClr val="282C34"/>
                </a:solidFill>
                <a:latin typeface="Tahoma"/>
              </a:rPr>
              <a:t>Relevant information is highly fragmented across case details, hearings, processes, and orders.</a:t>
            </a:r>
          </a:p>
        </p:txBody>
      </p:sp>
      <p:sp>
        <p:nvSpPr>
          <p:cNvPr id="6" name="Rounded Rectangle 5"/>
          <p:cNvSpPr/>
          <p:nvPr/>
        </p:nvSpPr>
        <p:spPr>
          <a:xfrm>
            <a:off x="548640" y="3575304"/>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0F2043"/>
                </a:solidFill>
                <a:latin typeface="Trebuchet MS"/>
              </a:rPr>
              <a:t>3. MANUAL BURDEN — </a:t>
            </a:r>
            <a:r>
              <a:rPr sz="1050">
                <a:solidFill>
                  <a:srgbClr val="282C34"/>
                </a:solidFill>
                <a:latin typeface="Tahoma"/>
              </a:rPr>
              <a:t>Repetitive manual lookup, note-taking, and copying cause severe human fatigue and transcription error.</a:t>
            </a:r>
          </a:p>
        </p:txBody>
      </p:sp>
      <p:sp>
        <p:nvSpPr>
          <p:cNvPr id="7" name="Rounded Rectangle 6"/>
          <p:cNvSpPr/>
          <p:nvPr/>
        </p:nvSpPr>
        <p:spPr>
          <a:xfrm>
            <a:off x="548640" y="4242816"/>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0F2043"/>
                </a:solidFill>
                <a:latin typeface="Trebuchet MS"/>
              </a:rPr>
              <a:t>4. SCALABILITY BOTTLENECK — </a:t>
            </a:r>
            <a:r>
              <a:rPr sz="1050">
                <a:solidFill>
                  <a:srgbClr val="282C34"/>
                </a:solidFill>
                <a:latin typeface="Tahoma"/>
              </a:rPr>
              <a:t>Empirical legal research cannot scale beyond small sample sizes due to massive labor overhead.</a:t>
            </a:r>
          </a:p>
        </p:txBody>
      </p:sp>
      <p:sp>
        <p:nvSpPr>
          <p:cNvPr id="8" name="Rounded Rectangle 7"/>
          <p:cNvSpPr/>
          <p:nvPr/>
        </p:nvSpPr>
        <p:spPr>
          <a:xfrm>
            <a:off x="548640" y="4910328"/>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0F2043"/>
                </a:solidFill>
                <a:latin typeface="Trebuchet MS"/>
              </a:rPr>
              <a:t>5. SYSTEMIC NEED — </a:t>
            </a:r>
            <a:r>
              <a:rPr sz="1050">
                <a:solidFill>
                  <a:srgbClr val="282C34"/>
                </a:solidFill>
                <a:latin typeface="Tahoma"/>
              </a:rPr>
              <a:t>A centralized, structured, and auditable judicial research information system.</a:t>
            </a:r>
          </a:p>
        </p:txBody>
      </p:sp>
      <p:sp>
        <p:nvSpPr>
          <p:cNvPr id="9" name="Rounded Rectangle 8"/>
          <p:cNvSpPr/>
          <p:nvPr/>
        </p:nvSpPr>
        <p:spPr>
          <a:xfrm>
            <a:off x="548640" y="5577840"/>
            <a:ext cx="8961120" cy="594360"/>
          </a:xfrm>
          <a:prstGeom prst="roundRect">
            <a:avLst/>
          </a:prstGeom>
          <a:solidFill>
            <a:srgbClr val="E3F2FD"/>
          </a:solidFill>
          <a:ln w="12700">
            <a:solidFill>
              <a:srgbClr val="1C3666"/>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1C3666"/>
                </a:solidFill>
                <a:latin typeface="Trebuchet MS"/>
              </a:rPr>
              <a:t>6. DAKSH SOLUTION — </a:t>
            </a:r>
            <a:r>
              <a:rPr sz="1050">
                <a:solidFill>
                  <a:srgbClr val="282C34"/>
                </a:solidFill>
                <a:latin typeface="Tahoma"/>
              </a:rPr>
              <a:t>End-to-end platform: Automated Data Layer + Structured Database + Researcher Workspace.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IMPACT IF THE PROBLEM REMAINS UNSOLVED</a:t>
            </a:r>
          </a:p>
        </p:txBody>
      </p:sp>
      <p:sp>
        <p:nvSpPr>
          <p:cNvPr id="3" name="Rounded Rectangle 2"/>
          <p:cNvSpPr/>
          <p:nvPr/>
        </p:nvSpPr>
        <p:spPr>
          <a:xfrm>
            <a:off x="548640" y="1874519"/>
            <a:ext cx="2194560" cy="292608"/>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E65100"/>
                </a:solidFill>
                <a:latin typeface="Tahoma"/>
              </a:defRPr>
            </a:pPr>
            <a:r>
              <a:t>CONSEQUENCE ANALYSIS</a:t>
            </a:r>
          </a:p>
        </p:txBody>
      </p:sp>
      <p:sp>
        <p:nvSpPr>
          <p:cNvPr id="4" name="Rounded Rectangle 3"/>
          <p:cNvSpPr/>
          <p:nvPr/>
        </p:nvSpPr>
        <p:spPr>
          <a:xfrm>
            <a:off x="548640" y="2286000"/>
            <a:ext cx="429768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t>Research &amp; Institutional Consequences</a:t>
            </a:r>
          </a:p>
          <a:p>
            <a:pPr>
              <a:spcAft>
                <a:spcPts val="300"/>
              </a:spcAft>
            </a:pPr>
            <a:r>
              <a:rPr sz="1100" b="1">
                <a:solidFill>
                  <a:srgbClr val="282C34"/>
                </a:solidFill>
                <a:latin typeface="Tahoma"/>
              </a:rPr>
              <a:t>Perpetual Manual Inefficiency: </a:t>
            </a:r>
            <a:r>
              <a:rPr sz="1100" b="0">
                <a:solidFill>
                  <a:srgbClr val="282C34"/>
                </a:solidFill>
                <a:latin typeface="Tahoma"/>
              </a:rPr>
              <a:t>Researchers will continue spending over 80% of project time on routine portal navigation and copy-pasting instead of data analysis.</a:t>
            </a:r>
          </a:p>
          <a:p>
            <a:pPr>
              <a:spcAft>
                <a:spcPts val="300"/>
              </a:spcAft>
            </a:pPr>
            <a:r>
              <a:rPr sz="1100" b="1">
                <a:solidFill>
                  <a:srgbClr val="282C34"/>
                </a:solidFill>
                <a:latin typeface="Tahoma"/>
              </a:rPr>
              <a:t>Severe Sample Size Limitations: </a:t>
            </a:r>
            <a:r>
              <a:rPr sz="1100" b="0">
                <a:solidFill>
                  <a:srgbClr val="282C34"/>
                </a:solidFill>
                <a:latin typeface="Tahoma"/>
              </a:rPr>
              <a:t>Judicial studies remain restricted to 20–50 cases, preventing macro-level empirical evaluation of court administration.</a:t>
            </a:r>
          </a:p>
          <a:p>
            <a:pPr>
              <a:spcAft>
                <a:spcPts val="300"/>
              </a:spcAft>
            </a:pPr>
            <a:r>
              <a:rPr sz="1100" b="1">
                <a:solidFill>
                  <a:srgbClr val="282C34"/>
                </a:solidFill>
                <a:latin typeface="Tahoma"/>
              </a:rPr>
              <a:t>Fragmented Institutional Datasets: </a:t>
            </a:r>
            <a:r>
              <a:rPr sz="1100" b="0">
                <a:solidFill>
                  <a:srgbClr val="282C34"/>
                </a:solidFill>
                <a:latin typeface="Tahoma"/>
              </a:rPr>
              <a:t>Every research team compiles isolated, ad-hoc spreadsheets without standardized schemas, hindering cross-study comparison.</a:t>
            </a:r>
          </a:p>
          <a:p>
            <a:pPr>
              <a:spcAft>
                <a:spcPts val="300"/>
              </a:spcAft>
            </a:pPr>
            <a:r>
              <a:rPr sz="1100" b="1">
                <a:solidFill>
                  <a:srgbClr val="282C34"/>
                </a:solidFill>
                <a:latin typeface="Tahoma"/>
              </a:rPr>
              <a:t>Incomplete Historical Context: </a:t>
            </a:r>
            <a:r>
              <a:rPr sz="1100" b="0">
                <a:solidFill>
                  <a:srgbClr val="282C34"/>
                </a:solidFill>
                <a:latin typeface="Tahoma"/>
              </a:rPr>
              <a:t>Failure to systematically capture daily status transcripts leads to lost procedural insights regarding case adjournments.</a:t>
            </a:r>
          </a:p>
        </p:txBody>
      </p:sp>
      <p:sp>
        <p:nvSpPr>
          <p:cNvPr id="5" name="Rounded Rectangle 4"/>
          <p:cNvSpPr/>
          <p:nvPr/>
        </p:nvSpPr>
        <p:spPr>
          <a:xfrm>
            <a:off x="5120640" y="2286000"/>
            <a:ext cx="438912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t>Policy &amp; Civic Consequences</a:t>
            </a:r>
          </a:p>
          <a:p>
            <a:pPr>
              <a:spcAft>
                <a:spcPts val="300"/>
              </a:spcAft>
            </a:pPr>
            <a:r>
              <a:rPr sz="1100" b="1">
                <a:solidFill>
                  <a:srgbClr val="282C34"/>
                </a:solidFill>
                <a:latin typeface="Tahoma"/>
              </a:rPr>
              <a:t>Delayed Evidence-Based Insights: </a:t>
            </a:r>
            <a:r>
              <a:rPr sz="1100" b="0">
                <a:solidFill>
                  <a:srgbClr val="282C34"/>
                </a:solidFill>
                <a:latin typeface="Tahoma"/>
              </a:rPr>
              <a:t>Policy think tanks and reform advocates lack aggregated empirical evidence to recommend procedural improvements.</a:t>
            </a:r>
          </a:p>
          <a:p>
            <a:pPr>
              <a:spcAft>
                <a:spcPts val="300"/>
              </a:spcAft>
            </a:pPr>
            <a:r>
              <a:rPr sz="1100" b="1">
                <a:solidFill>
                  <a:srgbClr val="282C34"/>
                </a:solidFill>
                <a:latin typeface="Tahoma"/>
              </a:rPr>
              <a:t>Barriers to Transparency: </a:t>
            </a:r>
            <a:r>
              <a:rPr sz="1100" b="0">
                <a:solidFill>
                  <a:srgbClr val="282C34"/>
                </a:solidFill>
                <a:latin typeface="Tahoma"/>
              </a:rPr>
              <a:t>Public court information remains technically public but practically inaccessible for comprehensive empirical auditing.</a:t>
            </a:r>
          </a:p>
          <a:p>
            <a:pPr>
              <a:spcAft>
                <a:spcPts val="300"/>
              </a:spcAft>
            </a:pPr>
            <a:r>
              <a:rPr sz="1100" b="1">
                <a:solidFill>
                  <a:srgbClr val="282C34"/>
                </a:solidFill>
                <a:latin typeface="Tahoma"/>
              </a:rPr>
              <a:t>Inability to Track Case Lifecycles: </a:t>
            </a:r>
            <a:r>
              <a:rPr sz="1100" b="0">
                <a:solidFill>
                  <a:srgbClr val="282C34"/>
                </a:solidFill>
                <a:latin typeface="Tahoma"/>
              </a:rPr>
              <a:t>Execution Petitions (EX) and pending decrees cannot be tracked longitudinally across years and court complexes.</a:t>
            </a:r>
          </a:p>
          <a:p>
            <a:pPr>
              <a:spcAft>
                <a:spcPts val="300"/>
              </a:spcAft>
            </a:pPr>
            <a:r>
              <a:rPr sz="1100" b="1">
                <a:solidFill>
                  <a:srgbClr val="282C34"/>
                </a:solidFill>
                <a:latin typeface="Tahoma"/>
              </a:rPr>
              <a:t>High Opportunity Cost: </a:t>
            </a:r>
            <a:r>
              <a:rPr sz="1100" b="0">
                <a:solidFill>
                  <a:srgbClr val="282C34"/>
                </a:solidFill>
                <a:latin typeface="Tahoma"/>
              </a:rPr>
              <a:t>Substantial academic funding and researcher effort are wasted on redundant manual data extraction.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PROBLEM STATEMENT</a:t>
            </a:r>
          </a:p>
        </p:txBody>
      </p:sp>
      <p:sp>
        <p:nvSpPr>
          <p:cNvPr id="3" name="Rounded Rectangle 2"/>
          <p:cNvSpPr/>
          <p:nvPr/>
        </p:nvSpPr>
        <p:spPr>
          <a:xfrm>
            <a:off x="548640" y="1874519"/>
            <a:ext cx="210312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1565C0"/>
                </a:solidFill>
                <a:latin typeface="Tahoma"/>
              </a:defRPr>
            </a:pPr>
            <a:r>
              <a:t>CORE FORMULATION</a:t>
            </a:r>
          </a:p>
        </p:txBody>
      </p:sp>
      <p:sp>
        <p:nvSpPr>
          <p:cNvPr id="4" name="Rounded Rectangle 3"/>
          <p:cNvSpPr/>
          <p:nvPr/>
        </p:nvSpPr>
        <p:spPr>
          <a:xfrm>
            <a:off x="548640" y="2286000"/>
            <a:ext cx="8961120" cy="393192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274320" tIns="182880" rIns="274320" rtlCol="0" anchor="ctr"/>
          <a:lstStyle/>
          <a:p>
            <a:pPr algn="ctr">
              <a:spcAft>
                <a:spcPts val="1000"/>
              </a:spcAft>
              <a:defRPr sz="1400" b="1">
                <a:solidFill>
                  <a:srgbClr val="0F2043"/>
                </a:solidFill>
                <a:latin typeface="Trebuchet MS"/>
              </a:defRPr>
            </a:pPr>
            <a:r>
              <a:t>Formal Problem Formulation</a:t>
            </a:r>
          </a:p>
          <a:p>
            <a:pPr>
              <a:spcAft>
                <a:spcPts val="1400"/>
              </a:spcAft>
              <a:defRPr sz="1200" i="1">
                <a:solidFill>
                  <a:srgbClr val="1C3666"/>
                </a:solidFill>
                <a:latin typeface="Georgia"/>
              </a:defRPr>
            </a:pPr>
            <a:r>
              <a:t>“Judicial researchers investigating court administration and case workflows are severely hindered by the fragmented, multi-page structure of public court portals. The lack of a centralized, structured database and researcher-centric query workspace turns large-scale case analysis into an error-prone, repetitive, and labor-intensive manual endeavor. There is an urgent need for an integrated judicial research platform that systematically acquires, validates, and normalizes public eCourts data into structured records, providing an intuitive workspace for rich search, multidimensional filtering, and downstream analytical exploration.”</a:t>
            </a:r>
          </a:p>
          <a:p>
            <a:pPr>
              <a:spcAft>
                <a:spcPts val="400"/>
              </a:spcAft>
            </a:pPr>
            <a:r>
              <a:rPr sz="1050" b="1">
                <a:solidFill>
                  <a:srgbClr val="0F2043"/>
                </a:solidFill>
                <a:latin typeface="Tahoma"/>
              </a:rPr>
              <a:t>• Data Fragmentation: </a:t>
            </a:r>
            <a:r>
              <a:rPr sz="1050">
                <a:solidFill>
                  <a:srgbClr val="282C34"/>
                </a:solidFill>
                <a:latin typeface="Tahoma"/>
              </a:rPr>
              <a:t>Disjointed storage across multiple HTML pages and popups without unified indexing.</a:t>
            </a:r>
          </a:p>
          <a:p>
            <a:pPr>
              <a:spcAft>
                <a:spcPts val="400"/>
              </a:spcAft>
            </a:pPr>
            <a:r>
              <a:rPr sz="1050" b="1">
                <a:solidFill>
                  <a:srgbClr val="0F2043"/>
                </a:solidFill>
                <a:latin typeface="Tahoma"/>
              </a:rPr>
              <a:t>• Manual Friction: </a:t>
            </a:r>
            <a:r>
              <a:rPr sz="1050">
                <a:solidFill>
                  <a:srgbClr val="282C34"/>
                </a:solidFill>
                <a:latin typeface="Tahoma"/>
              </a:rPr>
              <a:t>High manual overhead for CAPTCHAs, search navigation, and spreadsheet transcription.</a:t>
            </a:r>
          </a:p>
          <a:p>
            <a:pPr>
              <a:spcAft>
                <a:spcPts val="400"/>
              </a:spcAft>
            </a:pPr>
            <a:r>
              <a:rPr sz="1050" b="1">
                <a:solidFill>
                  <a:srgbClr val="0F2043"/>
                </a:solidFill>
                <a:latin typeface="Tahoma"/>
              </a:rPr>
              <a:t>• Platform Necessity: </a:t>
            </a:r>
            <a:r>
              <a:rPr sz="1050">
                <a:solidFill>
                  <a:srgbClr val="282C34"/>
                </a:solidFill>
                <a:latin typeface="Tahoma"/>
              </a:rPr>
              <a:t>Requirement for an end-to-end system: Ingestion → Normalized Database → Researcher UI/UX.</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PROJECT OBJECTIVES</a:t>
            </a:r>
          </a:p>
        </p:txBody>
      </p:sp>
      <p:sp>
        <p:nvSpPr>
          <p:cNvPr id="3" name="Rounded Rectangle 2"/>
          <p:cNvSpPr/>
          <p:nvPr/>
        </p:nvSpPr>
        <p:spPr>
          <a:xfrm>
            <a:off x="548640" y="1874519"/>
            <a:ext cx="2194560" cy="29260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2E7D32"/>
                </a:solidFill>
                <a:latin typeface="Tahoma"/>
              </a:defRPr>
            </a:pPr>
            <a:r>
              <a:t>PLATFORM GOALS</a:t>
            </a:r>
          </a:p>
        </p:txBody>
      </p:sp>
      <p:sp>
        <p:nvSpPr>
          <p:cNvPr id="4" name="Rounded Rectangle 3"/>
          <p:cNvSpPr/>
          <p:nvPr/>
        </p:nvSpPr>
        <p:spPr>
          <a:xfrm>
            <a:off x="548640" y="2286000"/>
            <a:ext cx="4343400" cy="11887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ctr">
              <a:spcAft>
                <a:spcPts val="200"/>
              </a:spcAft>
              <a:defRPr sz="1150" b="1">
                <a:solidFill>
                  <a:srgbClr val="1C3666"/>
                </a:solidFill>
                <a:latin typeface="Trebuchet MS"/>
              </a:defRPr>
            </a:pPr>
            <a:r>
              <a:t>1. Automated Data Acquisition</a:t>
            </a:r>
          </a:p>
          <a:p>
            <a:pPr>
              <a:defRPr sz="1000">
                <a:solidFill>
                  <a:srgbClr val="282C34"/>
                </a:solidFill>
                <a:latin typeface="Tahoma"/>
              </a:defRPr>
            </a:pPr>
            <a:r>
              <a:t>Systematically collect publicly available case records, hearing histories, daily status logs, processes, and orders from the eCourts portal using Playwright automation.</a:t>
            </a:r>
          </a:p>
        </p:txBody>
      </p:sp>
      <p:sp>
        <p:nvSpPr>
          <p:cNvPr id="5" name="Rounded Rectangle 4"/>
          <p:cNvSpPr/>
          <p:nvPr/>
        </p:nvSpPr>
        <p:spPr>
          <a:xfrm>
            <a:off x="5120640" y="2286000"/>
            <a:ext cx="4343400" cy="11887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ctr">
              <a:spcAft>
                <a:spcPts val="200"/>
              </a:spcAft>
              <a:defRPr sz="1150" b="1">
                <a:solidFill>
                  <a:srgbClr val="1C3666"/>
                </a:solidFill>
                <a:latin typeface="Trebuchet MS"/>
              </a:defRPr>
            </a:pPr>
            <a:r>
              <a:t>2. Structured Information Modeling</a:t>
            </a:r>
          </a:p>
          <a:p>
            <a:pPr>
              <a:defRPr sz="1000">
                <a:solidFill>
                  <a:srgbClr val="282C34"/>
                </a:solidFill>
                <a:latin typeface="Tahoma"/>
              </a:defRPr>
            </a:pPr>
            <a:r>
              <a:t>Organize extracted case details into normalized, strongly-typed relational records (CNR, registration details, parties, acts, hearings, business transcripts).</a:t>
            </a:r>
          </a:p>
        </p:txBody>
      </p:sp>
      <p:sp>
        <p:nvSpPr>
          <p:cNvPr id="6" name="Rounded Rectangle 5"/>
          <p:cNvSpPr/>
          <p:nvPr/>
        </p:nvSpPr>
        <p:spPr>
          <a:xfrm>
            <a:off x="548640" y="3584448"/>
            <a:ext cx="4343400" cy="11887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ctr">
              <a:spcAft>
                <a:spcPts val="200"/>
              </a:spcAft>
              <a:defRPr sz="1150" b="1">
                <a:solidFill>
                  <a:srgbClr val="1C3666"/>
                </a:solidFill>
                <a:latin typeface="Trebuchet MS"/>
              </a:defRPr>
            </a:pPr>
            <a:r>
              <a:t>3. Relational Storage Architecture</a:t>
            </a:r>
          </a:p>
          <a:p>
            <a:pPr>
              <a:defRPr sz="1000">
                <a:solidFill>
                  <a:srgbClr val="282C34"/>
                </a:solidFill>
                <a:latin typeface="Tahoma"/>
              </a:defRPr>
            </a:pPr>
            <a:r>
              <a:t>Develop a structured database schema and export pipeline preserving complete case context with zero data loss and full Unicode (Kannada) fidelity.</a:t>
            </a:r>
          </a:p>
        </p:txBody>
      </p:sp>
      <p:sp>
        <p:nvSpPr>
          <p:cNvPr id="7" name="Rounded Rectangle 6"/>
          <p:cNvSpPr/>
          <p:nvPr/>
        </p:nvSpPr>
        <p:spPr>
          <a:xfrm>
            <a:off x="5120640" y="3584448"/>
            <a:ext cx="4343400" cy="11887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ctr">
              <a:spcAft>
                <a:spcPts val="200"/>
              </a:spcAft>
              <a:defRPr sz="1150" b="1">
                <a:solidFill>
                  <a:srgbClr val="1C3666"/>
                </a:solidFill>
                <a:latin typeface="Trebuchet MS"/>
              </a:defRPr>
            </a:pPr>
            <a:r>
              <a:t>4. Intuitive Researcher UI/UX</a:t>
            </a:r>
          </a:p>
          <a:p>
            <a:pPr>
              <a:defRPr sz="1000">
                <a:solidFill>
                  <a:srgbClr val="282C34"/>
                </a:solidFill>
                <a:latin typeface="Tahoma"/>
              </a:defRPr>
            </a:pPr>
            <a:r>
              <a:t>Design a centralized web workspace providing multi-parameter search, dynamic court/case-type dropdowns, and tabbed case inspection views.</a:t>
            </a:r>
          </a:p>
        </p:txBody>
      </p:sp>
      <p:sp>
        <p:nvSpPr>
          <p:cNvPr id="8" name="Rounded Rectangle 7"/>
          <p:cNvSpPr/>
          <p:nvPr/>
        </p:nvSpPr>
        <p:spPr>
          <a:xfrm>
            <a:off x="548640" y="4882896"/>
            <a:ext cx="4343400" cy="11887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ctr">
              <a:spcAft>
                <a:spcPts val="200"/>
              </a:spcAft>
              <a:defRPr sz="1150" b="1">
                <a:solidFill>
                  <a:srgbClr val="1C3666"/>
                </a:solidFill>
                <a:latin typeface="Trebuchet MS"/>
              </a:defRPr>
            </a:pPr>
            <a:r>
              <a:t>5. Elimination of Manual Overhead</a:t>
            </a:r>
          </a:p>
          <a:p>
            <a:pPr>
              <a:defRPr sz="1000">
                <a:solidFill>
                  <a:srgbClr val="282C34"/>
                </a:solidFill>
                <a:latin typeface="Tahoma"/>
              </a:defRPr>
            </a:pPr>
            <a:r>
              <a:t>Dramatically reduce repetitive manual lookup time, enabling empirical researchers to focus on data analysis rather than data retrieval.</a:t>
            </a:r>
          </a:p>
        </p:txBody>
      </p:sp>
      <p:sp>
        <p:nvSpPr>
          <p:cNvPr id="9" name="Rounded Rectangle 8"/>
          <p:cNvSpPr/>
          <p:nvPr/>
        </p:nvSpPr>
        <p:spPr>
          <a:xfrm>
            <a:off x="5120640" y="4882896"/>
            <a:ext cx="4343400" cy="11887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ctr">
              <a:spcAft>
                <a:spcPts val="200"/>
              </a:spcAft>
              <a:defRPr sz="1150" b="1">
                <a:solidFill>
                  <a:srgbClr val="1C3666"/>
                </a:solidFill>
                <a:latin typeface="Trebuchet MS"/>
              </a:defRPr>
            </a:pPr>
            <a:r>
              <a:t>6. Foundation for Future AI/ML</a:t>
            </a:r>
          </a:p>
          <a:p>
            <a:pPr>
              <a:defRPr sz="1000">
                <a:solidFill>
                  <a:srgbClr val="282C34"/>
                </a:solidFill>
                <a:latin typeface="Tahoma"/>
              </a:defRPr>
            </a:pPr>
            <a:r>
              <a:t>Establish an auditable data foundation capable of supporting future case similarity clustering, pendency trend analytics, and researcher-defined prioritization.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PROPOSED SYSTEM ARCHITECTURE</a:t>
            </a:r>
          </a:p>
        </p:txBody>
      </p:sp>
      <p:sp>
        <p:nvSpPr>
          <p:cNvPr id="3" name="Rounded Rectangle 2"/>
          <p:cNvSpPr/>
          <p:nvPr/>
        </p:nvSpPr>
        <p:spPr>
          <a:xfrm>
            <a:off x="548640" y="1874519"/>
            <a:ext cx="219456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1565C0"/>
                </a:solidFill>
                <a:latin typeface="Tahoma"/>
              </a:defRPr>
            </a:pPr>
            <a:r>
              <a:t>MULTI-TIER PLATFORM</a:t>
            </a:r>
          </a:p>
        </p:txBody>
      </p:sp>
      <p:sp>
        <p:nvSpPr>
          <p:cNvPr id="4" name="Rounded Rectangle 3"/>
          <p:cNvSpPr/>
          <p:nvPr/>
        </p:nvSpPr>
        <p:spPr>
          <a:xfrm>
            <a:off x="548640" y="2240280"/>
            <a:ext cx="8961120" cy="493776"/>
          </a:xfrm>
          <a:prstGeom prst="roundRect">
            <a:avLst/>
          </a:prstGeom>
          <a:solidFill>
            <a:srgbClr val="FFF8E1"/>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54864" rtlCol="0" anchor="ctr"/>
          <a:lstStyle/>
          <a:p>
            <a:pPr algn="ctr"/>
            <a:r>
              <a:rPr sz="1050" b="1">
                <a:solidFill>
                  <a:srgbClr val="E65100"/>
                </a:solidFill>
                <a:latin typeface="Trebuchet MS"/>
              </a:rPr>
              <a:t>TIER 1: PUBLIC DATA SOURCE → </a:t>
            </a:r>
            <a:r>
              <a:rPr sz="1000">
                <a:solidFill>
                  <a:srgbClr val="282C34"/>
                </a:solidFill>
                <a:latin typeface="Tahoma"/>
              </a:rPr>
              <a:t>Official eCourts Services Portal (District Courts / City Civil Court Complexes)</a:t>
            </a:r>
          </a:p>
        </p:txBody>
      </p:sp>
      <p:sp>
        <p:nvSpPr>
          <p:cNvPr id="5" name="Rounded Rectangle 4"/>
          <p:cNvSpPr/>
          <p:nvPr/>
        </p:nvSpPr>
        <p:spPr>
          <a:xfrm>
            <a:off x="548640" y="2798064"/>
            <a:ext cx="8961120" cy="493776"/>
          </a:xfrm>
          <a:prstGeom prst="roundRect">
            <a:avLst/>
          </a:prstGeom>
          <a:solidFill>
            <a:srgbClr val="E3F2FD"/>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54864" rtlCol="0" anchor="ctr"/>
          <a:lstStyle/>
          <a:p>
            <a:pPr algn="ctr"/>
            <a:r>
              <a:rPr sz="1050" b="1">
                <a:solidFill>
                  <a:srgbClr val="1565C0"/>
                </a:solidFill>
                <a:latin typeface="Trebuchet MS"/>
              </a:rPr>
              <a:t>TIER 2: DATA ACQUISITION LAYER → </a:t>
            </a:r>
            <a:r>
              <a:rPr sz="1000">
                <a:solidFill>
                  <a:srgbClr val="282C34"/>
                </a:solidFill>
                <a:latin typeface="Tahoma"/>
              </a:rPr>
              <a:t>Python 3.12 + Playwright Automation | Session Lifecycle &amp; Human-in-the-Loop CAPTCHA</a:t>
            </a:r>
          </a:p>
        </p:txBody>
      </p:sp>
      <p:sp>
        <p:nvSpPr>
          <p:cNvPr id="6" name="Rounded Rectangle 5"/>
          <p:cNvSpPr/>
          <p:nvPr/>
        </p:nvSpPr>
        <p:spPr>
          <a:xfrm>
            <a:off x="548640" y="3355848"/>
            <a:ext cx="8961120" cy="493776"/>
          </a:xfrm>
          <a:prstGeom prst="roundRect">
            <a:avLst/>
          </a:prstGeom>
          <a:solidFill>
            <a:srgbClr val="E8F5E9"/>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54864" rtlCol="0" anchor="ctr"/>
          <a:lstStyle/>
          <a:p>
            <a:pPr algn="ctr"/>
            <a:r>
              <a:rPr sz="1050" b="1">
                <a:solidFill>
                  <a:srgbClr val="2E7D32"/>
                </a:solidFill>
                <a:latin typeface="Trebuchet MS"/>
              </a:rPr>
              <a:t>TIER 3: PARSING &amp; VALIDATION → </a:t>
            </a:r>
            <a:r>
              <a:rPr sz="1000">
                <a:solidFill>
                  <a:srgbClr val="282C34"/>
                </a:solidFill>
                <a:latin typeface="Tahoma"/>
              </a:rPr>
              <a:t>BeautifulSoup4 DOM Extraction | 100% Zero-Loss Field Audit Suite &amp; Parity Verifier</a:t>
            </a:r>
          </a:p>
        </p:txBody>
      </p:sp>
      <p:sp>
        <p:nvSpPr>
          <p:cNvPr id="7" name="Rounded Rectangle 6"/>
          <p:cNvSpPr/>
          <p:nvPr/>
        </p:nvSpPr>
        <p:spPr>
          <a:xfrm>
            <a:off x="548640" y="3913632"/>
            <a:ext cx="8961120" cy="493776"/>
          </a:xfrm>
          <a:prstGeom prst="roundRect">
            <a:avLst/>
          </a:prstGeom>
          <a:solidFill>
            <a:srgbClr val="E3F2FD"/>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54864" rtlCol="0" anchor="ctr"/>
          <a:lstStyle/>
          <a:p>
            <a:pPr algn="ctr"/>
            <a:r>
              <a:rPr sz="1050" b="1">
                <a:solidFill>
                  <a:srgbClr val="1565C0"/>
                </a:solidFill>
                <a:latin typeface="Trebuchet MS"/>
              </a:rPr>
              <a:t>TIER 4: STRUCTURED STORAGE → </a:t>
            </a:r>
            <a:r>
              <a:rPr sz="1000">
                <a:solidFill>
                  <a:srgbClr val="282C34"/>
                </a:solidFill>
                <a:latin typeface="Tahoma"/>
              </a:rPr>
              <a:t>Normalized Data Models | Relational Schema, JSON Records, Consolidated Master CSV/XLSX</a:t>
            </a:r>
          </a:p>
        </p:txBody>
      </p:sp>
      <p:sp>
        <p:nvSpPr>
          <p:cNvPr id="8" name="Rounded Rectangle 7"/>
          <p:cNvSpPr/>
          <p:nvPr/>
        </p:nvSpPr>
        <p:spPr>
          <a:xfrm>
            <a:off x="548640" y="4471416"/>
            <a:ext cx="8961120" cy="493776"/>
          </a:xfrm>
          <a:prstGeom prst="roundRect">
            <a:avLst/>
          </a:prstGeom>
          <a:solidFill>
            <a:srgbClr val="E8F5E9"/>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54864" rtlCol="0" anchor="ctr"/>
          <a:lstStyle/>
          <a:p>
            <a:pPr algn="ctr"/>
            <a:r>
              <a:rPr sz="1050" b="1">
                <a:solidFill>
                  <a:srgbClr val="2E7D32"/>
                </a:solidFill>
                <a:latin typeface="Trebuchet MS"/>
              </a:rPr>
              <a:t>TIER 5: DAKSH APPLICATION CORE → </a:t>
            </a:r>
            <a:r>
              <a:rPr sz="1000">
                <a:solidFill>
                  <a:srgbClr val="282C34"/>
                </a:solidFill>
                <a:latin typeface="Tahoma"/>
              </a:rPr>
              <a:t>Query Engine, Multi-Parameter Filters, Case Workspace Router &amp; Aggregation APIs</a:t>
            </a:r>
          </a:p>
        </p:txBody>
      </p:sp>
      <p:sp>
        <p:nvSpPr>
          <p:cNvPr id="9" name="Rounded Rectangle 8"/>
          <p:cNvSpPr/>
          <p:nvPr/>
        </p:nvSpPr>
        <p:spPr>
          <a:xfrm>
            <a:off x="548640" y="5029200"/>
            <a:ext cx="8961120" cy="493776"/>
          </a:xfrm>
          <a:prstGeom prst="roundRect">
            <a:avLst/>
          </a:prstGeom>
          <a:solidFill>
            <a:srgbClr val="E3F2FD"/>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54864" rtlCol="0" anchor="ctr"/>
          <a:lstStyle/>
          <a:p>
            <a:pPr algn="ctr"/>
            <a:r>
              <a:rPr sz="1050" b="1">
                <a:solidFill>
                  <a:srgbClr val="1565C0"/>
                </a:solidFill>
                <a:latin typeface="Trebuchet MS"/>
              </a:rPr>
              <a:t>TIER 6: RESEARCHER UI/UX WORKSPACE → </a:t>
            </a:r>
            <a:r>
              <a:rPr sz="1000">
                <a:solidFill>
                  <a:srgbClr val="282C34"/>
                </a:solidFill>
                <a:latin typeface="Tahoma"/>
              </a:rPr>
              <a:t>Search Bar, District/Type Dropdowns, Case Details, Hearing History, Daily Status &amp; Orders</a:t>
            </a:r>
          </a:p>
        </p:txBody>
      </p:sp>
      <p:sp>
        <p:nvSpPr>
          <p:cNvPr id="10" name="Rounded Rectangle 9"/>
          <p:cNvSpPr/>
          <p:nvPr/>
        </p:nvSpPr>
        <p:spPr>
          <a:xfrm>
            <a:off x="548640" y="5586984"/>
            <a:ext cx="8961120" cy="493776"/>
          </a:xfrm>
          <a:prstGeom prst="roundRect">
            <a:avLst/>
          </a:prstGeom>
          <a:solidFill>
            <a:srgbClr val="F3E5F5"/>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54864" rtlCol="0" anchor="ctr"/>
          <a:lstStyle/>
          <a:p>
            <a:pPr algn="ctr"/>
            <a:r>
              <a:rPr sz="1050" b="1">
                <a:solidFill>
                  <a:srgbClr val="7B1FA2"/>
                </a:solidFill>
                <a:latin typeface="Trebuchet MS"/>
              </a:rPr>
              <a:t>TIER 7: FUTURE AI / ML INTELLIGENCE → </a:t>
            </a:r>
            <a:r>
              <a:rPr sz="1000">
                <a:solidFill>
                  <a:srgbClr val="282C34"/>
                </a:solidFill>
                <a:latin typeface="Tahoma"/>
              </a:rPr>
              <a:t>Case Clustering, Pendency Trend Analytics &amp; Decision-Support Case Priority Queue [FUTURE]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DATA ACQUISITION LAYER</a:t>
            </a:r>
          </a:p>
        </p:txBody>
      </p:sp>
      <p:sp>
        <p:nvSpPr>
          <p:cNvPr id="3" name="Rounded Rectangle 2"/>
          <p:cNvSpPr/>
          <p:nvPr/>
        </p:nvSpPr>
        <p:spPr>
          <a:xfrm>
            <a:off x="548640" y="1874519"/>
            <a:ext cx="2468880" cy="29260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2E7D32"/>
                </a:solidFill>
                <a:latin typeface="Tahoma"/>
              </a:defRPr>
            </a:pPr>
            <a:r>
              <a:t>FOUNDATIONAL INGESTION TIER</a:t>
            </a:r>
          </a:p>
        </p:txBody>
      </p:sp>
      <p:sp>
        <p:nvSpPr>
          <p:cNvPr id="4" name="Rounded Rectangle 3"/>
          <p:cNvSpPr/>
          <p:nvPr/>
        </p:nvSpPr>
        <p:spPr>
          <a:xfrm>
            <a:off x="548640" y="2286000"/>
            <a:ext cx="429768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t>Automated Navigation &amp; Ingestion</a:t>
            </a:r>
          </a:p>
          <a:p>
            <a:pPr>
              <a:spcAft>
                <a:spcPts val="300"/>
              </a:spcAft>
            </a:pPr>
            <a:r>
              <a:rPr sz="1100" b="1">
                <a:solidFill>
                  <a:srgbClr val="282C34"/>
                </a:solidFill>
                <a:latin typeface="Tahoma"/>
              </a:rPr>
              <a:t>Role in Hierarchy: </a:t>
            </a:r>
            <a:r>
              <a:rPr sz="1100" b="0">
                <a:solidFill>
                  <a:srgbClr val="282C34"/>
                </a:solidFill>
                <a:latin typeface="Tahoma"/>
              </a:rPr>
              <a:t>Scraping is strictly the data acquisition foundation — not the final research application.</a:t>
            </a:r>
          </a:p>
          <a:p>
            <a:pPr>
              <a:spcAft>
                <a:spcPts val="300"/>
              </a:spcAft>
            </a:pPr>
            <a:r>
              <a:rPr sz="1100" b="1">
                <a:solidFill>
                  <a:srgbClr val="282C34"/>
                </a:solidFill>
                <a:latin typeface="Tahoma"/>
              </a:rPr>
              <a:t>Target Portal: </a:t>
            </a:r>
            <a:r>
              <a:rPr sz="1100" b="0">
                <a:solidFill>
                  <a:srgbClr val="282C34"/>
                </a:solidFill>
                <a:latin typeface="Tahoma"/>
              </a:rPr>
              <a:t>eCourts Case Status Portal (Search by Case Type / Complex).</a:t>
            </a:r>
          </a:p>
          <a:p>
            <a:pPr>
              <a:spcAft>
                <a:spcPts val="300"/>
              </a:spcAft>
            </a:pPr>
            <a:r>
              <a:rPr sz="1100" b="1">
                <a:solidFill>
                  <a:srgbClr val="282C34"/>
                </a:solidFill>
                <a:latin typeface="Tahoma"/>
              </a:rPr>
              <a:t>State &amp; District Selection: </a:t>
            </a:r>
            <a:r>
              <a:rPr sz="1100" b="0">
                <a:solidFill>
                  <a:srgbClr val="282C34"/>
                </a:solidFill>
                <a:latin typeface="Tahoma"/>
              </a:rPr>
              <a:t>Automated dropdown selection for Karnataka / BENGALURU City Civil Court Complex.</a:t>
            </a:r>
          </a:p>
          <a:p>
            <a:pPr>
              <a:spcAft>
                <a:spcPts val="300"/>
              </a:spcAft>
            </a:pPr>
            <a:r>
              <a:rPr sz="1100" b="1">
                <a:solidFill>
                  <a:srgbClr val="282C34"/>
                </a:solidFill>
                <a:latin typeface="Tahoma"/>
              </a:rPr>
              <a:t>Establishment &amp; Case Type: </a:t>
            </a:r>
            <a:r>
              <a:rPr sz="1100" b="0">
                <a:solidFill>
                  <a:srgbClr val="282C34"/>
                </a:solidFill>
                <a:latin typeface="Tahoma"/>
              </a:rPr>
              <a:t>PRL. CITY CIVIL AND SESSIONS JUDGE / EX – Execution Petition Under Order.</a:t>
            </a:r>
          </a:p>
          <a:p>
            <a:pPr>
              <a:spcAft>
                <a:spcPts val="300"/>
              </a:spcAft>
            </a:pPr>
            <a:r>
              <a:rPr sz="1100" b="1">
                <a:solidFill>
                  <a:srgbClr val="282C34"/>
                </a:solidFill>
                <a:latin typeface="Tahoma"/>
              </a:rPr>
              <a:t>CAPTCHA Handling: </a:t>
            </a:r>
            <a:r>
              <a:rPr sz="1100" b="0">
                <a:solidFill>
                  <a:srgbClr val="282C34"/>
                </a:solidFill>
                <a:latin typeface="Tahoma"/>
              </a:rPr>
              <a:t>Clean pause workflow for human-in-the-loop CAPTCHA entry to ensure reliability.</a:t>
            </a:r>
          </a:p>
        </p:txBody>
      </p:sp>
      <p:sp>
        <p:nvSpPr>
          <p:cNvPr id="5" name="Rounded Rectangle 4"/>
          <p:cNvSpPr/>
          <p:nvPr/>
        </p:nvSpPr>
        <p:spPr>
          <a:xfrm>
            <a:off x="5120640" y="2286000"/>
            <a:ext cx="438912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t>Deep Section Extraction Workflow</a:t>
            </a:r>
          </a:p>
          <a:p>
            <a:pPr>
              <a:spcAft>
                <a:spcPts val="300"/>
              </a:spcAft>
            </a:pPr>
            <a:r>
              <a:rPr sz="1100" b="1">
                <a:solidFill>
                  <a:srgbClr val="282C34"/>
                </a:solidFill>
                <a:latin typeface="Tahoma"/>
              </a:rPr>
              <a:t>Case Details: </a:t>
            </a:r>
            <a:r>
              <a:rPr sz="1100" b="0">
                <a:solidFill>
                  <a:srgbClr val="282C34"/>
                </a:solidFill>
                <a:latin typeface="Tahoma"/>
              </a:rPr>
              <a:t>Filing/Registration numbers, CNR, first hearing, decision date, case status, judge.</a:t>
            </a:r>
          </a:p>
          <a:p>
            <a:pPr>
              <a:spcAft>
                <a:spcPts val="300"/>
              </a:spcAft>
            </a:pPr>
            <a:r>
              <a:rPr sz="1100" b="1">
                <a:solidFill>
                  <a:srgbClr val="282C34"/>
                </a:solidFill>
                <a:latin typeface="Tahoma"/>
              </a:rPr>
              <a:t>Parties &amp; Advocates: </a:t>
            </a:r>
            <a:r>
              <a:rPr sz="1100" b="0">
                <a:solidFill>
                  <a:srgbClr val="282C34"/>
                </a:solidFill>
                <a:latin typeface="Tahoma"/>
              </a:rPr>
              <a:t>Complete petitioner and respondent hierarchies with assigned legal counsel.</a:t>
            </a:r>
          </a:p>
          <a:p>
            <a:pPr>
              <a:spcAft>
                <a:spcPts val="300"/>
              </a:spcAft>
            </a:pPr>
            <a:r>
              <a:rPr sz="1100" b="1">
                <a:solidFill>
                  <a:srgbClr val="282C34"/>
                </a:solidFill>
                <a:latin typeface="Tahoma"/>
              </a:rPr>
              <a:t>Acts &amp; Sections: </a:t>
            </a:r>
            <a:r>
              <a:rPr sz="1100" b="0">
                <a:solidFill>
                  <a:srgbClr val="282C34"/>
                </a:solidFill>
                <a:latin typeface="Tahoma"/>
              </a:rPr>
              <a:t>Exhaustive extraction of statutory provisions and sections invoked.</a:t>
            </a:r>
          </a:p>
          <a:p>
            <a:pPr>
              <a:spcAft>
                <a:spcPts val="300"/>
              </a:spcAft>
            </a:pPr>
            <a:r>
              <a:rPr sz="1100" b="1">
                <a:solidFill>
                  <a:srgbClr val="282C34"/>
                </a:solidFill>
                <a:latin typeface="Tahoma"/>
              </a:rPr>
              <a:t>Case History: </a:t>
            </a:r>
            <a:r>
              <a:rPr sz="1100" b="0">
                <a:solidFill>
                  <a:srgbClr val="282C34"/>
                </a:solidFill>
                <a:latin typeface="Tahoma"/>
              </a:rPr>
              <a:t>Every hearing row: Judge, Business Date, Hearing Date, Purpose of Hearing.</a:t>
            </a:r>
          </a:p>
          <a:p>
            <a:pPr>
              <a:spcAft>
                <a:spcPts val="300"/>
              </a:spcAft>
            </a:pPr>
            <a:r>
              <a:rPr sz="1100" b="1">
                <a:solidFill>
                  <a:srgbClr val="282C34"/>
                </a:solidFill>
                <a:latin typeface="Tahoma"/>
              </a:rPr>
              <a:t>Orders &amp; Daily Status: </a:t>
            </a:r>
            <a:r>
              <a:rPr sz="1100" b="0">
                <a:solidFill>
                  <a:srgbClr val="282C34"/>
                </a:solidFill>
                <a:latin typeface="Tahoma"/>
              </a:rPr>
              <a:t>Visits EVERY order hyperlink; extracts complete judicial business transcripts.</a:t>
            </a:r>
          </a:p>
          <a:p>
            <a:pPr>
              <a:spcAft>
                <a:spcPts val="300"/>
              </a:spcAft>
            </a:pPr>
            <a:r>
              <a:rPr sz="1100" b="1">
                <a:solidFill>
                  <a:srgbClr val="282C34"/>
                </a:solidFill>
                <a:latin typeface="Tahoma"/>
              </a:rPr>
              <a:t>Zero Data Loss Audit: </a:t>
            </a:r>
            <a:r>
              <a:rPr sz="1100" b="0">
                <a:solidFill>
                  <a:srgbClr val="282C34"/>
                </a:solidFill>
                <a:latin typeface="Tahoma"/>
              </a:rPr>
              <a:t>Automated parity auditor verifies Web DOM == JSON == CSV == XLSX.</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STRUCTURED DATABASE &amp; INFORMATION MODEL</a:t>
            </a:r>
          </a:p>
        </p:txBody>
      </p:sp>
      <p:sp>
        <p:nvSpPr>
          <p:cNvPr id="3" name="Rounded Rectangle 2"/>
          <p:cNvSpPr/>
          <p:nvPr/>
        </p:nvSpPr>
        <p:spPr>
          <a:xfrm>
            <a:off x="548640" y="1874519"/>
            <a:ext cx="228600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1565C0"/>
                </a:solidFill>
                <a:latin typeface="Tahoma"/>
              </a:defRPr>
            </a:pPr>
            <a:r>
              <a:t>RELATIONAL SCHEMA</a:t>
            </a:r>
          </a:p>
        </p:txBody>
      </p:sp>
      <p:sp>
        <p:nvSpPr>
          <p:cNvPr id="4" name="Rounded Rectangle 3"/>
          <p:cNvSpPr/>
          <p:nvPr/>
        </p:nvSpPr>
        <p:spPr>
          <a:xfrm>
            <a:off x="548640" y="2286000"/>
            <a:ext cx="429768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t>Core Entities &amp; Relational Schema</a:t>
            </a:r>
          </a:p>
          <a:p>
            <a:pPr>
              <a:spcAft>
                <a:spcPts val="300"/>
              </a:spcAft>
            </a:pPr>
            <a:r>
              <a:rPr sz="1100" b="1">
                <a:solidFill>
                  <a:srgbClr val="282C34"/>
                </a:solidFill>
                <a:latin typeface="Tahoma"/>
              </a:rPr>
              <a:t>CASE Entity (Master): </a:t>
            </a:r>
            <a:r>
              <a:rPr sz="1100" b="0">
                <a:solidFill>
                  <a:srgbClr val="282C34"/>
                </a:solidFill>
                <a:latin typeface="Tahoma"/>
              </a:rPr>
              <a:t>CNR Number (PK), Registration No, Filing Date, Decision Date, Status, Nature of Disposal, Court/Judge.</a:t>
            </a:r>
          </a:p>
          <a:p>
            <a:pPr>
              <a:spcAft>
                <a:spcPts val="300"/>
              </a:spcAft>
            </a:pPr>
            <a:r>
              <a:rPr sz="1100" b="1">
                <a:solidFill>
                  <a:srgbClr val="282C34"/>
                </a:solidFill>
                <a:latin typeface="Tahoma"/>
              </a:rPr>
              <a:t>Parties &amp; Counsel: </a:t>
            </a:r>
            <a:r>
              <a:rPr sz="1100" b="0">
                <a:solidFill>
                  <a:srgbClr val="282C34"/>
                </a:solidFill>
                <a:latin typeface="Tahoma"/>
              </a:rPr>
              <a:t>1-to-many relationship: Petitioners, Respondents, and Advocates linked to Case ID.</a:t>
            </a:r>
          </a:p>
          <a:p>
            <a:pPr>
              <a:spcAft>
                <a:spcPts val="300"/>
              </a:spcAft>
            </a:pPr>
            <a:r>
              <a:rPr sz="1100" b="1">
                <a:solidFill>
                  <a:srgbClr val="282C34"/>
                </a:solidFill>
                <a:latin typeface="Tahoma"/>
              </a:rPr>
              <a:t>Acts &amp; Provisions: </a:t>
            </a:r>
            <a:r>
              <a:rPr sz="1100" b="0">
                <a:solidFill>
                  <a:srgbClr val="282C34"/>
                </a:solidFill>
                <a:latin typeface="Tahoma"/>
              </a:rPr>
              <a:t>Statute names, section numbers, and legal classifications.</a:t>
            </a:r>
          </a:p>
          <a:p>
            <a:pPr>
              <a:spcAft>
                <a:spcPts val="300"/>
              </a:spcAft>
            </a:pPr>
            <a:r>
              <a:rPr sz="1100" b="1">
                <a:solidFill>
                  <a:srgbClr val="282C34"/>
                </a:solidFill>
                <a:latin typeface="Tahoma"/>
              </a:rPr>
              <a:t>Hearing History: </a:t>
            </a:r>
            <a:r>
              <a:rPr sz="1100" b="0">
                <a:solidFill>
                  <a:srgbClr val="282C34"/>
                </a:solidFill>
                <a:latin typeface="Tahoma"/>
              </a:rPr>
              <a:t>Chronological table: Business Date, Next Hearing Date, Purpose of Hearing (Notice, Summons, Disposal).</a:t>
            </a:r>
          </a:p>
          <a:p>
            <a:pPr>
              <a:spcAft>
                <a:spcPts val="300"/>
              </a:spcAft>
            </a:pPr>
            <a:r>
              <a:rPr sz="1100" b="1">
                <a:solidFill>
                  <a:srgbClr val="282C34"/>
                </a:solidFill>
                <a:latin typeface="Tahoma"/>
              </a:rPr>
              <a:t>Daily Status &amp; Business: </a:t>
            </a:r>
            <a:r>
              <a:rPr sz="1100" b="0">
                <a:solidFill>
                  <a:srgbClr val="282C34"/>
                </a:solidFill>
                <a:latin typeface="Tahoma"/>
              </a:rPr>
              <a:t>Complete verbatim transcripts of daily orders with disposal remarks.</a:t>
            </a:r>
          </a:p>
          <a:p>
            <a:pPr>
              <a:spcAft>
                <a:spcPts val="300"/>
              </a:spcAft>
            </a:pPr>
            <a:r>
              <a:rPr sz="1100" b="1">
                <a:solidFill>
                  <a:srgbClr val="282C34"/>
                </a:solidFill>
                <a:latin typeface="Tahoma"/>
              </a:rPr>
              <a:t>Processes &amp; Transfers: </a:t>
            </a:r>
            <a:r>
              <a:rPr sz="1100" b="0">
                <a:solidFill>
                  <a:srgbClr val="282C34"/>
                </a:solidFill>
                <a:latin typeface="Tahoma"/>
              </a:rPr>
              <a:t>Process ID, Title, Issue Date, Transferring &amp; Receiving Courts.</a:t>
            </a:r>
          </a:p>
        </p:txBody>
      </p:sp>
      <p:sp>
        <p:nvSpPr>
          <p:cNvPr id="5" name="Rounded Rectangle 4"/>
          <p:cNvSpPr/>
          <p:nvPr/>
        </p:nvSpPr>
        <p:spPr>
          <a:xfrm>
            <a:off x="5120640" y="2286000"/>
            <a:ext cx="438912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t>Data Integrity &amp; Architectural Benefits</a:t>
            </a:r>
          </a:p>
          <a:p>
            <a:pPr>
              <a:spcAft>
                <a:spcPts val="300"/>
              </a:spcAft>
            </a:pPr>
            <a:r>
              <a:rPr sz="1100" b="1">
                <a:solidFill>
                  <a:srgbClr val="282C34"/>
                </a:solidFill>
                <a:latin typeface="Tahoma"/>
              </a:rPr>
              <a:t>Relational Querying: </a:t>
            </a:r>
            <a:r>
              <a:rPr sz="1100" b="0">
                <a:solidFill>
                  <a:srgbClr val="282C34"/>
                </a:solidFill>
                <a:latin typeface="Tahoma"/>
              </a:rPr>
              <a:t>Enables SQL/indexed querying across complex multi-variable judicial parameters.</a:t>
            </a:r>
          </a:p>
          <a:p>
            <a:pPr>
              <a:spcAft>
                <a:spcPts val="300"/>
              </a:spcAft>
            </a:pPr>
            <a:r>
              <a:rPr sz="1100" b="1">
                <a:solidFill>
                  <a:srgbClr val="282C34"/>
                </a:solidFill>
                <a:latin typeface="Tahoma"/>
              </a:rPr>
              <a:t>Linguistic Preservation: </a:t>
            </a:r>
            <a:r>
              <a:rPr sz="1100" b="0">
                <a:solidFill>
                  <a:srgbClr val="282C34"/>
                </a:solidFill>
                <a:latin typeface="Tahoma"/>
              </a:rPr>
              <a:t>Full UTF-8 with BOM support preserving English, Kannada, and vernacular notations without corruption.</a:t>
            </a:r>
          </a:p>
          <a:p>
            <a:pPr>
              <a:spcAft>
                <a:spcPts val="300"/>
              </a:spcAft>
            </a:pPr>
            <a:r>
              <a:rPr sz="1100" b="1">
                <a:solidFill>
                  <a:srgbClr val="282C34"/>
                </a:solidFill>
                <a:latin typeface="Tahoma"/>
              </a:rPr>
              <a:t>Standardized Export Formats: </a:t>
            </a:r>
            <a:r>
              <a:rPr sz="1100" b="0">
                <a:solidFill>
                  <a:srgbClr val="282C34"/>
                </a:solidFill>
                <a:latin typeface="Tahoma"/>
              </a:rPr>
              <a:t>Provides clean JSON, relational CSVs, and Excel outputs for downstream statistical software.</a:t>
            </a:r>
          </a:p>
          <a:p>
            <a:pPr>
              <a:spcAft>
                <a:spcPts val="300"/>
              </a:spcAft>
            </a:pPr>
            <a:r>
              <a:rPr sz="1100" b="1">
                <a:solidFill>
                  <a:srgbClr val="282C34"/>
                </a:solidFill>
                <a:latin typeface="Tahoma"/>
              </a:rPr>
              <a:t>Extensible Data Foundation: </a:t>
            </a:r>
            <a:r>
              <a:rPr sz="1100" b="0">
                <a:solidFill>
                  <a:srgbClr val="282C34"/>
                </a:solidFill>
                <a:latin typeface="Tahoma"/>
              </a:rPr>
              <a:t>Engineered to seamlessly support future API endpoints, web dashboards, and AI analytics models.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PROPOSED RESEARCHER UI/UX WORKSPACE</a:t>
            </a:r>
          </a:p>
        </p:txBody>
      </p:sp>
      <p:sp>
        <p:nvSpPr>
          <p:cNvPr id="3" name="Rounded Rectangle 2"/>
          <p:cNvSpPr/>
          <p:nvPr/>
        </p:nvSpPr>
        <p:spPr>
          <a:xfrm>
            <a:off x="548640" y="1874519"/>
            <a:ext cx="2468880" cy="292608"/>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E65100"/>
                </a:solidFill>
                <a:latin typeface="Tahoma"/>
              </a:defRPr>
            </a:pPr>
            <a:r>
              <a:t>PROPOSED APPLICATION UI</a:t>
            </a:r>
          </a:p>
        </p:txBody>
      </p:sp>
      <p:sp>
        <p:nvSpPr>
          <p:cNvPr id="4" name="Rounded Rectangle 3"/>
          <p:cNvSpPr/>
          <p:nvPr/>
        </p:nvSpPr>
        <p:spPr>
          <a:xfrm>
            <a:off x="548640" y="2286000"/>
            <a:ext cx="429768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t>Search &amp; Multi-Parameter Filter Panel</a:t>
            </a:r>
          </a:p>
          <a:p>
            <a:pPr>
              <a:spcAft>
                <a:spcPts val="300"/>
              </a:spcAft>
            </a:pPr>
            <a:r>
              <a:rPr sz="1100" b="1">
                <a:solidFill>
                  <a:srgbClr val="282C34"/>
                </a:solidFill>
                <a:latin typeface="Tahoma"/>
              </a:rPr>
              <a:t>Global Search Bar: </a:t>
            </a:r>
            <a:r>
              <a:rPr sz="1100" b="0">
                <a:solidFill>
                  <a:srgbClr val="282C34"/>
                </a:solidFill>
                <a:latin typeface="Tahoma"/>
              </a:rPr>
              <a:t>Direct lookup by CNR Number, Case Number, Party Name, or Advocate Name.</a:t>
            </a:r>
          </a:p>
          <a:p>
            <a:pPr>
              <a:spcAft>
                <a:spcPts val="300"/>
              </a:spcAft>
            </a:pPr>
            <a:r>
              <a:rPr sz="1100" b="1">
                <a:solidFill>
                  <a:srgbClr val="282C34"/>
                </a:solidFill>
                <a:latin typeface="Tahoma"/>
              </a:rPr>
              <a:t>Dynamic Dropdowns: </a:t>
            </a:r>
            <a:r>
              <a:rPr sz="1100" b="0">
                <a:solidFill>
                  <a:srgbClr val="282C34"/>
                </a:solidFill>
                <a:latin typeface="Tahoma"/>
              </a:rPr>
              <a:t>Hierarchical selection: State → District → Court Complex → Establishment.</a:t>
            </a:r>
          </a:p>
          <a:p>
            <a:pPr>
              <a:spcAft>
                <a:spcPts val="300"/>
              </a:spcAft>
            </a:pPr>
            <a:r>
              <a:rPr sz="1100" b="1">
                <a:solidFill>
                  <a:srgbClr val="282C34"/>
                </a:solidFill>
                <a:latin typeface="Tahoma"/>
              </a:rPr>
              <a:t>Case Classification Filters: </a:t>
            </a:r>
            <a:r>
              <a:rPr sz="1100" b="0">
                <a:solidFill>
                  <a:srgbClr val="282C34"/>
                </a:solidFill>
                <a:latin typeface="Tahoma"/>
              </a:rPr>
              <a:t>Filter by Case Type (EX, OS, CC), Filing Year, Decision Year, and Case Status (Pending/Disposed).</a:t>
            </a:r>
          </a:p>
          <a:p>
            <a:pPr>
              <a:spcAft>
                <a:spcPts val="300"/>
              </a:spcAft>
            </a:pPr>
            <a:r>
              <a:rPr sz="1100" b="1">
                <a:solidFill>
                  <a:srgbClr val="282C34"/>
                </a:solidFill>
                <a:latin typeface="Tahoma"/>
              </a:rPr>
              <a:t>Stage &amp; Purpose Filters: </a:t>
            </a:r>
            <a:r>
              <a:rPr sz="1100" b="0">
                <a:solidFill>
                  <a:srgbClr val="282C34"/>
                </a:solidFill>
                <a:latin typeface="Tahoma"/>
              </a:rPr>
              <a:t>Filter cases by specific hearing purposes (e.g., Summons, Evidence, Arguments, Orders).</a:t>
            </a:r>
          </a:p>
          <a:p>
            <a:pPr>
              <a:spcAft>
                <a:spcPts val="300"/>
              </a:spcAft>
            </a:pPr>
            <a:r>
              <a:rPr sz="1100" b="1">
                <a:solidFill>
                  <a:srgbClr val="282C34"/>
                </a:solidFill>
                <a:latin typeface="Tahoma"/>
              </a:rPr>
              <a:t>Interactive Results Grid: </a:t>
            </a:r>
            <a:r>
              <a:rPr sz="1100" b="0">
                <a:solidFill>
                  <a:srgbClr val="282C34"/>
                </a:solidFill>
                <a:latin typeface="Tahoma"/>
              </a:rPr>
              <a:t>Displays matching cases with summary metrics: duration, hearing count, and last order date.</a:t>
            </a:r>
          </a:p>
        </p:txBody>
      </p:sp>
      <p:sp>
        <p:nvSpPr>
          <p:cNvPr id="5" name="Rounded Rectangle 4"/>
          <p:cNvSpPr/>
          <p:nvPr/>
        </p:nvSpPr>
        <p:spPr>
          <a:xfrm>
            <a:off x="5120640" y="2286000"/>
            <a:ext cx="438912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t>Case Information Workspace (Tabbed View)</a:t>
            </a:r>
          </a:p>
          <a:p>
            <a:pPr>
              <a:spcAft>
                <a:spcPts val="300"/>
              </a:spcAft>
            </a:pPr>
            <a:r>
              <a:rPr sz="1100" b="1">
                <a:solidFill>
                  <a:srgbClr val="282C34"/>
                </a:solidFill>
                <a:latin typeface="Tahoma"/>
              </a:rPr>
              <a:t>Tab 1: Case Overview: </a:t>
            </a:r>
            <a:r>
              <a:rPr sz="1100" b="0">
                <a:solidFill>
                  <a:srgbClr val="282C34"/>
                </a:solidFill>
                <a:latin typeface="Tahoma"/>
              </a:rPr>
              <a:t>Summary cards showing registration metadata, judge, court complex, and disposal nature.</a:t>
            </a:r>
          </a:p>
          <a:p>
            <a:pPr>
              <a:spcAft>
                <a:spcPts val="300"/>
              </a:spcAft>
            </a:pPr>
            <a:r>
              <a:rPr sz="1100" b="1">
                <a:solidFill>
                  <a:srgbClr val="282C34"/>
                </a:solidFill>
                <a:latin typeface="Tahoma"/>
              </a:rPr>
              <a:t>Tab 2: Hearing Chronology: </a:t>
            </a:r>
            <a:r>
              <a:rPr sz="1100" b="0">
                <a:solidFill>
                  <a:srgbClr val="282C34"/>
                </a:solidFill>
                <a:latin typeface="Tahoma"/>
              </a:rPr>
              <a:t>Interactive timeline of all hearing dates, business dates, and recorded hearing purposes.</a:t>
            </a:r>
          </a:p>
          <a:p>
            <a:pPr>
              <a:spcAft>
                <a:spcPts val="300"/>
              </a:spcAft>
            </a:pPr>
            <a:r>
              <a:rPr sz="1100" b="1">
                <a:solidFill>
                  <a:srgbClr val="282C34"/>
                </a:solidFill>
                <a:latin typeface="Tahoma"/>
              </a:rPr>
              <a:t>Tab 3: Daily Status Transcripts: </a:t>
            </a:r>
            <a:r>
              <a:rPr sz="1100" b="0">
                <a:solidFill>
                  <a:srgbClr val="282C34"/>
                </a:solidFill>
                <a:latin typeface="Tahoma"/>
              </a:rPr>
              <a:t>Synchronized transcript viewer displaying daily judicial business notes.</a:t>
            </a:r>
          </a:p>
          <a:p>
            <a:pPr>
              <a:spcAft>
                <a:spcPts val="300"/>
              </a:spcAft>
            </a:pPr>
            <a:r>
              <a:rPr sz="1100" b="1">
                <a:solidFill>
                  <a:srgbClr val="282C34"/>
                </a:solidFill>
                <a:latin typeface="Tahoma"/>
              </a:rPr>
              <a:t>Tab 4: Parties &amp; Advocates: </a:t>
            </a:r>
            <a:r>
              <a:rPr sz="1100" b="0">
                <a:solidFill>
                  <a:srgbClr val="282C34"/>
                </a:solidFill>
                <a:latin typeface="Tahoma"/>
              </a:rPr>
              <a:t>Structured party hierarchy with legal representation history.</a:t>
            </a:r>
          </a:p>
          <a:p>
            <a:pPr>
              <a:spcAft>
                <a:spcPts val="300"/>
              </a:spcAft>
            </a:pPr>
            <a:r>
              <a:rPr sz="1100" b="1">
                <a:solidFill>
                  <a:srgbClr val="282C34"/>
                </a:solidFill>
                <a:latin typeface="Tahoma"/>
              </a:rPr>
              <a:t>Tab 5: Orders &amp; Documents: </a:t>
            </a:r>
            <a:r>
              <a:rPr sz="1100" b="0">
                <a:solidFill>
                  <a:srgbClr val="282C34"/>
                </a:solidFill>
                <a:latin typeface="Tahoma"/>
              </a:rPr>
              <a:t>Centralized repository of all interlocutory and final orders with download options.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RESEARCHER USER JOURNEY</a:t>
            </a:r>
          </a:p>
        </p:txBody>
      </p:sp>
      <p:sp>
        <p:nvSpPr>
          <p:cNvPr id="3" name="Rounded Rectangle 2"/>
          <p:cNvSpPr/>
          <p:nvPr/>
        </p:nvSpPr>
        <p:spPr>
          <a:xfrm>
            <a:off x="548640" y="1874519"/>
            <a:ext cx="228600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1565C0"/>
                </a:solidFill>
                <a:latin typeface="Tahoma"/>
              </a:defRPr>
            </a:pPr>
            <a:r>
              <a:t>END-TO-END WORKFLOW</a:t>
            </a:r>
          </a:p>
        </p:txBody>
      </p:sp>
      <p:sp>
        <p:nvSpPr>
          <p:cNvPr id="4" name="Rounded Rectangle 3"/>
          <p:cNvSpPr/>
          <p:nvPr/>
        </p:nvSpPr>
        <p:spPr>
          <a:xfrm>
            <a:off x="548640" y="2240280"/>
            <a:ext cx="8961120" cy="594360"/>
          </a:xfrm>
          <a:prstGeom prst="roundRect">
            <a:avLst/>
          </a:prstGeom>
          <a:solidFill>
            <a:srgbClr val="E3F2FD"/>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1C3666"/>
                </a:solidFill>
                <a:latin typeface="Trebuchet MS"/>
              </a:rPr>
              <a:t>1. Open DAKSH Platform → </a:t>
            </a:r>
            <a:r>
              <a:rPr sz="1050">
                <a:solidFill>
                  <a:srgbClr val="282C34"/>
                </a:solidFill>
                <a:latin typeface="Tahoma"/>
              </a:rPr>
              <a:t>Researcher accesses the centralized judicial research web application.</a:t>
            </a:r>
          </a:p>
        </p:txBody>
      </p:sp>
      <p:sp>
        <p:nvSpPr>
          <p:cNvPr id="5" name="Rounded Rectangle 4"/>
          <p:cNvSpPr/>
          <p:nvPr/>
        </p:nvSpPr>
        <p:spPr>
          <a:xfrm>
            <a:off x="548640" y="2907792"/>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1C3666"/>
                </a:solidFill>
                <a:latin typeface="Trebuchet MS"/>
              </a:rPr>
              <a:t>2. Select Search Parameters → </a:t>
            </a:r>
            <a:r>
              <a:rPr sz="1050">
                <a:solidFill>
                  <a:srgbClr val="282C34"/>
                </a:solidFill>
                <a:latin typeface="Tahoma"/>
              </a:rPr>
              <a:t>Selects Court Complex (e.g., Bengaluru City Civil), Case Type (EX), and Year range (2010–2023).</a:t>
            </a:r>
          </a:p>
        </p:txBody>
      </p:sp>
      <p:sp>
        <p:nvSpPr>
          <p:cNvPr id="6" name="Rounded Rectangle 5"/>
          <p:cNvSpPr/>
          <p:nvPr/>
        </p:nvSpPr>
        <p:spPr>
          <a:xfrm>
            <a:off x="548640" y="3575304"/>
            <a:ext cx="8961120" cy="594360"/>
          </a:xfrm>
          <a:prstGeom prst="roundRect">
            <a:avLst/>
          </a:prstGeom>
          <a:solidFill>
            <a:srgbClr val="E3F2FD"/>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1C3666"/>
                </a:solidFill>
                <a:latin typeface="Trebuchet MS"/>
              </a:rPr>
              <a:t>3. Apply Research Filters → </a:t>
            </a:r>
            <a:r>
              <a:rPr sz="1050">
                <a:solidFill>
                  <a:srgbClr val="282C34"/>
                </a:solidFill>
                <a:latin typeface="Tahoma"/>
              </a:rPr>
              <a:t>Applies granular filters by disposal nature, specific statutory act, or pending duration.</a:t>
            </a:r>
          </a:p>
        </p:txBody>
      </p:sp>
      <p:sp>
        <p:nvSpPr>
          <p:cNvPr id="7" name="Rounded Rectangle 6"/>
          <p:cNvSpPr/>
          <p:nvPr/>
        </p:nvSpPr>
        <p:spPr>
          <a:xfrm>
            <a:off x="548640" y="4242816"/>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1C3666"/>
                </a:solidFill>
                <a:latin typeface="Trebuchet MS"/>
              </a:rPr>
              <a:t>4. Inspect Results Explorer → </a:t>
            </a:r>
            <a:r>
              <a:rPr sz="1050">
                <a:solidFill>
                  <a:srgbClr val="282C34"/>
                </a:solidFill>
                <a:latin typeface="Tahoma"/>
              </a:rPr>
              <a:t>Reviews matching case cards displaying case age, total hearings, and latest stage.</a:t>
            </a:r>
          </a:p>
        </p:txBody>
      </p:sp>
      <p:sp>
        <p:nvSpPr>
          <p:cNvPr id="8" name="Rounded Rectangle 7"/>
          <p:cNvSpPr/>
          <p:nvPr/>
        </p:nvSpPr>
        <p:spPr>
          <a:xfrm>
            <a:off x="548640" y="4910328"/>
            <a:ext cx="8961120" cy="594360"/>
          </a:xfrm>
          <a:prstGeom prst="roundRect">
            <a:avLst/>
          </a:prstGeom>
          <a:solidFill>
            <a:srgbClr val="E3F2FD"/>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1C3666"/>
                </a:solidFill>
                <a:latin typeface="Trebuchet MS"/>
              </a:rPr>
              <a:t>5. Open Case Workspace → </a:t>
            </a:r>
            <a:r>
              <a:rPr sz="1050">
                <a:solidFill>
                  <a:srgbClr val="282C34"/>
                </a:solidFill>
                <a:latin typeface="Tahoma"/>
              </a:rPr>
              <a:t>Opens a unified workspace displaying synchronized hearing histories, daily notes, and orders.</a:t>
            </a:r>
          </a:p>
        </p:txBody>
      </p:sp>
      <p:sp>
        <p:nvSpPr>
          <p:cNvPr id="9" name="Rounded Rectangle 8"/>
          <p:cNvSpPr/>
          <p:nvPr/>
        </p:nvSpPr>
        <p:spPr>
          <a:xfrm>
            <a:off x="548640" y="5577840"/>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1C3666"/>
                </a:solidFill>
                <a:latin typeface="Trebuchet MS"/>
              </a:rPr>
              <a:t>6. Analyze &amp; Export → </a:t>
            </a:r>
            <a:r>
              <a:rPr sz="1050">
                <a:solidFill>
                  <a:srgbClr val="282C34"/>
                </a:solidFill>
                <a:latin typeface="Tahoma"/>
              </a:rPr>
              <a:t>Performs cross-case comparison and exports structured datasets (CSV/JSON) for empirical analysis.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FUTURE SCOPE: INTELLIGENT JUDICIAL ANALYTICS</a:t>
            </a:r>
          </a:p>
        </p:txBody>
      </p:sp>
      <p:sp>
        <p:nvSpPr>
          <p:cNvPr id="3" name="Rounded Rectangle 2"/>
          <p:cNvSpPr/>
          <p:nvPr/>
        </p:nvSpPr>
        <p:spPr>
          <a:xfrm>
            <a:off x="548640" y="1874519"/>
            <a:ext cx="2468880" cy="292608"/>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7B1FA2"/>
                </a:solidFill>
                <a:latin typeface="Tahoma"/>
              </a:defRPr>
            </a:pPr>
            <a:r>
              <a:t>FUTURE SCOPE — ROADMAP</a:t>
            </a:r>
          </a:p>
        </p:txBody>
      </p:sp>
      <p:sp>
        <p:nvSpPr>
          <p:cNvPr id="4" name="Rounded Rectangle 3"/>
          <p:cNvSpPr/>
          <p:nvPr/>
        </p:nvSpPr>
        <p:spPr>
          <a:xfrm>
            <a:off x="548640" y="2286000"/>
            <a:ext cx="429768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t>Proposed Analytical Capabilities</a:t>
            </a:r>
          </a:p>
          <a:p>
            <a:pPr>
              <a:spcAft>
                <a:spcPts val="300"/>
              </a:spcAft>
            </a:pPr>
            <a:r>
              <a:rPr sz="1100" b="1">
                <a:solidFill>
                  <a:srgbClr val="282C34"/>
                </a:solidFill>
                <a:latin typeface="Tahoma"/>
              </a:rPr>
              <a:t>Case Similarity &amp; Clustering: </a:t>
            </a:r>
            <a:r>
              <a:rPr sz="1100" b="0">
                <a:solidFill>
                  <a:srgbClr val="282C34"/>
                </a:solidFill>
                <a:latin typeface="Tahoma"/>
              </a:rPr>
              <a:t>Unsupervised clustering of cases based on statutory provisions, party configurations, and procedural trajectories.</a:t>
            </a:r>
          </a:p>
          <a:p>
            <a:pPr>
              <a:spcAft>
                <a:spcPts val="300"/>
              </a:spcAft>
            </a:pPr>
            <a:r>
              <a:rPr sz="1100" b="1">
                <a:solidFill>
                  <a:srgbClr val="282C34"/>
                </a:solidFill>
                <a:latin typeface="Tahoma"/>
              </a:rPr>
              <a:t>Pendency &amp; Duration Modeling: </a:t>
            </a:r>
            <a:r>
              <a:rPr sz="1100" b="0">
                <a:solidFill>
                  <a:srgbClr val="282C34"/>
                </a:solidFill>
                <a:latin typeface="Tahoma"/>
              </a:rPr>
              <a:t>Statistical modeling of stage duration to identify key bottlenecks in execution petition lifecycles.</a:t>
            </a:r>
          </a:p>
          <a:p>
            <a:pPr>
              <a:spcAft>
                <a:spcPts val="300"/>
              </a:spcAft>
            </a:pPr>
            <a:r>
              <a:rPr sz="1100" b="1">
                <a:solidFill>
                  <a:srgbClr val="282C34"/>
                </a:solidFill>
                <a:latin typeface="Tahoma"/>
              </a:rPr>
              <a:t>Adjournment Pattern Analysis: </a:t>
            </a:r>
            <a:r>
              <a:rPr sz="1100" b="0">
                <a:solidFill>
                  <a:srgbClr val="282C34"/>
                </a:solidFill>
                <a:latin typeface="Tahoma"/>
              </a:rPr>
              <a:t>Analyzing frequency and recorded purposes of adjournments to understand trial delay factors.</a:t>
            </a:r>
          </a:p>
          <a:p>
            <a:pPr>
              <a:spcAft>
                <a:spcPts val="300"/>
              </a:spcAft>
            </a:pPr>
            <a:r>
              <a:rPr sz="1100" b="1">
                <a:solidFill>
                  <a:srgbClr val="282C34"/>
                </a:solidFill>
                <a:latin typeface="Tahoma"/>
              </a:rPr>
              <a:t>Disposal Trend Evaluation: </a:t>
            </a:r>
            <a:r>
              <a:rPr sz="1100" b="0">
                <a:solidFill>
                  <a:srgbClr val="282C34"/>
                </a:solidFill>
                <a:latin typeface="Tahoma"/>
              </a:rPr>
              <a:t>Longitudinal comparisons of disposal rates across court establishments and case categories.</a:t>
            </a:r>
          </a:p>
        </p:txBody>
      </p:sp>
      <p:sp>
        <p:nvSpPr>
          <p:cNvPr id="5" name="Rounded Rectangle 4"/>
          <p:cNvSpPr/>
          <p:nvPr/>
        </p:nvSpPr>
        <p:spPr>
          <a:xfrm>
            <a:off x="5120640" y="2286000"/>
            <a:ext cx="438912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t>Information Retrieval &amp; Assistance</a:t>
            </a:r>
          </a:p>
          <a:p>
            <a:pPr>
              <a:spcAft>
                <a:spcPts val="300"/>
              </a:spcAft>
            </a:pPr>
            <a:r>
              <a:rPr sz="1100" b="1">
                <a:solidFill>
                  <a:srgbClr val="282C34"/>
                </a:solidFill>
                <a:latin typeface="Tahoma"/>
              </a:rPr>
              <a:t>Semantic Search: </a:t>
            </a:r>
            <a:r>
              <a:rPr sz="1100" b="0">
                <a:solidFill>
                  <a:srgbClr val="282C34"/>
                </a:solidFill>
                <a:latin typeface="Tahoma"/>
              </a:rPr>
              <a:t>Fast text retrieval across unstructured daily status business logs and order texts.</a:t>
            </a:r>
          </a:p>
          <a:p>
            <a:pPr>
              <a:spcAft>
                <a:spcPts val="300"/>
              </a:spcAft>
            </a:pPr>
            <a:r>
              <a:rPr sz="1100" b="1">
                <a:solidFill>
                  <a:srgbClr val="282C34"/>
                </a:solidFill>
                <a:latin typeface="Tahoma"/>
              </a:rPr>
              <a:t>Document Classification: </a:t>
            </a:r>
            <a:r>
              <a:rPr sz="1100" b="0">
                <a:solidFill>
                  <a:srgbClr val="282C34"/>
                </a:solidFill>
                <a:latin typeface="Tahoma"/>
              </a:rPr>
              <a:t>Automated tagging of orders by nature of relief granted (interim vs. final).</a:t>
            </a:r>
          </a:p>
          <a:p>
            <a:pPr>
              <a:spcAft>
                <a:spcPts val="300"/>
              </a:spcAft>
            </a:pPr>
            <a:r>
              <a:rPr sz="1100" b="1">
                <a:solidFill>
                  <a:srgbClr val="282C34"/>
                </a:solidFill>
                <a:latin typeface="Tahoma"/>
              </a:rPr>
              <a:t>Research Recommendations: </a:t>
            </a:r>
            <a:r>
              <a:rPr sz="1100" b="0">
                <a:solidFill>
                  <a:srgbClr val="282C34"/>
                </a:solidFill>
                <a:latin typeface="Tahoma"/>
              </a:rPr>
              <a:t>Surfacing related historical cases with similar procedural trajectories for researcher review.</a:t>
            </a:r>
          </a:p>
          <a:p>
            <a:pPr>
              <a:spcAft>
                <a:spcPts val="300"/>
              </a:spcAft>
            </a:pPr>
            <a:r>
              <a:rPr sz="1100" b="1">
                <a:solidFill>
                  <a:srgbClr val="282C34"/>
                </a:solidFill>
                <a:latin typeface="Tahoma"/>
              </a:rPr>
              <a:t>Ethical Research Boundary: </a:t>
            </a:r>
            <a:r>
              <a:rPr sz="1100" b="0">
                <a:solidFill>
                  <a:srgbClr val="282C34"/>
                </a:solidFill>
                <a:latin typeface="Tahoma"/>
              </a:rPr>
              <a:t>Analytical tools are intended strictly for academic and policy research; system does not predict outcomes or replace human judgment.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PROPOSED CASE PRIORITIZATION SYSTEM</a:t>
            </a:r>
          </a:p>
        </p:txBody>
      </p:sp>
      <p:sp>
        <p:nvSpPr>
          <p:cNvPr id="3" name="Rounded Rectangle 2"/>
          <p:cNvSpPr/>
          <p:nvPr/>
        </p:nvSpPr>
        <p:spPr>
          <a:xfrm>
            <a:off x="548640" y="1874519"/>
            <a:ext cx="2743200" cy="292608"/>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7B1FA2"/>
                </a:solidFill>
                <a:latin typeface="Tahoma"/>
              </a:defRPr>
            </a:pPr>
            <a:r>
              <a:t>PROPOSED FUTURE DECISION SUPPORT</a:t>
            </a:r>
          </a:p>
        </p:txBody>
      </p:sp>
      <p:sp>
        <p:nvSpPr>
          <p:cNvPr id="4" name="Rounded Rectangle 3"/>
          <p:cNvSpPr/>
          <p:nvPr/>
        </p:nvSpPr>
        <p:spPr>
          <a:xfrm>
            <a:off x="548640" y="2286000"/>
            <a:ext cx="429768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t>Prioritization Mechanism &amp; Workflow</a:t>
            </a:r>
          </a:p>
          <a:p>
            <a:pPr>
              <a:spcAft>
                <a:spcPts val="300"/>
              </a:spcAft>
            </a:pPr>
            <a:r>
              <a:rPr sz="1100" b="1">
                <a:solidFill>
                  <a:srgbClr val="282C34"/>
                </a:solidFill>
                <a:latin typeface="Tahoma"/>
              </a:rPr>
              <a:t>Structured Input Data: </a:t>
            </a:r>
            <a:r>
              <a:rPr sz="1100" b="0">
                <a:solidFill>
                  <a:srgbClr val="282C34"/>
                </a:solidFill>
                <a:latin typeface="Tahoma"/>
              </a:rPr>
              <a:t>Ingests normalized case features: case age, total pending duration, hearing frequency, and stage.</a:t>
            </a:r>
          </a:p>
          <a:p>
            <a:pPr>
              <a:spcAft>
                <a:spcPts val="300"/>
              </a:spcAft>
            </a:pPr>
            <a:r>
              <a:rPr sz="1100" b="1">
                <a:solidFill>
                  <a:srgbClr val="282C34"/>
                </a:solidFill>
                <a:latin typeface="Tahoma"/>
              </a:rPr>
              <a:t>Researcher-Defined Weights: </a:t>
            </a:r>
            <a:r>
              <a:rPr sz="1100" b="0">
                <a:solidFill>
                  <a:srgbClr val="282C34"/>
                </a:solidFill>
                <a:latin typeface="Tahoma"/>
              </a:rPr>
              <a:t>Researchers configure scoring criteria (e.g., cases pending &gt; 5 years, repetitive notice stages).</a:t>
            </a:r>
          </a:p>
          <a:p>
            <a:pPr>
              <a:spcAft>
                <a:spcPts val="300"/>
              </a:spcAft>
            </a:pPr>
            <a:r>
              <a:rPr sz="1100" b="1">
                <a:solidFill>
                  <a:srgbClr val="282C34"/>
                </a:solidFill>
                <a:latin typeface="Tahoma"/>
              </a:rPr>
              <a:t>Multi-Factor Scoring Engine: </a:t>
            </a:r>
            <a:r>
              <a:rPr sz="1100" b="0">
                <a:solidFill>
                  <a:srgbClr val="282C34"/>
                </a:solidFill>
                <a:latin typeface="Tahoma"/>
              </a:rPr>
              <a:t>Calculates composite priority index according to transparent, configurable rules.</a:t>
            </a:r>
          </a:p>
          <a:p>
            <a:pPr>
              <a:spcAft>
                <a:spcPts val="300"/>
              </a:spcAft>
            </a:pPr>
            <a:r>
              <a:rPr sz="1100" b="1">
                <a:solidFill>
                  <a:srgbClr val="282C34"/>
                </a:solidFill>
                <a:latin typeface="Tahoma"/>
              </a:rPr>
              <a:t>Dynamic Case Priority Queue: </a:t>
            </a:r>
            <a:r>
              <a:rPr sz="1100" b="0">
                <a:solidFill>
                  <a:srgbClr val="282C34"/>
                </a:solidFill>
                <a:latin typeface="Tahoma"/>
              </a:rPr>
              <a:t>Generates prioritized cohorts for focused empirical study and delay analysis.</a:t>
            </a:r>
          </a:p>
          <a:p>
            <a:pPr>
              <a:spcAft>
                <a:spcPts val="300"/>
              </a:spcAft>
            </a:pPr>
            <a:r>
              <a:rPr sz="1100" b="1">
                <a:solidFill>
                  <a:srgbClr val="282C34"/>
                </a:solidFill>
                <a:latin typeface="Tahoma"/>
              </a:rPr>
              <a:t>Cohort Export: </a:t>
            </a:r>
            <a:r>
              <a:rPr sz="1100" b="0">
                <a:solidFill>
                  <a:srgbClr val="282C34"/>
                </a:solidFill>
                <a:latin typeface="Tahoma"/>
              </a:rPr>
              <a:t>Enables researchers to export high-priority case subsets for qualitative legal evaluation.</a:t>
            </a:r>
          </a:p>
        </p:txBody>
      </p:sp>
      <p:sp>
        <p:nvSpPr>
          <p:cNvPr id="5" name="Rounded Rectangle 4"/>
          <p:cNvSpPr/>
          <p:nvPr/>
        </p:nvSpPr>
        <p:spPr>
          <a:xfrm>
            <a:off x="5120640" y="2286000"/>
            <a:ext cx="438912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t>Critical Framing &amp; Human Governance</a:t>
            </a:r>
          </a:p>
          <a:p>
            <a:pPr>
              <a:spcAft>
                <a:spcPts val="300"/>
              </a:spcAft>
            </a:pPr>
            <a:r>
              <a:rPr sz="1100" b="1">
                <a:solidFill>
                  <a:srgbClr val="282C34"/>
                </a:solidFill>
                <a:latin typeface="Tahoma"/>
              </a:rPr>
              <a:t>Research Decision Support Only: </a:t>
            </a:r>
            <a:r>
              <a:rPr sz="1100" b="0">
                <a:solidFill>
                  <a:srgbClr val="282C34"/>
                </a:solidFill>
                <a:latin typeface="Tahoma"/>
              </a:rPr>
              <a:t>Designed solely to help researchers organize, filter, and prioritize large case volumes for academic study.</a:t>
            </a:r>
          </a:p>
          <a:p>
            <a:pPr>
              <a:spcAft>
                <a:spcPts val="300"/>
              </a:spcAft>
            </a:pPr>
            <a:r>
              <a:rPr sz="1100" b="1">
                <a:solidFill>
                  <a:srgbClr val="282C34"/>
                </a:solidFill>
                <a:latin typeface="Tahoma"/>
              </a:rPr>
              <a:t>NOT an Automated Judicial Decision-Maker: </a:t>
            </a:r>
            <a:r>
              <a:rPr sz="1100" b="0">
                <a:solidFill>
                  <a:srgbClr val="282C34"/>
                </a:solidFill>
                <a:latin typeface="Tahoma"/>
              </a:rPr>
              <a:t>Does NOT determine which cases a judge must hear or alter court scheduling.</a:t>
            </a:r>
          </a:p>
          <a:p>
            <a:pPr>
              <a:spcAft>
                <a:spcPts val="300"/>
              </a:spcAft>
            </a:pPr>
            <a:r>
              <a:rPr sz="1100" b="1">
                <a:solidFill>
                  <a:srgbClr val="282C34"/>
                </a:solidFill>
                <a:latin typeface="Tahoma"/>
              </a:rPr>
              <a:t>Transparent &amp; Auditable: </a:t>
            </a:r>
            <a:r>
              <a:rPr sz="1100" b="0">
                <a:solidFill>
                  <a:srgbClr val="282C34"/>
                </a:solidFill>
                <a:latin typeface="Tahoma"/>
              </a:rPr>
              <a:t>Every priority score is fully traceable to explicit statutory and procedural feature weights.</a:t>
            </a:r>
          </a:p>
          <a:p>
            <a:pPr>
              <a:spcAft>
                <a:spcPts val="300"/>
              </a:spcAft>
            </a:pPr>
            <a:r>
              <a:rPr sz="1100" b="1">
                <a:solidFill>
                  <a:srgbClr val="282C34"/>
                </a:solidFill>
                <a:latin typeface="Tahoma"/>
              </a:rPr>
              <a:t>Human Oversight Preserved: </a:t>
            </a:r>
            <a:r>
              <a:rPr sz="1100" b="0">
                <a:solidFill>
                  <a:srgbClr val="282C34"/>
                </a:solidFill>
                <a:latin typeface="Tahoma"/>
              </a:rPr>
              <a:t>Final analysis and interpretation remain completely under authorized human researcher control.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FUTURE AI / ML PIPELINE ARCHITECTURE</a:t>
            </a:r>
          </a:p>
        </p:txBody>
      </p:sp>
      <p:sp>
        <p:nvSpPr>
          <p:cNvPr id="3" name="Rounded Rectangle 2"/>
          <p:cNvSpPr/>
          <p:nvPr/>
        </p:nvSpPr>
        <p:spPr>
          <a:xfrm>
            <a:off x="548640" y="1874519"/>
            <a:ext cx="2560320" cy="292608"/>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7B1FA2"/>
                </a:solidFill>
                <a:latin typeface="Tahoma"/>
              </a:defRPr>
            </a:pPr>
            <a:r>
              <a:t>FUTURE ARCHITECTURAL DESIGN</a:t>
            </a:r>
          </a:p>
        </p:txBody>
      </p:sp>
      <p:sp>
        <p:nvSpPr>
          <p:cNvPr id="4" name="Rounded Rectangle 3"/>
          <p:cNvSpPr/>
          <p:nvPr/>
        </p:nvSpPr>
        <p:spPr>
          <a:xfrm>
            <a:off x="548640" y="2240280"/>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1C3666"/>
                </a:solidFill>
                <a:latin typeface="Trebuchet MS"/>
              </a:rPr>
              <a:t>1. Structured Database → </a:t>
            </a:r>
            <a:r>
              <a:rPr sz="1050">
                <a:solidFill>
                  <a:srgbClr val="282C34"/>
                </a:solidFill>
                <a:latin typeface="Tahoma"/>
              </a:rPr>
              <a:t>Verified, normalized court dataset (Master Case details, Hearing History, Daily Status, Orders).</a:t>
            </a:r>
          </a:p>
        </p:txBody>
      </p:sp>
      <p:sp>
        <p:nvSpPr>
          <p:cNvPr id="5" name="Rounded Rectangle 4"/>
          <p:cNvSpPr/>
          <p:nvPr/>
        </p:nvSpPr>
        <p:spPr>
          <a:xfrm>
            <a:off x="548640" y="2907792"/>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1C3666"/>
                </a:solidFill>
                <a:latin typeface="Trebuchet MS"/>
              </a:rPr>
              <a:t>2. Data Preprocessing → </a:t>
            </a:r>
            <a:r>
              <a:rPr sz="1050">
                <a:solidFill>
                  <a:srgbClr val="282C34"/>
                </a:solidFill>
                <a:latin typeface="Tahoma"/>
              </a:rPr>
              <a:t>Text cleaning, Unicode tokenization, missing value imputation, and entity normalization.</a:t>
            </a:r>
          </a:p>
        </p:txBody>
      </p:sp>
      <p:sp>
        <p:nvSpPr>
          <p:cNvPr id="6" name="Rounded Rectangle 5"/>
          <p:cNvSpPr/>
          <p:nvPr/>
        </p:nvSpPr>
        <p:spPr>
          <a:xfrm>
            <a:off x="548640" y="3575304"/>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1C3666"/>
                </a:solidFill>
                <a:latin typeface="Trebuchet MS"/>
              </a:rPr>
              <a:t>3. Feature Engineering → </a:t>
            </a:r>
            <a:r>
              <a:rPr sz="1050">
                <a:solidFill>
                  <a:srgbClr val="282C34"/>
                </a:solidFill>
                <a:latin typeface="Tahoma"/>
              </a:rPr>
              <a:t>Extracts procedural metrics: total adjournments, hearing intervals, stage duration, and textual embeddings.</a:t>
            </a:r>
          </a:p>
        </p:txBody>
      </p:sp>
      <p:sp>
        <p:nvSpPr>
          <p:cNvPr id="7" name="Rounded Rectangle 6"/>
          <p:cNvSpPr/>
          <p:nvPr/>
        </p:nvSpPr>
        <p:spPr>
          <a:xfrm>
            <a:off x="548640" y="4242816"/>
            <a:ext cx="8961120" cy="594360"/>
          </a:xfrm>
          <a:prstGeom prst="roundRect">
            <a:avLst/>
          </a:prstGeom>
          <a:solidFill>
            <a:srgbClr val="F3E5F5"/>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1C3666"/>
                </a:solidFill>
                <a:latin typeface="Trebuchet MS"/>
              </a:rPr>
              <a:t>4. ML &amp; Analytics Models → </a:t>
            </a:r>
            <a:r>
              <a:rPr sz="1050">
                <a:solidFill>
                  <a:srgbClr val="282C34"/>
                </a:solidFill>
                <a:latin typeface="Tahoma"/>
              </a:rPr>
              <a:t>Clustering algorithms (K-Means, DBSCAN), similarity search, and rule-based priority scoring.</a:t>
            </a:r>
          </a:p>
        </p:txBody>
      </p:sp>
      <p:sp>
        <p:nvSpPr>
          <p:cNvPr id="8" name="Rounded Rectangle 7"/>
          <p:cNvSpPr/>
          <p:nvPr/>
        </p:nvSpPr>
        <p:spPr>
          <a:xfrm>
            <a:off x="548640" y="4910328"/>
            <a:ext cx="8961120" cy="594360"/>
          </a:xfrm>
          <a:prstGeom prst="roundRect">
            <a:avLst/>
          </a:prstGeom>
          <a:solidFill>
            <a:srgbClr val="F3E5F5"/>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1C3666"/>
                </a:solidFill>
                <a:latin typeface="Trebuchet MS"/>
              </a:rPr>
              <a:t>5. Case Representations → </a:t>
            </a:r>
            <a:r>
              <a:rPr sz="1050">
                <a:solidFill>
                  <a:srgbClr val="282C34"/>
                </a:solidFill>
                <a:latin typeface="Tahoma"/>
              </a:rPr>
              <a:t>Generates multi-dimensional vector embeddings and procedural feature vectors for each case.</a:t>
            </a:r>
          </a:p>
        </p:txBody>
      </p:sp>
      <p:sp>
        <p:nvSpPr>
          <p:cNvPr id="9" name="Rounded Rectangle 8"/>
          <p:cNvSpPr/>
          <p:nvPr/>
        </p:nvSpPr>
        <p:spPr>
          <a:xfrm>
            <a:off x="548640" y="5577840"/>
            <a:ext cx="8961120" cy="594360"/>
          </a:xfrm>
          <a:prstGeom prst="roundRect">
            <a:avLst/>
          </a:prstGeom>
          <a:solidFill>
            <a:srgbClr val="F3E5F5"/>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1C3666"/>
                </a:solidFill>
                <a:latin typeface="Trebuchet MS"/>
              </a:rPr>
              <a:t>6. Researcher Dashboard → </a:t>
            </a:r>
            <a:r>
              <a:rPr sz="1050">
                <a:solidFill>
                  <a:srgbClr val="282C34"/>
                </a:solidFill>
                <a:latin typeface="Tahoma"/>
              </a:rPr>
              <a:t>Delivers interactive visual dashboards, cohort filtering, and empirical analytical reports.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SOFTWARE REQUIREMENTS &amp; TECH STACK</a:t>
            </a:r>
          </a:p>
        </p:txBody>
      </p:sp>
      <p:sp>
        <p:nvSpPr>
          <p:cNvPr id="3" name="Rounded Rectangle 2"/>
          <p:cNvSpPr/>
          <p:nvPr/>
        </p:nvSpPr>
        <p:spPr>
          <a:xfrm>
            <a:off x="548640" y="1874519"/>
            <a:ext cx="2194560" cy="29260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2E7D32"/>
                </a:solidFill>
                <a:latin typeface="Tahoma"/>
              </a:defRPr>
            </a:pPr>
            <a:r>
              <a:t>VERIFIED TECH STACK</a:t>
            </a:r>
          </a:p>
        </p:txBody>
      </p:sp>
      <p:sp>
        <p:nvSpPr>
          <p:cNvPr id="4" name="Rounded Rectangle 3"/>
          <p:cNvSpPr/>
          <p:nvPr/>
        </p:nvSpPr>
        <p:spPr>
          <a:xfrm>
            <a:off x="548640" y="2286000"/>
            <a:ext cx="429768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t>Automation, Parsing &amp; Storage</a:t>
            </a:r>
          </a:p>
          <a:p>
            <a:pPr>
              <a:spcAft>
                <a:spcPts val="300"/>
              </a:spcAft>
            </a:pPr>
            <a:r>
              <a:rPr sz="1100" b="1">
                <a:solidFill>
                  <a:srgbClr val="282C34"/>
                </a:solidFill>
                <a:latin typeface="Tahoma"/>
              </a:rPr>
              <a:t>Programming Runtime: </a:t>
            </a:r>
            <a:r>
              <a:rPr sz="1100" b="0">
                <a:solidFill>
                  <a:srgbClr val="282C34"/>
                </a:solidFill>
                <a:latin typeface="Tahoma"/>
              </a:rPr>
              <a:t>Python 3.12+ (modern asynchronous features and robust typing).</a:t>
            </a:r>
          </a:p>
          <a:p>
            <a:pPr>
              <a:spcAft>
                <a:spcPts val="300"/>
              </a:spcAft>
            </a:pPr>
            <a:r>
              <a:rPr sz="1100" b="1">
                <a:solidFill>
                  <a:srgbClr val="282C34"/>
                </a:solidFill>
                <a:latin typeface="Tahoma"/>
              </a:rPr>
              <a:t>Browser Automation: </a:t>
            </a:r>
            <a:r>
              <a:rPr sz="1100" b="0">
                <a:solidFill>
                  <a:srgbClr val="282C34"/>
                </a:solidFill>
                <a:latin typeface="Tahoma"/>
              </a:rPr>
              <a:t>Playwright with Chromium engine for robust portal navigation and session management.</a:t>
            </a:r>
          </a:p>
          <a:p>
            <a:pPr>
              <a:spcAft>
                <a:spcPts val="300"/>
              </a:spcAft>
            </a:pPr>
            <a:r>
              <a:rPr sz="1100" b="1">
                <a:solidFill>
                  <a:srgbClr val="282C34"/>
                </a:solidFill>
                <a:latin typeface="Tahoma"/>
              </a:rPr>
              <a:t>HTML &amp; DOM Parsing: </a:t>
            </a:r>
            <a:r>
              <a:rPr sz="1100" b="0">
                <a:solidFill>
                  <a:srgbClr val="282C34"/>
                </a:solidFill>
                <a:latin typeface="Tahoma"/>
              </a:rPr>
              <a:t>BeautifulSoup4 + lxml parser for fast, accurate structured HTML extraction.</a:t>
            </a:r>
          </a:p>
          <a:p>
            <a:pPr>
              <a:spcAft>
                <a:spcPts val="300"/>
              </a:spcAft>
            </a:pPr>
            <a:r>
              <a:rPr sz="1100" b="1">
                <a:solidFill>
                  <a:srgbClr val="282C34"/>
                </a:solidFill>
                <a:latin typeface="Tahoma"/>
              </a:rPr>
              <a:t>Data Serialization: </a:t>
            </a:r>
            <a:r>
              <a:rPr sz="1100" b="0">
                <a:solidFill>
                  <a:srgbClr val="282C34"/>
                </a:solidFill>
                <a:latin typeface="Tahoma"/>
              </a:rPr>
              <a:t>JSON (strongly-typed dataclass schemas in `models.py`).</a:t>
            </a:r>
          </a:p>
          <a:p>
            <a:pPr>
              <a:spcAft>
                <a:spcPts val="300"/>
              </a:spcAft>
            </a:pPr>
            <a:r>
              <a:rPr sz="1100" b="1">
                <a:solidFill>
                  <a:srgbClr val="282C34"/>
                </a:solidFill>
                <a:latin typeface="Tahoma"/>
              </a:rPr>
              <a:t>Spreadsheet &amp; Relational Export: </a:t>
            </a:r>
            <a:r>
              <a:rPr sz="1100" b="0">
                <a:solidFill>
                  <a:srgbClr val="282C34"/>
                </a:solidFill>
                <a:latin typeface="Tahoma"/>
              </a:rPr>
              <a:t>Pandas, OpenPyXL, and UTF-8 with BOM CSV compilation.</a:t>
            </a:r>
          </a:p>
        </p:txBody>
      </p:sp>
      <p:sp>
        <p:nvSpPr>
          <p:cNvPr id="5" name="Rounded Rectangle 4"/>
          <p:cNvSpPr/>
          <p:nvPr/>
        </p:nvSpPr>
        <p:spPr>
          <a:xfrm>
            <a:off x="5120640" y="2286000"/>
            <a:ext cx="438912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t>System Resilience &amp; Quality Assurance</a:t>
            </a:r>
          </a:p>
          <a:p>
            <a:pPr>
              <a:spcAft>
                <a:spcPts val="300"/>
              </a:spcAft>
            </a:pPr>
            <a:r>
              <a:rPr sz="1100" b="1">
                <a:solidFill>
                  <a:srgbClr val="282C34"/>
                </a:solidFill>
                <a:latin typeface="Tahoma"/>
              </a:rPr>
              <a:t>Logging Architecture: </a:t>
            </a:r>
            <a:r>
              <a:rPr sz="1100" b="0">
                <a:solidFill>
                  <a:srgbClr val="282C34"/>
                </a:solidFill>
                <a:latin typeface="Tahoma"/>
              </a:rPr>
              <a:t>Python `logging` with timed rotating file handlers (`ecourts_scraper.log`).</a:t>
            </a:r>
          </a:p>
          <a:p>
            <a:pPr>
              <a:spcAft>
                <a:spcPts val="300"/>
              </a:spcAft>
            </a:pPr>
            <a:r>
              <a:rPr sz="1100" b="1">
                <a:solidFill>
                  <a:srgbClr val="282C34"/>
                </a:solidFill>
                <a:latin typeface="Tahoma"/>
              </a:rPr>
              <a:t>Fault Tolerance: </a:t>
            </a:r>
            <a:r>
              <a:rPr sz="1100" b="0">
                <a:solidFill>
                  <a:srgbClr val="282C34"/>
                </a:solidFill>
                <a:latin typeface="Tahoma"/>
              </a:rPr>
              <a:t>Custom exponential backoff retry decorators for network resilience.</a:t>
            </a:r>
          </a:p>
          <a:p>
            <a:pPr>
              <a:spcAft>
                <a:spcPts val="300"/>
              </a:spcAft>
            </a:pPr>
            <a:r>
              <a:rPr sz="1100" b="1">
                <a:solidFill>
                  <a:srgbClr val="282C34"/>
                </a:solidFill>
                <a:latin typeface="Tahoma"/>
              </a:rPr>
              <a:t>Field Auditing Suite: </a:t>
            </a:r>
            <a:r>
              <a:rPr sz="1100" b="0">
                <a:solidFill>
                  <a:srgbClr val="282C34"/>
                </a:solidFill>
                <a:latin typeface="Tahoma"/>
              </a:rPr>
              <a:t>Automated zero-loss field validation comparing Web DOM vs. JSON vs. CSV.</a:t>
            </a:r>
          </a:p>
          <a:p>
            <a:pPr>
              <a:spcAft>
                <a:spcPts val="300"/>
              </a:spcAft>
            </a:pPr>
            <a:r>
              <a:rPr sz="1100" b="1">
                <a:solidFill>
                  <a:srgbClr val="282C34"/>
                </a:solidFill>
                <a:latin typeface="Tahoma"/>
              </a:rPr>
              <a:t>Unit &amp; Integration Testing: </a:t>
            </a:r>
            <a:r>
              <a:rPr sz="1100" b="0">
                <a:solidFill>
                  <a:srgbClr val="282C34"/>
                </a:solidFill>
                <a:latin typeface="Tahoma"/>
              </a:rPr>
              <a:t>Pytest automated test suites verifying model schemas and exporter consistency.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HARDWARE &amp; RUNTIME ENVIRONMENT</a:t>
            </a:r>
          </a:p>
        </p:txBody>
      </p:sp>
      <p:sp>
        <p:nvSpPr>
          <p:cNvPr id="3" name="Rounded Rectangle 2"/>
          <p:cNvSpPr/>
          <p:nvPr/>
        </p:nvSpPr>
        <p:spPr>
          <a:xfrm>
            <a:off x="548640" y="1874519"/>
            <a:ext cx="219456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1565C0"/>
                </a:solidFill>
                <a:latin typeface="Tahoma"/>
              </a:defRPr>
            </a:pPr>
            <a:r>
              <a:t>SYSTEM REQUIREMENTS</a:t>
            </a:r>
          </a:p>
        </p:txBody>
      </p:sp>
      <p:sp>
        <p:nvSpPr>
          <p:cNvPr id="4" name="Rounded Rectangle 3"/>
          <p:cNvSpPr/>
          <p:nvPr/>
        </p:nvSpPr>
        <p:spPr>
          <a:xfrm>
            <a:off x="548640" y="2286000"/>
            <a:ext cx="429768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t>Hardware &amp; System Environment</a:t>
            </a:r>
          </a:p>
          <a:p>
            <a:pPr>
              <a:spcAft>
                <a:spcPts val="300"/>
              </a:spcAft>
            </a:pPr>
            <a:r>
              <a:rPr sz="1100" b="1">
                <a:solidFill>
                  <a:srgbClr val="282C34"/>
                </a:solidFill>
                <a:latin typeface="Tahoma"/>
              </a:rPr>
              <a:t>Architecture Type: </a:t>
            </a:r>
            <a:r>
              <a:rPr sz="1100" b="0">
                <a:solidFill>
                  <a:srgbClr val="282C34"/>
                </a:solidFill>
                <a:latin typeface="Tahoma"/>
              </a:rPr>
              <a:t>Software-based data pipeline and web application platform.</a:t>
            </a:r>
          </a:p>
          <a:p>
            <a:pPr>
              <a:spcAft>
                <a:spcPts val="300"/>
              </a:spcAft>
            </a:pPr>
            <a:r>
              <a:rPr sz="1100" b="1">
                <a:solidFill>
                  <a:srgbClr val="282C34"/>
                </a:solidFill>
                <a:latin typeface="Tahoma"/>
              </a:rPr>
              <a:t>Compute Hardware: </a:t>
            </a:r>
            <a:r>
              <a:rPr sz="1100" b="0">
                <a:solidFill>
                  <a:srgbClr val="282C34"/>
                </a:solidFill>
                <a:latin typeface="Tahoma"/>
              </a:rPr>
              <a:t>Standard laptop or workstation (Intel Core i5 / AMD Ryzen 5 or higher).</a:t>
            </a:r>
          </a:p>
          <a:p>
            <a:pPr>
              <a:spcAft>
                <a:spcPts val="300"/>
              </a:spcAft>
            </a:pPr>
            <a:r>
              <a:rPr sz="1100" b="1">
                <a:solidFill>
                  <a:srgbClr val="282C34"/>
                </a:solidFill>
                <a:latin typeface="Tahoma"/>
              </a:rPr>
              <a:t>Memory (RAM): </a:t>
            </a:r>
            <a:r>
              <a:rPr sz="1100" b="0">
                <a:solidFill>
                  <a:srgbClr val="282C34"/>
                </a:solidFill>
                <a:latin typeface="Tahoma"/>
              </a:rPr>
              <a:t>8 GB RAM minimum (16 GB recommended for large dataset processing).</a:t>
            </a:r>
          </a:p>
          <a:p>
            <a:pPr>
              <a:spcAft>
                <a:spcPts val="300"/>
              </a:spcAft>
            </a:pPr>
            <a:r>
              <a:rPr sz="1100" b="1">
                <a:solidFill>
                  <a:srgbClr val="282C34"/>
                </a:solidFill>
                <a:latin typeface="Tahoma"/>
              </a:rPr>
              <a:t>Storage: </a:t>
            </a:r>
            <a:r>
              <a:rPr sz="1100" b="0">
                <a:solidFill>
                  <a:srgbClr val="282C34"/>
                </a:solidFill>
                <a:latin typeface="Tahoma"/>
              </a:rPr>
              <a:t>10 GB available SSD storage for case databases, JSON records, and logs.</a:t>
            </a:r>
          </a:p>
          <a:p>
            <a:pPr>
              <a:spcAft>
                <a:spcPts val="300"/>
              </a:spcAft>
            </a:pPr>
            <a:r>
              <a:rPr sz="1100" b="1">
                <a:solidFill>
                  <a:srgbClr val="282C34"/>
                </a:solidFill>
                <a:latin typeface="Tahoma"/>
              </a:rPr>
              <a:t>Operating System: </a:t>
            </a:r>
            <a:r>
              <a:rPr sz="1100" b="0">
                <a:solidFill>
                  <a:srgbClr val="282C34"/>
                </a:solidFill>
                <a:latin typeface="Tahoma"/>
              </a:rPr>
              <a:t>Cross-platform compatibility: Windows 11, Linux (Ubuntu 22.04+), macOS.</a:t>
            </a:r>
          </a:p>
        </p:txBody>
      </p:sp>
      <p:sp>
        <p:nvSpPr>
          <p:cNvPr id="5" name="Rounded Rectangle 4"/>
          <p:cNvSpPr/>
          <p:nvPr/>
        </p:nvSpPr>
        <p:spPr>
          <a:xfrm>
            <a:off x="5120640" y="2286000"/>
            <a:ext cx="438912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t>Network &amp; Client Environment</a:t>
            </a:r>
          </a:p>
          <a:p>
            <a:pPr>
              <a:spcAft>
                <a:spcPts val="300"/>
              </a:spcAft>
            </a:pPr>
            <a:r>
              <a:rPr sz="1100" b="1">
                <a:solidFill>
                  <a:srgbClr val="282C34"/>
                </a:solidFill>
                <a:latin typeface="Tahoma"/>
              </a:rPr>
              <a:t>Network Connectivity: </a:t>
            </a:r>
            <a:r>
              <a:rPr sz="1100" b="0">
                <a:solidFill>
                  <a:srgbClr val="282C34"/>
                </a:solidFill>
                <a:latin typeface="Tahoma"/>
              </a:rPr>
              <a:t>Stable broadband internet connection required for live eCourts portal queries.</a:t>
            </a:r>
          </a:p>
          <a:p>
            <a:pPr>
              <a:spcAft>
                <a:spcPts val="300"/>
              </a:spcAft>
            </a:pPr>
            <a:r>
              <a:rPr sz="1100" b="1">
                <a:solidFill>
                  <a:srgbClr val="282C34"/>
                </a:solidFill>
                <a:latin typeface="Tahoma"/>
              </a:rPr>
              <a:t>Client Web Browser: </a:t>
            </a:r>
            <a:r>
              <a:rPr sz="1100" b="0">
                <a:solidFill>
                  <a:srgbClr val="282C34"/>
                </a:solidFill>
                <a:latin typeface="Tahoma"/>
              </a:rPr>
              <a:t>Modern web browser (Google Chrome, Mozilla Firefox, Microsoft Edge).</a:t>
            </a:r>
          </a:p>
          <a:p>
            <a:pPr>
              <a:spcAft>
                <a:spcPts val="300"/>
              </a:spcAft>
            </a:pPr>
            <a:r>
              <a:rPr sz="1100" b="1">
                <a:solidFill>
                  <a:srgbClr val="282C34"/>
                </a:solidFill>
                <a:latin typeface="Tahoma"/>
              </a:rPr>
              <a:t>Display Resolution: </a:t>
            </a:r>
            <a:r>
              <a:rPr sz="1100" b="0">
                <a:solidFill>
                  <a:srgbClr val="282C34"/>
                </a:solidFill>
                <a:latin typeface="Tahoma"/>
              </a:rPr>
              <a:t>1080p FHD (1920x1080) optimized for researcher multi-tab case workspace.</a:t>
            </a:r>
          </a:p>
          <a:p>
            <a:pPr>
              <a:spcAft>
                <a:spcPts val="300"/>
              </a:spcAft>
            </a:pPr>
            <a:r>
              <a:rPr sz="1100" b="1">
                <a:solidFill>
                  <a:srgbClr val="282C34"/>
                </a:solidFill>
                <a:latin typeface="Tahoma"/>
              </a:rPr>
              <a:t>No Specialized Sensors: </a:t>
            </a:r>
            <a:r>
              <a:rPr sz="1100" b="0">
                <a:solidFill>
                  <a:srgbClr val="282C34"/>
                </a:solidFill>
                <a:latin typeface="Tahoma"/>
              </a:rPr>
              <a:t>Pure software platform — requires no microcontrollers, cameras, or embedded hardware.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DATA INTEGRITY &amp; VALIDATION FRAMEWORK</a:t>
            </a:r>
          </a:p>
        </p:txBody>
      </p:sp>
      <p:sp>
        <p:nvSpPr>
          <p:cNvPr id="3" name="Rounded Rectangle 2"/>
          <p:cNvSpPr/>
          <p:nvPr/>
        </p:nvSpPr>
        <p:spPr>
          <a:xfrm>
            <a:off x="548640" y="1874519"/>
            <a:ext cx="2286000" cy="29260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2E7D32"/>
                </a:solidFill>
                <a:latin typeface="Tahoma"/>
              </a:defRPr>
            </a:pPr>
            <a:r>
              <a:t>QUALITY ASSURANCE</a:t>
            </a:r>
          </a:p>
        </p:txBody>
      </p:sp>
      <p:sp>
        <p:nvSpPr>
          <p:cNvPr id="4" name="Rounded Rectangle 3"/>
          <p:cNvSpPr/>
          <p:nvPr/>
        </p:nvSpPr>
        <p:spPr>
          <a:xfrm>
            <a:off x="548640" y="2286000"/>
            <a:ext cx="429768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t>Core Integrity Principles</a:t>
            </a:r>
          </a:p>
          <a:p>
            <a:pPr>
              <a:spcAft>
                <a:spcPts val="300"/>
              </a:spcAft>
            </a:pPr>
            <a:r>
              <a:rPr sz="1100" b="1">
                <a:solidFill>
                  <a:srgbClr val="282C34"/>
                </a:solidFill>
                <a:latin typeface="Tahoma"/>
              </a:rPr>
              <a:t>Guiding Principle: </a:t>
            </a:r>
            <a:r>
              <a:rPr sz="1100" b="0">
                <a:solidFill>
                  <a:srgbClr val="282C34"/>
                </a:solidFill>
                <a:latin typeface="Tahoma"/>
              </a:rPr>
              <a:t>“Incorrect information is far more harmful than unavailable information.”</a:t>
            </a:r>
          </a:p>
          <a:p>
            <a:pPr>
              <a:spcAft>
                <a:spcPts val="300"/>
              </a:spcAft>
            </a:pPr>
            <a:r>
              <a:rPr sz="1100" b="1">
                <a:solidFill>
                  <a:srgbClr val="282C34"/>
                </a:solidFill>
                <a:latin typeface="Tahoma"/>
              </a:rPr>
              <a:t>Source Traceability: </a:t>
            </a:r>
            <a:r>
              <a:rPr sz="1100" b="0">
                <a:solidFill>
                  <a:srgbClr val="282C34"/>
                </a:solidFill>
                <a:latin typeface="Tahoma"/>
              </a:rPr>
              <a:t>Every database record retains exact CNR and court registration numbers for 100% auditability.</a:t>
            </a:r>
          </a:p>
          <a:p>
            <a:pPr>
              <a:spcAft>
                <a:spcPts val="300"/>
              </a:spcAft>
            </a:pPr>
            <a:r>
              <a:rPr sz="1100" b="1">
                <a:solidFill>
                  <a:srgbClr val="282C34"/>
                </a:solidFill>
                <a:latin typeface="Tahoma"/>
              </a:rPr>
              <a:t>Cross-Format Parity: </a:t>
            </a:r>
            <a:r>
              <a:rPr sz="1100" b="0">
                <a:solidFill>
                  <a:srgbClr val="282C34"/>
                </a:solidFill>
                <a:latin typeface="Tahoma"/>
              </a:rPr>
              <a:t>Strict 1-to-1 parity verification: Web DOM row count == JSON entries == CSV rows == Excel rows.</a:t>
            </a:r>
          </a:p>
          <a:p>
            <a:pPr>
              <a:spcAft>
                <a:spcPts val="300"/>
              </a:spcAft>
            </a:pPr>
            <a:r>
              <a:rPr sz="1100" b="1">
                <a:solidFill>
                  <a:srgbClr val="282C34"/>
                </a:solidFill>
                <a:latin typeface="Tahoma"/>
              </a:rPr>
              <a:t>Explicit Null Handling: </a:t>
            </a:r>
            <a:r>
              <a:rPr sz="1100" b="0">
                <a:solidFill>
                  <a:srgbClr val="282C34"/>
                </a:solidFill>
                <a:latin typeface="Tahoma"/>
              </a:rPr>
              <a:t>Unpopulated portal fields are explicitly stored as `null` rather than fabricated with synthetic defaults.</a:t>
            </a:r>
          </a:p>
        </p:txBody>
      </p:sp>
      <p:sp>
        <p:nvSpPr>
          <p:cNvPr id="5" name="Rounded Rectangle 4"/>
          <p:cNvSpPr/>
          <p:nvPr/>
        </p:nvSpPr>
        <p:spPr>
          <a:xfrm>
            <a:off x="5120640" y="2286000"/>
            <a:ext cx="438912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t>Linguistic &amp; Technical Safeguards</a:t>
            </a:r>
          </a:p>
          <a:p>
            <a:pPr>
              <a:spcAft>
                <a:spcPts val="300"/>
              </a:spcAft>
            </a:pPr>
            <a:r>
              <a:rPr sz="1100" b="1">
                <a:solidFill>
                  <a:srgbClr val="282C34"/>
                </a:solidFill>
                <a:latin typeface="Tahoma"/>
              </a:rPr>
              <a:t>Unicode / Script Fidelity: </a:t>
            </a:r>
            <a:r>
              <a:rPr sz="1100" b="0">
                <a:solidFill>
                  <a:srgbClr val="282C34"/>
                </a:solidFill>
                <a:latin typeface="Tahoma"/>
              </a:rPr>
              <a:t>Full preservation of Kannada vernacular text and special legal characters in business notes.</a:t>
            </a:r>
          </a:p>
          <a:p>
            <a:pPr>
              <a:spcAft>
                <a:spcPts val="300"/>
              </a:spcAft>
            </a:pPr>
            <a:r>
              <a:rPr sz="1100" b="1">
                <a:solidFill>
                  <a:srgbClr val="282C34"/>
                </a:solidFill>
                <a:latin typeface="Tahoma"/>
              </a:rPr>
              <a:t>Anti-Contamination Checks: </a:t>
            </a:r>
            <a:r>
              <a:rPr sz="1100" b="0">
                <a:solidFill>
                  <a:srgbClr val="282C34"/>
                </a:solidFill>
                <a:latin typeface="Tahoma"/>
              </a:rPr>
              <a:t>Strict case-boundary isolation ensuring orders and history records cannot cross-pollinate between cases.</a:t>
            </a:r>
          </a:p>
          <a:p>
            <a:pPr>
              <a:spcAft>
                <a:spcPts val="300"/>
              </a:spcAft>
            </a:pPr>
            <a:r>
              <a:rPr sz="1100" b="1">
                <a:solidFill>
                  <a:srgbClr val="282C34"/>
                </a:solidFill>
                <a:latin typeface="Tahoma"/>
              </a:rPr>
              <a:t>Atomicity in Serialization: </a:t>
            </a:r>
            <a:r>
              <a:rPr sz="1100" b="0">
                <a:solidFill>
                  <a:srgbClr val="282C34"/>
                </a:solidFill>
                <a:latin typeface="Tahoma"/>
              </a:rPr>
              <a:t>Atomic writing routines prevent corrupted partial records during unexpected interruptions.</a:t>
            </a:r>
          </a:p>
          <a:p>
            <a:pPr>
              <a:spcAft>
                <a:spcPts val="300"/>
              </a:spcAft>
            </a:pPr>
            <a:r>
              <a:rPr sz="1100" b="1">
                <a:solidFill>
                  <a:srgbClr val="282C34"/>
                </a:solidFill>
                <a:latin typeface="Tahoma"/>
              </a:rPr>
              <a:t>Automated Audit Logs: </a:t>
            </a:r>
            <a:r>
              <a:rPr sz="1100" b="0">
                <a:solidFill>
                  <a:srgbClr val="282C34"/>
                </a:solidFill>
                <a:latin typeface="Tahoma"/>
              </a:rPr>
              <a:t>Every extraction run generates machine-readable audit reports verifying all sections PASS.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SERVICE LEARNING VALUE &amp; ACADEMIC IMPACT</a:t>
            </a:r>
          </a:p>
        </p:txBody>
      </p:sp>
      <p:sp>
        <p:nvSpPr>
          <p:cNvPr id="3" name="Rounded Rectangle 2"/>
          <p:cNvSpPr/>
          <p:nvPr/>
        </p:nvSpPr>
        <p:spPr>
          <a:xfrm>
            <a:off x="548640" y="1874519"/>
            <a:ext cx="2377440" cy="29260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2E7D32"/>
                </a:solidFill>
                <a:latin typeface="Tahoma"/>
              </a:defRPr>
            </a:pPr>
            <a:r>
              <a:t>COMMUNITY ENGAGEMENT</a:t>
            </a:r>
          </a:p>
        </p:txBody>
      </p:sp>
      <p:sp>
        <p:nvSpPr>
          <p:cNvPr id="4" name="Rounded Rectangle 3"/>
          <p:cNvSpPr/>
          <p:nvPr/>
        </p:nvSpPr>
        <p:spPr>
          <a:xfrm>
            <a:off x="548640" y="2286000"/>
            <a:ext cx="429768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t>Real-World Civic Technology</a:t>
            </a:r>
          </a:p>
          <a:p>
            <a:pPr>
              <a:spcAft>
                <a:spcPts val="300"/>
              </a:spcAft>
            </a:pPr>
            <a:r>
              <a:rPr sz="1100" b="1">
                <a:solidFill>
                  <a:srgbClr val="282C34"/>
                </a:solidFill>
                <a:latin typeface="Tahoma"/>
              </a:rPr>
              <a:t>Beyond 'Learning Scraping': </a:t>
            </a:r>
            <a:r>
              <a:rPr sz="1100" b="0">
                <a:solidFill>
                  <a:srgbClr val="282C34"/>
                </a:solidFill>
                <a:latin typeface="Tahoma"/>
              </a:rPr>
              <a:t>Value lies in engineering a sustainable data pipeline and application that empowers public judicial research.</a:t>
            </a:r>
          </a:p>
          <a:p>
            <a:pPr>
              <a:spcAft>
                <a:spcPts val="300"/>
              </a:spcAft>
            </a:pPr>
            <a:r>
              <a:rPr sz="1100" b="1">
                <a:solidFill>
                  <a:srgbClr val="282C34"/>
                </a:solidFill>
                <a:latin typeface="Tahoma"/>
              </a:rPr>
              <a:t>Direct Civic Contribution: </a:t>
            </a:r>
            <a:r>
              <a:rPr sz="1100" b="0">
                <a:solidFill>
                  <a:srgbClr val="282C34"/>
                </a:solidFill>
                <a:latin typeface="Tahoma"/>
              </a:rPr>
              <a:t>Directly assists DAKSH in their mission to analyze court delay, case pendency, and justice administration.</a:t>
            </a:r>
          </a:p>
          <a:p>
            <a:pPr>
              <a:spcAft>
                <a:spcPts val="300"/>
              </a:spcAft>
            </a:pPr>
            <a:r>
              <a:rPr sz="1100" b="1">
                <a:solidFill>
                  <a:srgbClr val="282C34"/>
                </a:solidFill>
                <a:latin typeface="Tahoma"/>
              </a:rPr>
              <a:t>Open Legal Data Access: </a:t>
            </a:r>
            <a:r>
              <a:rPr sz="1100" b="0">
                <a:solidFill>
                  <a:srgbClr val="282C34"/>
                </a:solidFill>
                <a:latin typeface="Tahoma"/>
              </a:rPr>
              <a:t>Transforms opaque, multi-step web records into standardized, reusable open datasets for empirical legal scholars.</a:t>
            </a:r>
          </a:p>
          <a:p>
            <a:pPr>
              <a:spcAft>
                <a:spcPts val="300"/>
              </a:spcAft>
            </a:pPr>
            <a:r>
              <a:rPr sz="1100" b="1">
                <a:solidFill>
                  <a:srgbClr val="282C34"/>
                </a:solidFill>
                <a:latin typeface="Tahoma"/>
              </a:rPr>
              <a:t>Institutional Trust: </a:t>
            </a:r>
            <a:r>
              <a:rPr sz="1100" b="0">
                <a:solidFill>
                  <a:srgbClr val="282C34"/>
                </a:solidFill>
                <a:latin typeface="Tahoma"/>
              </a:rPr>
              <a:t>Adheres to rigorous academic data integrity, transparency, and ethical handling standards.</a:t>
            </a:r>
          </a:p>
        </p:txBody>
      </p:sp>
      <p:sp>
        <p:nvSpPr>
          <p:cNvPr id="5" name="Rounded Rectangle 4"/>
          <p:cNvSpPr/>
          <p:nvPr/>
        </p:nvSpPr>
        <p:spPr>
          <a:xfrm>
            <a:off x="5120640" y="2286000"/>
            <a:ext cx="438912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t>Technical &amp; Professional Learning</a:t>
            </a:r>
          </a:p>
          <a:p>
            <a:pPr>
              <a:spcAft>
                <a:spcPts val="300"/>
              </a:spcAft>
            </a:pPr>
            <a:r>
              <a:rPr sz="1100" b="1">
                <a:solidFill>
                  <a:srgbClr val="282C34"/>
                </a:solidFill>
                <a:latin typeface="Tahoma"/>
              </a:rPr>
              <a:t>Applied Software Engineering: </a:t>
            </a:r>
            <a:r>
              <a:rPr sz="1100" b="0">
                <a:solidFill>
                  <a:srgbClr val="282C34"/>
                </a:solidFill>
                <a:latin typeface="Tahoma"/>
              </a:rPr>
              <a:t>Mastered browser automation (Playwright), asynchronous DOM parsing, and robust error recovery.</a:t>
            </a:r>
          </a:p>
          <a:p>
            <a:pPr>
              <a:spcAft>
                <a:spcPts val="300"/>
              </a:spcAft>
            </a:pPr>
            <a:r>
              <a:rPr sz="1100" b="1">
                <a:solidFill>
                  <a:srgbClr val="282C34"/>
                </a:solidFill>
                <a:latin typeface="Tahoma"/>
              </a:rPr>
              <a:t>Data Modeling &amp; Relational Design: </a:t>
            </a:r>
            <a:r>
              <a:rPr sz="1100" b="0">
                <a:solidFill>
                  <a:srgbClr val="282C34"/>
                </a:solidFill>
                <a:latin typeface="Tahoma"/>
              </a:rPr>
              <a:t>Architected comprehensive relational schemas capturing complex judicial lifecycles.</a:t>
            </a:r>
          </a:p>
          <a:p>
            <a:pPr>
              <a:spcAft>
                <a:spcPts val="300"/>
              </a:spcAft>
            </a:pPr>
            <a:r>
              <a:rPr sz="1100" b="1">
                <a:solidFill>
                  <a:srgbClr val="282C34"/>
                </a:solidFill>
                <a:latin typeface="Tahoma"/>
              </a:rPr>
              <a:t>UI/UX for Specialized Domains: </a:t>
            </a:r>
            <a:r>
              <a:rPr sz="1100" b="0">
                <a:solidFill>
                  <a:srgbClr val="282C34"/>
                </a:solidFill>
                <a:latin typeface="Tahoma"/>
              </a:rPr>
              <a:t>Designed domain-specific researcher workflows, search interfaces, and case workspaces.</a:t>
            </a:r>
          </a:p>
          <a:p>
            <a:pPr>
              <a:spcAft>
                <a:spcPts val="300"/>
              </a:spcAft>
            </a:pPr>
            <a:r>
              <a:rPr sz="1100" b="1">
                <a:solidFill>
                  <a:srgbClr val="282C34"/>
                </a:solidFill>
                <a:latin typeface="Tahoma"/>
              </a:rPr>
              <a:t>Interdisciplinary Experience: </a:t>
            </a:r>
            <a:r>
              <a:rPr sz="1100" b="0">
                <a:solidFill>
                  <a:srgbClr val="282C34"/>
                </a:solidFill>
                <a:latin typeface="Tahoma"/>
              </a:rPr>
              <a:t>Bridged computer science and empirical legal research to create meaningful social impact.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TECHNICAL EVIDENCE &amp; BENCHMARK VALIDATION</a:t>
            </a:r>
          </a:p>
        </p:txBody>
      </p:sp>
      <p:sp>
        <p:nvSpPr>
          <p:cNvPr id="3" name="Rounded Rectangle 2"/>
          <p:cNvSpPr/>
          <p:nvPr/>
        </p:nvSpPr>
        <p:spPr>
          <a:xfrm>
            <a:off x="548640" y="1874519"/>
            <a:ext cx="2286000" cy="29260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2E7D32"/>
                </a:solidFill>
                <a:latin typeface="Tahoma"/>
              </a:defRPr>
            </a:pPr>
            <a:r>
              <a:t>VERIFIED EXECUTION</a:t>
            </a:r>
          </a:p>
        </p:txBody>
      </p:sp>
      <p:sp>
        <p:nvSpPr>
          <p:cNvPr id="4" name="Rounded Rectangle 3"/>
          <p:cNvSpPr/>
          <p:nvPr/>
        </p:nvSpPr>
        <p:spPr>
          <a:xfrm>
            <a:off x="548640" y="2286000"/>
            <a:ext cx="429768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t>Validated Benchmark Dataset (2010 EX Cases)</a:t>
            </a:r>
          </a:p>
          <a:p>
            <a:pPr>
              <a:spcAft>
                <a:spcPts val="300"/>
              </a:spcAft>
            </a:pPr>
            <a:r>
              <a:rPr sz="1100" b="1">
                <a:solidFill>
                  <a:srgbClr val="282C34"/>
                </a:solidFill>
                <a:latin typeface="Tahoma"/>
              </a:rPr>
              <a:t>Live Portal Execution: </a:t>
            </a:r>
            <a:r>
              <a:rPr sz="1100" b="0">
                <a:solidFill>
                  <a:srgbClr val="282C34"/>
                </a:solidFill>
                <a:latin typeface="Tahoma"/>
              </a:rPr>
              <a:t>Successfully navigated Karnataka eCourts portal for Bengaluru City Civil Court Complex.</a:t>
            </a:r>
          </a:p>
          <a:p>
            <a:pPr>
              <a:spcAft>
                <a:spcPts val="300"/>
              </a:spcAft>
            </a:pPr>
            <a:r>
              <a:rPr sz="1100" b="1">
                <a:solidFill>
                  <a:srgbClr val="282C34"/>
                </a:solidFill>
                <a:latin typeface="Tahoma"/>
              </a:rPr>
              <a:t>Benchmark Scope: </a:t>
            </a:r>
            <a:r>
              <a:rPr sz="1100" b="0">
                <a:solidFill>
                  <a:srgbClr val="282C34"/>
                </a:solidFill>
                <a:latin typeface="Tahoma"/>
              </a:rPr>
              <a:t>Complete extraction of the first 20 disposed Executive Petition (EX) cases from 2010.</a:t>
            </a:r>
          </a:p>
          <a:p>
            <a:pPr>
              <a:spcAft>
                <a:spcPts val="300"/>
              </a:spcAft>
            </a:pPr>
            <a:r>
              <a:rPr sz="1100" b="1">
                <a:solidFill>
                  <a:srgbClr val="282C34"/>
                </a:solidFill>
                <a:latin typeface="Tahoma"/>
              </a:rPr>
              <a:t>100% Field Capture: </a:t>
            </a:r>
            <a:r>
              <a:rPr sz="1100" b="0">
                <a:solidFill>
                  <a:srgbClr val="282C34"/>
                </a:solidFill>
                <a:latin typeface="Tahoma"/>
              </a:rPr>
              <a:t>Extracted all case details, party hierarchies, acts/sections, hearing histories, and business orders.</a:t>
            </a:r>
          </a:p>
          <a:p>
            <a:pPr>
              <a:spcAft>
                <a:spcPts val="300"/>
              </a:spcAft>
            </a:pPr>
            <a:r>
              <a:rPr sz="1100" b="1">
                <a:solidFill>
                  <a:srgbClr val="282C34"/>
                </a:solidFill>
                <a:latin typeface="Tahoma"/>
              </a:rPr>
              <a:t>Validated Outputs: </a:t>
            </a:r>
            <a:r>
              <a:rPr sz="1100" b="0">
                <a:solidFill>
                  <a:srgbClr val="282C34"/>
                </a:solidFill>
                <a:latin typeface="Tahoma"/>
              </a:rPr>
              <a:t>Generated `Consolidated_Executive_Petitions_2023_FINAL.csv`, `cases.json`, and supporting relation CSVs.</a:t>
            </a:r>
          </a:p>
          <a:p>
            <a:pPr>
              <a:spcAft>
                <a:spcPts val="300"/>
              </a:spcAft>
            </a:pPr>
            <a:r>
              <a:rPr sz="1100" b="1">
                <a:solidFill>
                  <a:srgbClr val="282C34"/>
                </a:solidFill>
                <a:latin typeface="Tahoma"/>
              </a:rPr>
              <a:t>Automated Audit Pass: </a:t>
            </a:r>
            <a:r>
              <a:rPr sz="1100" b="0">
                <a:solidFill>
                  <a:srgbClr val="282C34"/>
                </a:solidFill>
                <a:latin typeface="Tahoma"/>
              </a:rPr>
              <a:t>Audit suite verified 0 missing fields across all sections and perfect row-count parity.</a:t>
            </a:r>
          </a:p>
        </p:txBody>
      </p:sp>
      <p:sp>
        <p:nvSpPr>
          <p:cNvPr id="5" name="Rounded Rectangle 4"/>
          <p:cNvSpPr/>
          <p:nvPr/>
        </p:nvSpPr>
        <p:spPr>
          <a:xfrm>
            <a:off x="5120640" y="2286000"/>
            <a:ext cx="4389120" cy="393192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courts Navigating.jpeg"/>
          <p:cNvPicPr>
            <a:picLocks noChangeAspect="1"/>
          </p:cNvPicPr>
          <p:nvPr/>
        </p:nvPicPr>
        <p:blipFill>
          <a:blip r:embed="rId2"/>
          <a:stretch>
            <a:fillRect/>
          </a:stretch>
        </p:blipFill>
        <p:spPr>
          <a:xfrm>
            <a:off x="5212080" y="2423160"/>
            <a:ext cx="4206240" cy="2011680"/>
          </a:xfrm>
          <a:prstGeom prst="rect">
            <a:avLst/>
          </a:prstGeom>
        </p:spPr>
      </p:pic>
      <p:sp>
        <p:nvSpPr>
          <p:cNvPr id="7" name="TextBox 6"/>
          <p:cNvSpPr txBox="1"/>
          <p:nvPr/>
        </p:nvSpPr>
        <p:spPr>
          <a:xfrm>
            <a:off x="5212080" y="4526280"/>
            <a:ext cx="4206240" cy="1554480"/>
          </a:xfrm>
          <a:prstGeom prst="rect">
            <a:avLst/>
          </a:prstGeom>
          <a:noFill/>
        </p:spPr>
        <p:txBody>
          <a:bodyPr wrap="square">
            <a:spAutoFit/>
          </a:bodyPr>
          <a:lstStyle/>
          <a:p>
            <a:pPr>
              <a:defRPr sz="1100" b="1">
                <a:solidFill>
                  <a:srgbClr val="0F2043"/>
                </a:solidFill>
                <a:latin typeface="Trebuchet MS"/>
              </a:defRPr>
            </a:pPr>
            <a:r>
              <a:t>Technical Evidence: eCourts Navigation Pipeline</a:t>
            </a:r>
          </a:p>
          <a:p>
            <a:pPr>
              <a:defRPr sz="950">
                <a:solidFill>
                  <a:srgbClr val="282C34"/>
                </a:solidFill>
                <a:latin typeface="Tahoma"/>
              </a:defRPr>
            </a:pPr>
            <a:r>
              <a:t>Automated case-type search configuration, dynamic establishment selection, and Playwright session management on official Karnataka eCourts portal.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CURRENT IMPLEMENTATION STATUS</a:t>
            </a:r>
          </a:p>
        </p:txBody>
      </p:sp>
      <p:sp>
        <p:nvSpPr>
          <p:cNvPr id="3" name="Rounded Rectangle 2"/>
          <p:cNvSpPr/>
          <p:nvPr/>
        </p:nvSpPr>
        <p:spPr>
          <a:xfrm>
            <a:off x="548640" y="1874519"/>
            <a:ext cx="228600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1565C0"/>
                </a:solidFill>
                <a:latin typeface="Tahoma"/>
              </a:defRPr>
            </a:pPr>
            <a:r>
              <a:t>PROJECT MILESTONES</a:t>
            </a:r>
          </a:p>
        </p:txBody>
      </p:sp>
      <p:sp>
        <p:nvSpPr>
          <p:cNvPr id="4" name="Rounded Rectangle 3"/>
          <p:cNvSpPr/>
          <p:nvPr/>
        </p:nvSpPr>
        <p:spPr>
          <a:xfrm>
            <a:off x="548640" y="2286000"/>
            <a:ext cx="2880360" cy="3931920"/>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200" b="1">
                <a:solidFill>
                  <a:srgbClr val="2E7D32"/>
                </a:solidFill>
                <a:latin typeface="Trebuchet MS"/>
              </a:defRPr>
            </a:pPr>
            <a:r>
              <a:t>Completed &amp; Validated</a:t>
            </a:r>
            <a:br/>
            <a:r>
              <a:t>[CURRENT SYSTEM]</a:t>
            </a:r>
          </a:p>
          <a:p>
            <a:pPr>
              <a:spcAft>
                <a:spcPts val="300"/>
              </a:spcAft>
            </a:pPr>
            <a:r>
              <a:rPr sz="1000" b="1">
                <a:solidFill>
                  <a:srgbClr val="282C34"/>
                </a:solidFill>
                <a:latin typeface="Tahoma"/>
              </a:rPr>
              <a:t>Playwright Automation: </a:t>
            </a:r>
            <a:r>
              <a:rPr sz="1000" b="0">
                <a:solidFill>
                  <a:srgbClr val="282C34"/>
                </a:solidFill>
                <a:latin typeface="Tahoma"/>
              </a:rPr>
              <a:t>Dynamic portal navigation, search execution &amp; human-in-the-loop CAPTCHA.</a:t>
            </a:r>
          </a:p>
          <a:p>
            <a:pPr>
              <a:spcAft>
                <a:spcPts val="300"/>
              </a:spcAft>
            </a:pPr>
            <a:r>
              <a:rPr sz="1000" b="1">
                <a:solidFill>
                  <a:srgbClr val="282C34"/>
                </a:solidFill>
                <a:latin typeface="Tahoma"/>
              </a:rPr>
              <a:t>Multi-Section Parser: </a:t>
            </a:r>
            <a:r>
              <a:rPr sz="1000" b="0">
                <a:solidFill>
                  <a:srgbClr val="282C34"/>
                </a:solidFill>
                <a:latin typeface="Tahoma"/>
              </a:rPr>
              <a:t>Exhaustive extraction of case metadata, parties, acts, hearings &amp; orders.</a:t>
            </a:r>
          </a:p>
          <a:p>
            <a:pPr>
              <a:spcAft>
                <a:spcPts val="300"/>
              </a:spcAft>
            </a:pPr>
            <a:r>
              <a:rPr sz="1000" b="1">
                <a:solidFill>
                  <a:srgbClr val="282C34"/>
                </a:solidFill>
                <a:latin typeface="Tahoma"/>
              </a:rPr>
              <a:t>Daily Status Extraction: </a:t>
            </a:r>
            <a:r>
              <a:rPr sz="1000" b="0">
                <a:solidFill>
                  <a:srgbClr val="282C34"/>
                </a:solidFill>
                <a:latin typeface="Tahoma"/>
              </a:rPr>
              <a:t>Automated opening and scraping of every order hyperlink and business text.</a:t>
            </a:r>
          </a:p>
          <a:p>
            <a:pPr>
              <a:spcAft>
                <a:spcPts val="300"/>
              </a:spcAft>
            </a:pPr>
            <a:r>
              <a:rPr sz="1000" b="1">
                <a:solidFill>
                  <a:srgbClr val="282C34"/>
                </a:solidFill>
                <a:latin typeface="Tahoma"/>
              </a:rPr>
              <a:t>Zero-Loss Auditor: </a:t>
            </a:r>
            <a:r>
              <a:rPr sz="1000" b="0">
                <a:solidFill>
                  <a:srgbClr val="282C34"/>
                </a:solidFill>
                <a:latin typeface="Tahoma"/>
              </a:rPr>
              <a:t>Automated field-by-field audit suite confirming 100% capture fidelity.</a:t>
            </a:r>
          </a:p>
          <a:p>
            <a:pPr>
              <a:spcAft>
                <a:spcPts val="300"/>
              </a:spcAft>
            </a:pPr>
            <a:r>
              <a:rPr sz="1000" b="1">
                <a:solidFill>
                  <a:srgbClr val="282C34"/>
                </a:solidFill>
                <a:latin typeface="Tahoma"/>
              </a:rPr>
              <a:t>Benchmark Dataset: </a:t>
            </a:r>
            <a:r>
              <a:rPr sz="1000" b="0">
                <a:solidFill>
                  <a:srgbClr val="282C34"/>
                </a:solidFill>
                <a:latin typeface="Tahoma"/>
              </a:rPr>
              <a:t>Gold-standard 2010 Bengaluru City Civil Court EX dataset produced.</a:t>
            </a:r>
          </a:p>
        </p:txBody>
      </p:sp>
      <p:sp>
        <p:nvSpPr>
          <p:cNvPr id="5" name="Rounded Rectangle 4"/>
          <p:cNvSpPr/>
          <p:nvPr/>
        </p:nvSpPr>
        <p:spPr>
          <a:xfrm>
            <a:off x="3593592" y="2286000"/>
            <a:ext cx="2880360" cy="3931920"/>
          </a:xfrm>
          <a:prstGeom prst="roundRect">
            <a:avLst/>
          </a:prstGeom>
          <a:solidFill>
            <a:srgbClr val="E3F2FD"/>
          </a:solidFill>
          <a:ln w="12700">
            <a:solidFill>
              <a:srgbClr val="1565C0"/>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200" b="1">
                <a:solidFill>
                  <a:srgbClr val="1565C0"/>
                </a:solidFill>
                <a:latin typeface="Trebuchet MS"/>
              </a:defRPr>
            </a:pPr>
            <a:r>
              <a:t>Currently In Development</a:t>
            </a:r>
            <a:br/>
            <a:r>
              <a:t>[PROPOSED APP]</a:t>
            </a:r>
          </a:p>
          <a:p>
            <a:pPr>
              <a:spcAft>
                <a:spcPts val="300"/>
              </a:spcAft>
            </a:pPr>
            <a:r>
              <a:rPr sz="1000" b="1">
                <a:solidFill>
                  <a:srgbClr val="282C34"/>
                </a:solidFill>
                <a:latin typeface="Tahoma"/>
              </a:rPr>
              <a:t>Relational DB Modeling: </a:t>
            </a:r>
            <a:r>
              <a:rPr sz="1000" b="0">
                <a:solidFill>
                  <a:srgbClr val="282C34"/>
                </a:solidFill>
                <a:latin typeface="Tahoma"/>
              </a:rPr>
              <a:t>Structuring PostgreSQL / SQLite schema for high-speed indexed search.</a:t>
            </a:r>
          </a:p>
          <a:p>
            <a:pPr>
              <a:spcAft>
                <a:spcPts val="300"/>
              </a:spcAft>
            </a:pPr>
            <a:r>
              <a:rPr sz="1000" b="1">
                <a:solidFill>
                  <a:srgbClr val="282C34"/>
                </a:solidFill>
                <a:latin typeface="Tahoma"/>
              </a:rPr>
              <a:t>Researcher UI/UX: </a:t>
            </a:r>
            <a:r>
              <a:rPr sz="1000" b="0">
                <a:solidFill>
                  <a:srgbClr val="282C34"/>
                </a:solidFill>
                <a:latin typeface="Tahoma"/>
              </a:rPr>
              <a:t>Designing intuitive frontend with multi-parameter filter dropdowns and case tabs.</a:t>
            </a:r>
          </a:p>
          <a:p>
            <a:pPr>
              <a:spcAft>
                <a:spcPts val="300"/>
              </a:spcAft>
            </a:pPr>
            <a:r>
              <a:rPr sz="1000" b="1">
                <a:solidFill>
                  <a:srgbClr val="282C34"/>
                </a:solidFill>
                <a:latin typeface="Tahoma"/>
              </a:rPr>
              <a:t>Consolidated Exporter: </a:t>
            </a:r>
            <a:r>
              <a:rPr sz="1000" b="0">
                <a:solidFill>
                  <a:srgbClr val="282C34"/>
                </a:solidFill>
                <a:latin typeface="Tahoma"/>
              </a:rPr>
              <a:t>Scaling extraction pipelines from 2010 benchmark to 2023–2025 datasets.</a:t>
            </a:r>
          </a:p>
          <a:p>
            <a:pPr>
              <a:spcAft>
                <a:spcPts val="300"/>
              </a:spcAft>
            </a:pPr>
            <a:r>
              <a:rPr sz="1000" b="1">
                <a:solidFill>
                  <a:srgbClr val="282C34"/>
                </a:solidFill>
                <a:latin typeface="Tahoma"/>
              </a:rPr>
              <a:t>Case Workspace Prototyping: </a:t>
            </a:r>
            <a:r>
              <a:rPr sz="1000" b="0">
                <a:solidFill>
                  <a:srgbClr val="282C34"/>
                </a:solidFill>
                <a:latin typeface="Tahoma"/>
              </a:rPr>
              <a:t>Building synchronized timeline viewer for hearing logs and daily orders.</a:t>
            </a:r>
          </a:p>
        </p:txBody>
      </p:sp>
      <p:sp>
        <p:nvSpPr>
          <p:cNvPr id="6" name="Rounded Rectangle 5"/>
          <p:cNvSpPr/>
          <p:nvPr/>
        </p:nvSpPr>
        <p:spPr>
          <a:xfrm>
            <a:off x="6638544" y="2286000"/>
            <a:ext cx="2880360" cy="3931920"/>
          </a:xfrm>
          <a:prstGeom prst="roundRect">
            <a:avLst/>
          </a:prstGeom>
          <a:solidFill>
            <a:srgbClr val="F3E5F5"/>
          </a:solidFill>
          <a:ln w="12700">
            <a:solidFill>
              <a:srgbClr val="7B1FA2"/>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200" b="1">
                <a:solidFill>
                  <a:srgbClr val="7B1FA2"/>
                </a:solidFill>
                <a:latin typeface="Trebuchet MS"/>
              </a:defRPr>
            </a:pPr>
            <a:r>
              <a:t>Future Scope</a:t>
            </a:r>
            <a:br/>
            <a:r>
              <a:t>[ROADMAP]</a:t>
            </a:r>
          </a:p>
          <a:p>
            <a:pPr>
              <a:spcAft>
                <a:spcPts val="300"/>
              </a:spcAft>
            </a:pPr>
            <a:r>
              <a:rPr sz="1000" b="1">
                <a:solidFill>
                  <a:srgbClr val="282C34"/>
                </a:solidFill>
                <a:latin typeface="Tahoma"/>
              </a:rPr>
              <a:t>AI/ML Judicial Analytics: </a:t>
            </a:r>
            <a:r>
              <a:rPr sz="1000" b="0">
                <a:solidFill>
                  <a:srgbClr val="282C34"/>
                </a:solidFill>
                <a:latin typeface="Tahoma"/>
              </a:rPr>
              <a:t>Case similarity clustering, delay bottleneck detection, and trend modeling.</a:t>
            </a:r>
          </a:p>
          <a:p>
            <a:pPr>
              <a:spcAft>
                <a:spcPts val="300"/>
              </a:spcAft>
            </a:pPr>
            <a:r>
              <a:rPr sz="1000" b="1">
                <a:solidFill>
                  <a:srgbClr val="282C34"/>
                </a:solidFill>
                <a:latin typeface="Tahoma"/>
              </a:rPr>
              <a:t>Priority Queue Mechanism: </a:t>
            </a:r>
            <a:r>
              <a:rPr sz="1000" b="0">
                <a:solidFill>
                  <a:srgbClr val="282C34"/>
                </a:solidFill>
                <a:latin typeface="Tahoma"/>
              </a:rPr>
              <a:t>Configurable decision-support scoring for researcher cohort prioritization.</a:t>
            </a:r>
          </a:p>
          <a:p>
            <a:pPr>
              <a:spcAft>
                <a:spcPts val="300"/>
              </a:spcAft>
            </a:pPr>
            <a:r>
              <a:rPr sz="1000" b="1">
                <a:solidFill>
                  <a:srgbClr val="282C34"/>
                </a:solidFill>
                <a:latin typeface="Tahoma"/>
              </a:rPr>
              <a:t>Semantic Search Engine: </a:t>
            </a:r>
            <a:r>
              <a:rPr sz="1000" b="0">
                <a:solidFill>
                  <a:srgbClr val="282C34"/>
                </a:solidFill>
                <a:latin typeface="Tahoma"/>
              </a:rPr>
              <a:t>Vector embeddings for full-text querying across judicial business notes.</a:t>
            </a:r>
          </a:p>
          <a:p>
            <a:pPr>
              <a:spcAft>
                <a:spcPts val="300"/>
              </a:spcAft>
            </a:pPr>
            <a:r>
              <a:rPr sz="1000" b="1">
                <a:solidFill>
                  <a:srgbClr val="282C34"/>
                </a:solidFill>
                <a:latin typeface="Tahoma"/>
              </a:rPr>
              <a:t>Multi-Court Expansion: </a:t>
            </a:r>
            <a:r>
              <a:rPr sz="1000" b="0">
                <a:solidFill>
                  <a:srgbClr val="282C34"/>
                </a:solidFill>
                <a:latin typeface="Tahoma"/>
              </a:rPr>
              <a:t>Scaling pipeline across South Indian district and High Court portals.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STRATEGIC PROJECT ROADMAP</a:t>
            </a:r>
          </a:p>
        </p:txBody>
      </p:sp>
      <p:sp>
        <p:nvSpPr>
          <p:cNvPr id="3" name="Rounded Rectangle 2"/>
          <p:cNvSpPr/>
          <p:nvPr/>
        </p:nvSpPr>
        <p:spPr>
          <a:xfrm>
            <a:off x="548640" y="1874519"/>
            <a:ext cx="210312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1565C0"/>
                </a:solidFill>
                <a:latin typeface="Tahoma"/>
              </a:defRPr>
            </a:pPr>
            <a:r>
              <a:t>DEVELOPMENT PHASES</a:t>
            </a:r>
          </a:p>
        </p:txBody>
      </p:sp>
      <p:sp>
        <p:nvSpPr>
          <p:cNvPr id="4" name="Rounded Rectangle 3"/>
          <p:cNvSpPr/>
          <p:nvPr/>
        </p:nvSpPr>
        <p:spPr>
          <a:xfrm>
            <a:off x="548640" y="2240280"/>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050" b="1">
                <a:solidFill>
                  <a:srgbClr val="2E7D32"/>
                </a:solidFill>
                <a:latin typeface="Trebuchet MS"/>
              </a:rPr>
              <a:t>PHASE 1: DATA ACQUISITION FOUNDATION  [COMPLETED] — </a:t>
            </a:r>
            <a:r>
              <a:rPr sz="1000">
                <a:solidFill>
                  <a:srgbClr val="282C34"/>
                </a:solidFill>
                <a:latin typeface="Tahoma"/>
              </a:rPr>
              <a:t>Automated eCourts extraction, Playwright session management, benchmark dataset creation.</a:t>
            </a:r>
          </a:p>
        </p:txBody>
      </p:sp>
      <p:sp>
        <p:nvSpPr>
          <p:cNvPr id="5" name="Rounded Rectangle 4"/>
          <p:cNvSpPr/>
          <p:nvPr/>
        </p:nvSpPr>
        <p:spPr>
          <a:xfrm>
            <a:off x="548640" y="2907792"/>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050" b="1">
                <a:solidFill>
                  <a:srgbClr val="1565C0"/>
                </a:solidFill>
                <a:latin typeface="Trebuchet MS"/>
              </a:rPr>
              <a:t>PHASE 2: STRUCTURED DATABASE MODELING  [IN PROGRESS] — </a:t>
            </a:r>
            <a:r>
              <a:rPr sz="1000">
                <a:solidFill>
                  <a:srgbClr val="282C34"/>
                </a:solidFill>
                <a:latin typeface="Tahoma"/>
              </a:rPr>
              <a:t>Relational schema engineering, zero-loss field auditing, and multi-format dataset compilation.</a:t>
            </a:r>
          </a:p>
        </p:txBody>
      </p:sp>
      <p:sp>
        <p:nvSpPr>
          <p:cNvPr id="6" name="Rounded Rectangle 5"/>
          <p:cNvSpPr/>
          <p:nvPr/>
        </p:nvSpPr>
        <p:spPr>
          <a:xfrm>
            <a:off x="548640" y="3575304"/>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050" b="1">
                <a:solidFill>
                  <a:srgbClr val="1565C0"/>
                </a:solidFill>
                <a:latin typeface="Trebuchet MS"/>
              </a:rPr>
              <a:t>PHASE 3: RESEARCHER UI/UX WORKSPACE  [IN PROGRESS] — </a:t>
            </a:r>
            <a:r>
              <a:rPr sz="1000">
                <a:solidFill>
                  <a:srgbClr val="282C34"/>
                </a:solidFill>
                <a:latin typeface="Tahoma"/>
              </a:rPr>
              <a:t>Intuitive search bar, dynamic court dropdowns, tabbed case viewer, and CSV/JSON export.</a:t>
            </a:r>
          </a:p>
        </p:txBody>
      </p:sp>
      <p:sp>
        <p:nvSpPr>
          <p:cNvPr id="7" name="Rounded Rectangle 6"/>
          <p:cNvSpPr/>
          <p:nvPr/>
        </p:nvSpPr>
        <p:spPr>
          <a:xfrm>
            <a:off x="548640" y="4242816"/>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050" b="1">
                <a:solidFill>
                  <a:srgbClr val="E65100"/>
                </a:solidFill>
                <a:latin typeface="Trebuchet MS"/>
              </a:rPr>
              <a:t>PHASE 4: MULTI-DISTRICT SCALING  [PLANNED] — </a:t>
            </a:r>
            <a:r>
              <a:rPr sz="1000">
                <a:solidFill>
                  <a:srgbClr val="282C34"/>
                </a:solidFill>
                <a:latin typeface="Tahoma"/>
              </a:rPr>
              <a:t>Expanding ingestion pipeline from 2010 benchmark to 2023–2025 across multiple court complexes.</a:t>
            </a:r>
          </a:p>
        </p:txBody>
      </p:sp>
      <p:sp>
        <p:nvSpPr>
          <p:cNvPr id="8" name="Rounded Rectangle 7"/>
          <p:cNvSpPr/>
          <p:nvPr/>
        </p:nvSpPr>
        <p:spPr>
          <a:xfrm>
            <a:off x="548640" y="4910328"/>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050" b="1">
                <a:solidFill>
                  <a:srgbClr val="7B1FA2"/>
                </a:solidFill>
                <a:latin typeface="Trebuchet MS"/>
              </a:rPr>
              <a:t>PHASE 5: AI / ML JUDICIAL ANALYTICS  [FUTURE SCOPE] — </a:t>
            </a:r>
            <a:r>
              <a:rPr sz="1000">
                <a:solidFill>
                  <a:srgbClr val="282C34"/>
                </a:solidFill>
                <a:latin typeface="Tahoma"/>
              </a:rPr>
              <a:t>Unsupervised case clustering, pendency trend analysis, and statutory pattern discovery.</a:t>
            </a:r>
          </a:p>
        </p:txBody>
      </p:sp>
      <p:sp>
        <p:nvSpPr>
          <p:cNvPr id="9" name="Rounded Rectangle 8"/>
          <p:cNvSpPr/>
          <p:nvPr/>
        </p:nvSpPr>
        <p:spPr>
          <a:xfrm>
            <a:off x="548640" y="5577840"/>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050" b="1">
                <a:solidFill>
                  <a:srgbClr val="7B1FA2"/>
                </a:solidFill>
                <a:latin typeface="Trebuchet MS"/>
              </a:rPr>
              <a:t>PHASE 6: DECISION-SUPPORT PRIORITIZATION  [FUTURE SCOPE] — </a:t>
            </a:r>
            <a:r>
              <a:rPr sz="1000">
                <a:solidFill>
                  <a:srgbClr val="282C34"/>
                </a:solidFill>
                <a:latin typeface="Tahoma"/>
              </a:rPr>
              <a:t>Researcher-defined case priority scoring and empirical cohort organization queues.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CONCLUSION</a:t>
            </a:r>
          </a:p>
        </p:txBody>
      </p:sp>
      <p:sp>
        <p:nvSpPr>
          <p:cNvPr id="3" name="Rounded Rectangle 2"/>
          <p:cNvSpPr/>
          <p:nvPr/>
        </p:nvSpPr>
        <p:spPr>
          <a:xfrm>
            <a:off x="548640" y="1874519"/>
            <a:ext cx="201168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1565C0"/>
                </a:solidFill>
                <a:latin typeface="Tahoma"/>
              </a:defRPr>
            </a:pPr>
            <a:r>
              <a:t>PROJECT SYNTHESIS</a:t>
            </a:r>
          </a:p>
        </p:txBody>
      </p:sp>
      <p:sp>
        <p:nvSpPr>
          <p:cNvPr id="4" name="Rounded Rectangle 3"/>
          <p:cNvSpPr/>
          <p:nvPr/>
        </p:nvSpPr>
        <p:spPr>
          <a:xfrm>
            <a:off x="548640" y="2286000"/>
            <a:ext cx="8961120" cy="393192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274320" tIns="182880" rIns="274320" rtlCol="0" anchor="ctr"/>
          <a:lstStyle/>
          <a:p>
            <a:pPr algn="ctr">
              <a:spcAft>
                <a:spcPts val="800"/>
              </a:spcAft>
              <a:defRPr sz="1400" b="1">
                <a:solidFill>
                  <a:srgbClr val="0F2043"/>
                </a:solidFill>
                <a:latin typeface="Trebuchet MS"/>
              </a:defRPr>
            </a:pPr>
            <a:r>
              <a:t>Transforming Court Information into Empirical Judicial Intelligence</a:t>
            </a:r>
          </a:p>
          <a:p>
            <a:pPr>
              <a:spcAft>
                <a:spcPts val="1200"/>
              </a:spcAft>
              <a:defRPr sz="1150" i="1">
                <a:solidFill>
                  <a:srgbClr val="1C3666"/>
                </a:solidFill>
                <a:latin typeface="Georgia"/>
              </a:defRPr>
            </a:pPr>
            <a:r>
              <a:t>“DAKSH is not merely a web scraper; it is an integrated judicial research technology platform designed to resolve the severe data fragmentation of public court portals. By establishing a validated data acquisition layer, a normalized relational database, and an intuitive researcher-centric workspace, the system empowers empirical researchers to focus on analysis rather than repetitive manual extraction. As the platform evolves toward advanced analytics and intelligent prioritization support, it creates a sustainable technological bridge for evidence-based justice sector reforms.”</a:t>
            </a:r>
          </a:p>
          <a:p>
            <a:pPr>
              <a:spcAft>
                <a:spcPts val="300"/>
              </a:spcAft>
            </a:pPr>
            <a:r>
              <a:rPr sz="1050" b="1">
                <a:solidFill>
                  <a:srgbClr val="0F2043"/>
                </a:solidFill>
                <a:latin typeface="Tahoma"/>
              </a:rPr>
              <a:t>• Data Acquisition Foundation: </a:t>
            </a:r>
            <a:r>
              <a:rPr sz="1050">
                <a:solidFill>
                  <a:srgbClr val="282C34"/>
                </a:solidFill>
                <a:latin typeface="Tahoma"/>
              </a:rPr>
              <a:t>Automated Playwright ingestion provides a robust, zero-loss technical foundation.</a:t>
            </a:r>
          </a:p>
          <a:p>
            <a:pPr>
              <a:spcAft>
                <a:spcPts val="300"/>
              </a:spcAft>
            </a:pPr>
            <a:r>
              <a:rPr sz="1050" b="1">
                <a:solidFill>
                  <a:srgbClr val="0F2043"/>
                </a:solidFill>
                <a:latin typeface="Tahoma"/>
              </a:rPr>
              <a:t>• Centralized Platform Vision: </a:t>
            </a:r>
            <a:r>
              <a:rPr sz="1050">
                <a:solidFill>
                  <a:srgbClr val="282C34"/>
                </a:solidFill>
                <a:latin typeface="Tahoma"/>
              </a:rPr>
              <a:t>Transforms scattered HTML pages into a centralized, searchable, tabbed case workspace.</a:t>
            </a:r>
          </a:p>
          <a:p>
            <a:pPr>
              <a:spcAft>
                <a:spcPts val="300"/>
              </a:spcAft>
            </a:pPr>
            <a:r>
              <a:rPr sz="1050" b="1">
                <a:solidFill>
                  <a:srgbClr val="0F2043"/>
                </a:solidFill>
                <a:latin typeface="Tahoma"/>
              </a:rPr>
              <a:t>• Academic &amp; Civic Impact: </a:t>
            </a:r>
            <a:r>
              <a:rPr sz="1050">
                <a:solidFill>
                  <a:srgbClr val="282C34"/>
                </a:solidFill>
                <a:latin typeface="Tahoma"/>
              </a:rPr>
              <a:t>Directly empowers DAKSH and empirical legal scholars with auditable, high-quality judicial data.</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defRPr sz="4000" b="1">
                <a:solidFill>
                  <a:srgbClr val="0F2043"/>
                </a:solidFill>
                <a:latin typeface="Times New Roman"/>
              </a:defRPr>
            </a:pPr>
            <a:r>
              <a:t>THANK YOU</a:t>
            </a:r>
          </a:p>
          <a:p>
            <a:pPr algn="ctr">
              <a:defRPr sz="1600" b="1">
                <a:solidFill>
                  <a:srgbClr val="1C3666"/>
                </a:solidFill>
                <a:latin typeface="Trebuchet MS"/>
              </a:defRPr>
            </a:pPr>
            <a:r>
              <a:t>DAKSH — Judicial Research and Court-Case Information Platform</a:t>
            </a:r>
          </a:p>
        </p:txBody>
      </p:sp>
      <p:sp>
        <p:nvSpPr>
          <p:cNvPr id="3" name="Subtitle 2"/>
          <p:cNvSpPr>
            <a:spLocks noGrp="1"/>
          </p:cNvSpPr>
          <p:nvPr>
            <p:ph type="subTitle" idx="4"/>
          </p:nvPr>
        </p:nvSpPr>
        <p:spPr/>
        <p:txBody>
          <a:bodyPr/>
          <a:lstStyle/>
          <a:p>
            <a:pPr algn="ctr">
              <a:defRPr sz="1600" b="1">
                <a:solidFill>
                  <a:srgbClr val="0F2043"/>
                </a:solidFill>
                <a:latin typeface="Trebuchet MS"/>
              </a:defRPr>
            </a:pPr>
            <a:r>
              <a:t>Questions &amp; Discussion</a:t>
            </a:r>
          </a:p>
          <a:p>
            <a:pPr algn="ctr">
              <a:defRPr sz="1200">
                <a:solidFill>
                  <a:srgbClr val="282C34"/>
                </a:solidFill>
                <a:latin typeface="Tahoma"/>
              </a:defRPr>
            </a:pPr>
            <a:r>
              <a:t>Service Learning Project in Collaboration with DAKSH, Bengaluru</a:t>
            </a:r>
          </a:p>
          <a:p>
            <a:pPr algn="ctr">
              <a:defRPr sz="1050" b="1">
                <a:solidFill>
                  <a:srgbClr val="1C3666"/>
                </a:solidFill>
                <a:latin typeface="Tahoma"/>
              </a:defRPr>
            </a:pPr>
            <a:r>
              <a:t>Team: Mishael Julian | Steven Mathew | Julius Thomas | Abhishan Francis | Rahul Prakash (5BTCS AIML A)</a:t>
            </a:r>
          </a:p>
          <a:p>
            <a:pPr algn="ctr">
              <a:defRPr sz="1000">
                <a:solidFill>
                  <a:srgbClr val="646E7D"/>
                </a:solidFill>
                <a:latin typeface="Tahoma"/>
              </a:defRPr>
            </a:pPr>
            <a:r>
              <a:t>Department of Computer Science and Engineering | CHRIST (Deemed to be University), Bengaluru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TotalTime>
  <Words>4069</Words>
  <Application>Microsoft Office PowerPoint</Application>
  <PresentationFormat>Custom</PresentationFormat>
  <Paragraphs>296</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Cambria</vt:lpstr>
      <vt:lpstr>Tahoma</vt:lpstr>
      <vt:lpstr>Times New Roman</vt:lpstr>
      <vt:lpstr>Trebuchet MS</vt:lpstr>
      <vt:lpstr>Office Theme</vt:lpstr>
      <vt:lpstr>SERVICE LEARNING DAKSH Judicial Research and Court-Case Information Platform Structured Court Data, Searchable Research &amp; Intelligent Analytics</vt:lpstr>
      <vt:lpstr>ABSTRACT</vt:lpstr>
      <vt:lpstr>COMMUNITY PROFILE &amp; STAKEHOLDER CONTEXT</vt:lpstr>
      <vt:lpstr>PROBLEMS FACED BY JUDICIAL RESEARCHERS</vt:lpstr>
      <vt:lpstr>CONFIRMATION LETTER</vt:lpstr>
      <vt:lpstr>NEED ANALYSIS</vt:lpstr>
      <vt:lpstr>IMPACT IF THE PROBLEM REMAINS UNSOLVED</vt:lpstr>
      <vt:lpstr>PROBLEM STATEMENT</vt:lpstr>
      <vt:lpstr>PROJECT OBJECTIVES</vt:lpstr>
      <vt:lpstr>PROPOSED SYSTEM ARCHITECTURE</vt:lpstr>
      <vt:lpstr>DATA ACQUISITION LAYER</vt:lpstr>
      <vt:lpstr>STRUCTURED DATABASE &amp; INFORMATION MODEL</vt:lpstr>
      <vt:lpstr>PROPOSED RESEARCHER UI/UX WORKSPACE</vt:lpstr>
      <vt:lpstr>RESEARCHER USER JOURNEY</vt:lpstr>
      <vt:lpstr>FUTURE SCOPE: INTELLIGENT JUDICIAL ANALYTICS</vt:lpstr>
      <vt:lpstr>PROPOSED CASE PRIORITIZATION SYSTEM</vt:lpstr>
      <vt:lpstr>FUTURE AI / ML PIPELINE ARCHITECTURE</vt:lpstr>
      <vt:lpstr>SOFTWARE REQUIREMENTS &amp; TECH STACK</vt:lpstr>
      <vt:lpstr>HARDWARE &amp; RUNTIME ENVIRONMENT</vt:lpstr>
      <vt:lpstr>DATA INTEGRITY &amp; VALIDATION FRAMEWORK</vt:lpstr>
      <vt:lpstr>SERVICE LEARNING VALUE &amp; ACADEMIC IMPACT</vt:lpstr>
      <vt:lpstr>TECHNICAL EVIDENCE &amp; BENCHMARK VALIDATION</vt:lpstr>
      <vt:lpstr>CURRENT IMPLEMENTATION STATUS</vt:lpstr>
      <vt:lpstr>STRATEGIC PROJECT ROADMAP</vt:lpstr>
      <vt:lpstr>CONCLUSION</vt:lpstr>
      <vt:lpstr>THANK YOU DAKSH — Judicial Research and Court-Case Information Platform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Mishael Julian</cp:lastModifiedBy>
  <cp:revision>1</cp:revision>
  <dcterms:created xsi:type="dcterms:W3CDTF">2026-09-10T17:57:02Z</dcterms:created>
  <dcterms:modified xsi:type="dcterms:W3CDTF">2026-09-10T18:19:36Z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2026-09-10T00:00:00Z</vt:filetime>
  </property>
  <property fmtid="{D5CDD505-2E9C-101B-9397-08002B2CF9AE}" pid="4" name="LastSaved">
    <vt:filetime>2026-09-10T00:00:00Z</vt:filetime>
  </property>
  <property fmtid="{D5CDD505-2E9C-101B-9397-08002B2CF9AE}" pid="5" name="Producer">
    <vt:lpwstr>iLovePDF</vt:lpwstr>
  </property>
</Properties>
</file>